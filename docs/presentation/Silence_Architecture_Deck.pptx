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fe1499e-b071-fceb-155a-9acc77bcc275}">
          <p14:sldIdLst>
            <p14:sldId id="256"/>
            <p14:sldId id="257"/>
            <p14:sldId id="258"/>
          </p14:sldIdLst>
        </p14:section>
        <p14:section name="System architecture" id="{5a081031-ec21-f3d6-d369-e6926b972941}">
          <p14:sldIdLst>
            <p14:sldId id="259"/>
            <p14:sldId id="260"/>
            <p14:sldId id="261"/>
            <p14:sldId id="262"/>
            <p14:sldId id="263"/>
          </p14:sldIdLst>
        </p14:section>
        <p14:section name="Smart contract" id="{1e5c4424-1cad-20fb-3be0-cb9f9be1844c}">
          <p14:sldIdLst>
            <p14:sldId id="264"/>
            <p14:sldId id="265"/>
            <p14:sldId id="266"/>
            <p14:sldId id="267"/>
            <p14:sldId id="268"/>
          </p14:sldIdLst>
        </p14:section>
        <p14:section name="Cryptography &amp; storage" id="{6e35ef20-05d0-4d2d-74b7-e73c172d7ba3}">
          <p14:sldIdLst>
            <p14:sldId id="269"/>
            <p14:sldId id="270"/>
            <p14:sldId id="271"/>
            <p14:sldId id="272"/>
          </p14:sldIdLst>
        </p14:section>
        <p14:section name="User journeys" id="{cda5a376-009e-ddfa-776e-ced672d00ef1}">
          <p14:sldIdLst>
            <p14:sldId id="273"/>
            <p14:sldId id="274"/>
            <p14:sldId id="275"/>
            <p14:sldId id="276"/>
            <p14:sldId id="277"/>
            <p14:sldId id="278"/>
            <p14:sldId id="279"/>
            <p14:sldId id="280"/>
            <p14:sldId id="281"/>
            <p14:sldId id="282"/>
          </p14:sldIdLst>
        </p14:section>
        <p14:section name="Review &amp; roadmap" id="{35bff518-e39f-32f9-c6f6-869c2d056e62}">
          <p14:sldIdLst>
            <p14:sldId id="283"/>
            <p14:sldId id="284"/>
            <p14:sldId id="285"/>
            <p14:sldId id="286"/>
          </p14:sldIdLst>
        </p14:section>
        <p14:section name="Closing" id="{68a7b884-b242-60c8-945e-b076e0995032}">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is a trustless dead man's switch. An owner encrypts a secret in the browser, pins the ciphertext to IPFS, and locks ETH plus the IPFS CID in a Solidity contract. If the owner stops sending heartbeats for longer than the chosen interval, the contract releases the ETH to the beneficiary, who then decrypts the payload locally with a passphrase. This deck walks through the architecture component by component, with screenshots of each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replace a trusted human executor with code. Liveness is proven by on-chain heartbeats; absence of a heartbeat for a configured interval is a deterministic event anyone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does all the sensitive work. Web Crypto encrypts locally; the Pinata client pins only ciphertext; ethers sends signed transactions through MetaMask to the DeadMansSwitch contract on Sepolia; Supabase holds accounts and a convenience index of vaults. Chainlink Automation polls checkUpkeep and calls performUpkeep when a vault is due, so release happens without any server we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layer of the system and points to the file that implements it, so the deck doubles as a map of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architectural property: the trust boundary is the browser tab. IPFS and the chain are public, so they only ever see ciphertext and the CID. Chainlink can call performUpkeep, but releaseFunds re-checks the deadline, so it cannot release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are file-based (TanStack Router). The _authenticated layout route runs beforeLoad, calls supabase.auth.getUser and redirects to /auth if there is no user. Components never talk to external services directly; they go through the lib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stores only what it needs to enforce the rules: who owns, who receives, how much ETH, when the last heartbeat was, how long silence may last, and the CID of the ciphertext. The CID is stored on-chain so the beneficiary can always find the payload even without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Armed is the only active state. ping and deposit keep it Armed. Two exits: the owner cancels and gets a refund, or the deadline passes and anyone can release funds to the beneficiary. The onlyActiveOwner modifier guards ping, deposit and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what makes the switch fire with nobody online. The contract implements the minimal AutomationCompatibleInterface inline instead of importing Chainlink packages. Note that checkUpkeep loops over every owner, which is fine for a demo but grows linearly.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give off-chain observers an auditable history. The Released and Cancelled paths follow checks-effects-interactions, which protects against re-entrancy on the ETH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the JSON envelope runs inside the browser using the SubtleCrypto API. Fresh random salt and IV per secret mean the same secret and passphrase never produce the same ciphertext. The envelope is self-describing, so the beneficiary needs only the CID and the passphrase.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beneficiary path mirrors the owner path in reverse. The passphrase is the one secret that must be shared outside the system, through any secure channel the owner chooses.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provides authentication and a discovery index. Losing a Supabase row does not lose funds: the contract still releases to the beneficiary, and the CID is readable from getVault.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Accounts carry profile and roles. Value transfer never depends on Supabase: it always goes through MetaMask and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matters: encryption first, then pinning, then the on-chain registration, then the Supabase index. If the Supabase insert failed, the vault would still exist and still release; only discovery in the beneficiary UI would be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sound; the gaps are mostly implementation details. The most urgent is moving the Pinata JWT out of the client bundle, since Vite inlines every VITE_ variable into public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5394960" cy="17373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640080" y="3749040"/>
            <a:ext cx="5394960" cy="109728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rtlCol="0"/>
          <a:lstStyle>
            <a:lvl1pPr indent="0" marL="0">
              <a:buNone/>
              <a:defRPr lang="en-US" sz="9600" dirty="0">
                <a:solidFill>
                  <a:schemeClr val="accent2"/>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Silence  ·  Decentralized Dead Man's Switch</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71600"/>
            <a:ext cx="54864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PROJECT DEEP-DIVE  ·  ARCHITECTURE</a:t>
            </a:r>
            <a:endParaRPr lang="en-US" sz="1400" dirty="0"/>
          </a:p>
        </p:txBody>
      </p:sp>
      <p:sp>
        <p:nvSpPr>
          <p:cNvPr id="3" name="Text 0"/>
          <p:cNvSpPr/>
          <p:nvPr>
            <p:ph idx="100" type="title" hasCustomPrompt="1"/>
          </p:nvPr>
        </p:nvSpPr>
        <p:spPr>
          <a:xfrm>
            <a:off x="640080" y="1920240"/>
            <a:ext cx="5394960" cy="173736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Silence</a:t>
            </a:r>
            <a:endParaRPr lang="en-US" sz="4800" dirty="0"/>
          </a:p>
          <a:p>
            <a:pPr algn="l" indent="0" marL="0">
              <a:buNone/>
            </a:pPr>
            <a:r>
              <a:rPr lang="en-US" sz="3000" b="1" i="1" dirty="0">
                <a:solidFill>
                  <a:schemeClr val="bg1"/>
                </a:solidFill>
                <a:latin typeface="Cambria" pitchFamily="34" charset="0"/>
                <a:ea typeface="Cambria" pitchFamily="34" charset="-122"/>
                <a:cs typeface="Cambria" pitchFamily="34" charset="-120"/>
              </a:rPr>
              <a:t>A Decentralized Dead Man's Switch</a:t>
            </a:r>
            <a:endParaRPr lang="en-US" sz="4800" dirty="0"/>
          </a:p>
        </p:txBody>
      </p:sp>
      <p:sp>
        <p:nvSpPr>
          <p:cNvPr id="4" name="Text 0"/>
          <p:cNvSpPr/>
          <p:nvPr>
            <p:ph idx="101" type="body" hasCustomPrompt="1"/>
          </p:nvPr>
        </p:nvSpPr>
        <p:spPr>
          <a:xfrm>
            <a:off x="640080" y="3749040"/>
            <a:ext cx="5394960" cy="1097280"/>
          </a:xfrm>
          <a:prstGeom prst="rect">
            <a:avLst/>
          </a:prstGeom>
          <a:noFill/>
          <a:ln/>
        </p:spPr>
        <p:txBody>
          <a:bodyPr wrap="square" lIns="0" tIns="0" rIns="0" bIns="0" rtlCol="0" anchor="t"/>
          <a:lstStyle/>
          <a:p>
            <a:pPr indent="0" marL="0">
              <a:buNone/>
            </a:pPr>
            <a:r>
              <a:rPr lang="en-US" sz="1800" dirty="0">
                <a:solidFill>
                  <a:schemeClr val="accent2"/>
                </a:solidFill>
              </a:rPr>
              <a:t>Client-side encryption · IPFS · Solidity on Sepolia · Chainlink Automation</a:t>
            </a:r>
            <a:endParaRPr lang="en-US" sz="1800" dirty="0"/>
          </a:p>
        </p:txBody>
      </p:sp>
      <p:sp>
        <p:nvSpPr>
          <p:cNvPr id="5" name="Text 3"/>
          <p:cNvSpPr txBox="1"/>
          <p:nvPr/>
        </p:nvSpPr>
        <p:spPr>
          <a:xfrm>
            <a:off x="640080" y="5852160"/>
            <a:ext cx="5486400" cy="365760"/>
          </a:xfrm>
          <a:prstGeom prst="rect">
            <a:avLst/>
          </a:prstGeom>
          <a:noFill/>
          <a:ln/>
        </p:spPr>
        <p:txBody>
          <a:bodyPr wrap="square" lIns="0" tIns="0" rIns="0" bIns="0" rtlCol="0" anchor="t"/>
          <a:lstStyle/>
          <a:p>
            <a:pPr indent="0" marL="0">
              <a:buNone/>
            </a:pPr>
            <a:r>
              <a:rPr lang="en-US" sz="1200" dirty="0">
                <a:solidFill>
                  <a:schemeClr val="bg2"/>
                </a:solidFill>
              </a:rPr>
              <a:t>React 19  ·  ethers v6  ·  Supabase  ·  Pinata  ·  Vercel</a:t>
            </a:r>
            <a:endParaRPr lang="en-US" sz="1200" dirty="0"/>
          </a:p>
        </p:txBody>
      </p:sp>
      <p:sp>
        <p:nvSpPr>
          <p:cNvPr id="6" name="screenshot frame"/>
          <p:cNvSpPr/>
          <p:nvPr/>
        </p:nvSpPr>
        <p:spPr>
          <a:xfrm>
            <a:off x="6318504" y="1563624"/>
            <a:ext cx="5376672" cy="338785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7" name="screenshot landing.png" descr="landing.png">    </p:cNvPr>
          <p:cNvPicPr>
            <a:picLocks noChangeAspect="1"/>
          </p:cNvPicPr>
          <p:nvPr/>
        </p:nvPicPr>
        <p:blipFill>
          <a:blip r:embed="rId1"/>
          <a:stretch>
            <a:fillRect/>
          </a:stretch>
        </p:blipFill>
        <p:spPr>
          <a:xfrm>
            <a:off x="6355080" y="1600200"/>
            <a:ext cx="5303520" cy="3314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Secrets need a plan for when their owner goes silent</a:t>
            </a:r>
            <a:endParaRPr lang="en-US" sz="3200" dirty="0"/>
          </a:p>
        </p:txBody>
      </p:sp>
      <p:sp>
        <p:nvSpPr>
          <p:cNvPr id="3" name="problem card"/>
          <p:cNvSpPr/>
          <p:nvPr/>
        </p:nvSpPr>
        <p:spPr>
          <a:xfrm>
            <a:off x="548640" y="1417320"/>
            <a:ext cx="3474720" cy="3017520"/>
          </a:xfrm>
          <a:prstGeom prst="roundRect">
            <a:avLst>
              <a:gd name="adj" fmla="val 2424"/>
            </a:avLst>
          </a:prstGeom>
          <a:solidFill>
            <a:schemeClr val="bg2"/>
          </a:solidFill>
          <a:ln/>
        </p:spPr>
      </p:sp>
      <p:sp>
        <p:nvSpPr>
          <p:cNvPr id="4" name="icon circle"/>
          <p:cNvSpPr/>
          <p:nvPr/>
        </p:nvSpPr>
        <p:spPr>
          <a:xfrm>
            <a:off x="868680" y="1691640"/>
            <a:ext cx="731520" cy="731520"/>
          </a:xfrm>
          <a:prstGeom prst="ellipse">
            <a:avLst/>
          </a:prstGeom>
          <a:solidFill>
            <a:schemeClr val="accent1"/>
          </a:solidFill>
          <a:ln/>
        </p:spPr>
      </p:sp>
      <p:pic>
        <p:nvPicPr>
          <p:cNvPr id="5" name="icon glyph"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6" name="Text 3"/>
          <p:cNvSpPr txBox="1"/>
          <p:nvPr/>
        </p:nvSpPr>
        <p:spPr>
          <a:xfrm>
            <a:off x="868680" y="2606040"/>
            <a:ext cx="2834640" cy="685800"/>
          </a:xfrm>
          <a:prstGeom prst="rect">
            <a:avLst/>
          </a:prstGeom>
          <a:noFill/>
          <a:ln/>
        </p:spPr>
        <p:txBody>
          <a:bodyPr wrap="square" lIns="0" tIns="0" rIns="0" bIns="0" rtlCol="0" anchor="t"/>
          <a:lstStyle/>
          <a:p>
            <a:pPr indent="0" marL="0">
              <a:buNone/>
            </a:pPr>
            <a:r>
              <a:rPr lang="en-US" sz="1800" b="1" dirty="0">
                <a:solidFill>
                  <a:schemeClr val="tx2"/>
                </a:solidFill>
              </a:rPr>
              <a:t>Keys die with their holder</a:t>
            </a:r>
            <a:endParaRPr lang="en-US" sz="1800" dirty="0"/>
          </a:p>
        </p:txBody>
      </p:sp>
      <p:sp>
        <p:nvSpPr>
          <p:cNvPr id="7" name="Text 4"/>
          <p:cNvSpPr txBox="1"/>
          <p:nvPr/>
        </p:nvSpPr>
        <p:spPr>
          <a:xfrm>
            <a:off x="868680" y="3291840"/>
            <a:ext cx="2834640" cy="1051560"/>
          </a:xfrm>
          <a:prstGeom prst="rect">
            <a:avLst/>
          </a:prstGeom>
          <a:noFill/>
          <a:ln/>
        </p:spPr>
        <p:txBody>
          <a:bodyPr wrap="square" lIns="0" tIns="0" rIns="0" bIns="0" rtlCol="0" anchor="t"/>
          <a:lstStyle/>
          <a:p>
            <a:pPr indent="0" marL="0">
              <a:buNone/>
            </a:pPr>
            <a:r>
              <a:rPr lang="en-US" sz="1400" dirty="0">
                <a:solidFill>
                  <a:schemeClr val="tx1"/>
                </a:solidFill>
              </a:rPr>
              <a:t>Seed phrases, passwords and final letters are lost if nobody can reach them after an accident or death.</a:t>
            </a:r>
            <a:endParaRPr lang="en-US" sz="1400" dirty="0"/>
          </a:p>
        </p:txBody>
      </p:sp>
      <p:sp>
        <p:nvSpPr>
          <p:cNvPr id="8" name="problem card"/>
          <p:cNvSpPr/>
          <p:nvPr/>
        </p:nvSpPr>
        <p:spPr>
          <a:xfrm>
            <a:off x="4297680" y="1417320"/>
            <a:ext cx="3474720" cy="3017520"/>
          </a:xfrm>
          <a:prstGeom prst="roundRect">
            <a:avLst>
              <a:gd name="adj" fmla="val 2424"/>
            </a:avLst>
          </a:prstGeom>
          <a:solidFill>
            <a:schemeClr val="bg2"/>
          </a:solidFill>
          <a:ln/>
        </p:spPr>
      </p:sp>
      <p:sp>
        <p:nvSpPr>
          <p:cNvPr id="9" name="icon circle"/>
          <p:cNvSpPr/>
          <p:nvPr/>
        </p:nvSpPr>
        <p:spPr>
          <a:xfrm>
            <a:off x="4617720" y="1691640"/>
            <a:ext cx="731520" cy="731520"/>
          </a:xfrm>
          <a:prstGeom prst="ellipse">
            <a:avLst/>
          </a:prstGeom>
          <a:solidFill>
            <a:schemeClr val="accent1"/>
          </a:solidFill>
          <a:ln/>
        </p:spPr>
      </p:sp>
      <p:pic>
        <p:nvPicPr>
          <p:cNvPr id="10" name="icon glyph" descr="preencoded.png">    </p:cNvPr>
          <p:cNvPicPr>
            <a:picLocks noChangeAspect="1"/>
          </p:cNvPicPr>
          <p:nvPr/>
        </p:nvPicPr>
        <p:blipFill>
          <a:blip r:embed="rId2"/>
          <a:stretch>
            <a:fillRect/>
          </a:stretch>
        </p:blipFill>
        <p:spPr>
          <a:xfrm>
            <a:off x="4793285" y="1867205"/>
            <a:ext cx="380390" cy="380390"/>
          </a:xfrm>
          <a:prstGeom prst="rect">
            <a:avLst/>
          </a:prstGeom>
        </p:spPr>
      </p:pic>
      <p:sp>
        <p:nvSpPr>
          <p:cNvPr id="11" name="Text 7"/>
          <p:cNvSpPr txBox="1"/>
          <p:nvPr/>
        </p:nvSpPr>
        <p:spPr>
          <a:xfrm>
            <a:off x="4617720" y="2606040"/>
            <a:ext cx="2834640" cy="685800"/>
          </a:xfrm>
          <a:prstGeom prst="rect">
            <a:avLst/>
          </a:prstGeom>
          <a:noFill/>
          <a:ln/>
        </p:spPr>
        <p:txBody>
          <a:bodyPr wrap="square" lIns="0" tIns="0" rIns="0" bIns="0" rtlCol="0" anchor="t"/>
          <a:lstStyle/>
          <a:p>
            <a:pPr indent="0" marL="0">
              <a:buNone/>
            </a:pPr>
            <a:r>
              <a:rPr lang="en-US" sz="1800" b="1" dirty="0">
                <a:solidFill>
                  <a:schemeClr val="tx2"/>
                </a:solidFill>
              </a:rPr>
              <a:t>Human executors are a single point of failure</a:t>
            </a:r>
            <a:endParaRPr lang="en-US" sz="1800" dirty="0"/>
          </a:p>
        </p:txBody>
      </p:sp>
      <p:sp>
        <p:nvSpPr>
          <p:cNvPr id="12" name="Text 8"/>
          <p:cNvSpPr txBox="1"/>
          <p:nvPr/>
        </p:nvSpPr>
        <p:spPr>
          <a:xfrm>
            <a:off x="4617720" y="3291840"/>
            <a:ext cx="2834640" cy="1051560"/>
          </a:xfrm>
          <a:prstGeom prst="rect">
            <a:avLst/>
          </a:prstGeom>
          <a:noFill/>
          <a:ln/>
        </p:spPr>
        <p:txBody>
          <a:bodyPr wrap="square" lIns="0" tIns="0" rIns="0" bIns="0" rtlCol="0" anchor="t"/>
          <a:lstStyle/>
          <a:p>
            <a:pPr indent="0" marL="0">
              <a:buNone/>
            </a:pPr>
            <a:r>
              <a:rPr lang="en-US" sz="1400" dirty="0">
                <a:solidFill>
                  <a:schemeClr val="tx1"/>
                </a:solidFill>
              </a:rPr>
              <a:t>A lawyer, friend or server can forget, refuse, be compromised, or simply go offline.</a:t>
            </a:r>
            <a:endParaRPr lang="en-US" sz="1400" dirty="0"/>
          </a:p>
        </p:txBody>
      </p:sp>
      <p:sp>
        <p:nvSpPr>
          <p:cNvPr id="13" name="problem card"/>
          <p:cNvSpPr/>
          <p:nvPr/>
        </p:nvSpPr>
        <p:spPr>
          <a:xfrm>
            <a:off x="8046720" y="1417320"/>
            <a:ext cx="3474720" cy="3017520"/>
          </a:xfrm>
          <a:prstGeom prst="roundRect">
            <a:avLst>
              <a:gd name="adj" fmla="val 2424"/>
            </a:avLst>
          </a:prstGeom>
          <a:solidFill>
            <a:schemeClr val="bg2"/>
          </a:solidFill>
          <a:ln/>
        </p:spPr>
      </p:sp>
      <p:sp>
        <p:nvSpPr>
          <p:cNvPr id="14" name="icon circle"/>
          <p:cNvSpPr/>
          <p:nvPr/>
        </p:nvSpPr>
        <p:spPr>
          <a:xfrm>
            <a:off x="8366760" y="1691640"/>
            <a:ext cx="731520" cy="731520"/>
          </a:xfrm>
          <a:prstGeom prst="ellipse">
            <a:avLst/>
          </a:prstGeom>
          <a:solidFill>
            <a:schemeClr val="accent1"/>
          </a:solidFill>
          <a:ln/>
        </p:spPr>
      </p:sp>
      <p:pic>
        <p:nvPicPr>
          <p:cNvPr id="15" name="icon glyph" descr="preencoded.png">    </p:cNvPr>
          <p:cNvPicPr>
            <a:picLocks noChangeAspect="1"/>
          </p:cNvPicPr>
          <p:nvPr/>
        </p:nvPicPr>
        <p:blipFill>
          <a:blip r:embed="rId3"/>
          <a:stretch>
            <a:fillRect/>
          </a:stretch>
        </p:blipFill>
        <p:spPr>
          <a:xfrm>
            <a:off x="8542325" y="1867205"/>
            <a:ext cx="380390" cy="380390"/>
          </a:xfrm>
          <a:prstGeom prst="rect">
            <a:avLst/>
          </a:prstGeom>
        </p:spPr>
      </p:pic>
      <p:sp>
        <p:nvSpPr>
          <p:cNvPr id="16" name="Text 11"/>
          <p:cNvSpPr txBox="1"/>
          <p:nvPr/>
        </p:nvSpPr>
        <p:spPr>
          <a:xfrm>
            <a:off x="8366760" y="2606040"/>
            <a:ext cx="2834640" cy="685800"/>
          </a:xfrm>
          <a:prstGeom prst="rect">
            <a:avLst/>
          </a:prstGeom>
          <a:noFill/>
          <a:ln/>
        </p:spPr>
        <p:txBody>
          <a:bodyPr wrap="square" lIns="0" tIns="0" rIns="0" bIns="0" rtlCol="0" anchor="t"/>
          <a:lstStyle/>
          <a:p>
            <a:pPr indent="0" marL="0">
              <a:buNone/>
            </a:pPr>
            <a:r>
              <a:rPr lang="en-US" sz="1800" b="1" dirty="0">
                <a:solidFill>
                  <a:schemeClr val="tx2"/>
                </a:solidFill>
              </a:rPr>
              <a:t>Silence itself should be the trigger</a:t>
            </a:r>
            <a:endParaRPr lang="en-US" sz="1800" dirty="0"/>
          </a:p>
        </p:txBody>
      </p:sp>
      <p:sp>
        <p:nvSpPr>
          <p:cNvPr id="17" name="Text 12"/>
          <p:cNvSpPr txBox="1"/>
          <p:nvPr/>
        </p:nvSpPr>
        <p:spPr>
          <a:xfrm>
            <a:off x="8366760" y="3291840"/>
            <a:ext cx="2834640" cy="1051560"/>
          </a:xfrm>
          <a:prstGeom prst="rect">
            <a:avLst/>
          </a:prstGeom>
          <a:noFill/>
          <a:ln/>
        </p:spPr>
        <p:txBody>
          <a:bodyPr wrap="square" lIns="0" tIns="0" rIns="0" bIns="0" rtlCol="0" anchor="t"/>
          <a:lstStyle/>
          <a:p>
            <a:pPr indent="0" marL="0">
              <a:buNone/>
            </a:pPr>
            <a:r>
              <a:rPr lang="en-US" sz="1400" dirty="0">
                <a:solidFill>
                  <a:schemeClr val="tx1"/>
                </a:solidFill>
              </a:rPr>
              <a:t>If the owner stops proving they are alive, release should happen automatically and verifiably.</a:t>
            </a:r>
            <a:endParaRPr lang="en-US" sz="1400" dirty="0"/>
          </a:p>
        </p:txBody>
      </p:sp>
      <p:sp>
        <p:nvSpPr>
          <p:cNvPr id="18" name="answer banner"/>
          <p:cNvSpPr/>
          <p:nvPr/>
        </p:nvSpPr>
        <p:spPr>
          <a:xfrm>
            <a:off x="548640" y="4754880"/>
            <a:ext cx="11064240" cy="1325880"/>
          </a:xfrm>
          <a:prstGeom prst="roundRect">
            <a:avLst>
              <a:gd name="adj" fmla="val 5517"/>
            </a:avLst>
          </a:prstGeom>
          <a:solidFill>
            <a:schemeClr val="tx2"/>
          </a:solidFill>
          <a:ln/>
        </p:spPr>
      </p:sp>
      <p:sp>
        <p:nvSpPr>
          <p:cNvPr id="19" name="Text 14"/>
          <p:cNvSpPr txBox="1"/>
          <p:nvPr/>
        </p:nvSpPr>
        <p:spPr>
          <a:xfrm>
            <a:off x="868680" y="4892040"/>
            <a:ext cx="10424160" cy="1051560"/>
          </a:xfrm>
          <a:prstGeom prst="rect">
            <a:avLst/>
          </a:prstGeom>
          <a:noFill/>
          <a:ln/>
        </p:spPr>
        <p:txBody>
          <a:bodyPr wrap="square" lIns="0" tIns="0" rIns="0" bIns="0" rtlCol="0" anchor="ctr"/>
          <a:lstStyle/>
          <a:p>
            <a:pPr indent="0" marL="0">
              <a:buNone/>
            </a:pPr>
            <a:r>
              <a:rPr lang="en-US" sz="1700" b="1" dirty="0">
                <a:solidFill>
                  <a:schemeClr val="accent2"/>
                </a:solidFill>
              </a:rPr>
              <a:t>Silence's answer:  </a:t>
            </a:r>
            <a:pPr indent="0" marL="0">
              <a:buNone/>
            </a:pPr>
            <a:r>
              <a:rPr lang="en-US" sz="1700" dirty="0">
                <a:solidFill>
                  <a:schemeClr val="bg1"/>
                </a:solidFill>
              </a:rPr>
              <a:t>lock an encrypted secret and ETH behind a heartbeat. Stop pinging, and the blockchain itself releases the funds and makes the ciphertext claimable. No operator can block or rush it.</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this deck covers</a:t>
            </a:r>
            <a:endParaRPr lang="en-US" sz="3200" dirty="0"/>
          </a:p>
        </p:txBody>
      </p:sp>
      <p:sp>
        <p:nvSpPr>
          <p:cNvPr id="3" name="agenda card"/>
          <p:cNvSpPr/>
          <p:nvPr/>
        </p:nvSpPr>
        <p:spPr>
          <a:xfrm>
            <a:off x="548640" y="1417320"/>
            <a:ext cx="5394960" cy="1280160"/>
          </a:xfrm>
          <a:prstGeom prst="roundRect">
            <a:avLst>
              <a:gd name="adj" fmla="val 5714"/>
            </a:avLst>
          </a:prstGeom>
          <a:solidFill>
            <a:schemeClr val="bg2"/>
          </a:solidFill>
          <a:ln/>
        </p:spPr>
      </p:sp>
      <p:sp>
        <p:nvSpPr>
          <p:cNvPr id="4" name="Text 2"/>
          <p:cNvSpPr txBox="1"/>
          <p:nvPr/>
        </p:nvSpPr>
        <p:spPr>
          <a:xfrm>
            <a:off x="822960" y="1600200"/>
            <a:ext cx="1005840" cy="914400"/>
          </a:xfrm>
          <a:prstGeom prst="rect">
            <a:avLst/>
          </a:prstGeom>
          <a:noFill/>
          <a:ln/>
        </p:spPr>
        <p:txBody>
          <a:bodyPr wrap="square" lIns="0" tIns="0" rIns="0" bIns="0" rtlCol="0" anchor="ctr"/>
          <a:lstStyle/>
          <a:p>
            <a:pPr indent="0" marL="0">
              <a:buNone/>
            </a:pPr>
            <a:r>
              <a:rPr lang="en-US" sz="4000" dirty="0">
                <a:solidFill>
                  <a:schemeClr val="accent1"/>
                </a:solidFill>
                <a:latin typeface="Cambria" pitchFamily="34" charset="0"/>
                <a:ea typeface="Cambria" pitchFamily="34" charset="-122"/>
                <a:cs typeface="Cambria" pitchFamily="34" charset="-120"/>
              </a:rPr>
              <a:t>01</a:t>
            </a:r>
            <a:endParaRPr lang="en-US" sz="4000" dirty="0"/>
          </a:p>
        </p:txBody>
      </p:sp>
      <p:sp>
        <p:nvSpPr>
          <p:cNvPr id="5" name="Text 3"/>
          <p:cNvSpPr txBox="1"/>
          <p:nvPr/>
        </p:nvSpPr>
        <p:spPr>
          <a:xfrm>
            <a:off x="1920240" y="1645920"/>
            <a:ext cx="3840480" cy="411480"/>
          </a:xfrm>
          <a:prstGeom prst="rect">
            <a:avLst/>
          </a:prstGeom>
          <a:noFill/>
          <a:ln/>
        </p:spPr>
        <p:txBody>
          <a:bodyPr wrap="square" lIns="0" tIns="0" rIns="0" bIns="0" rtlCol="0" anchor="t"/>
          <a:lstStyle/>
          <a:p>
            <a:pPr indent="0" marL="0">
              <a:buNone/>
            </a:pPr>
            <a:r>
              <a:rPr lang="en-US" sz="2000" b="1" dirty="0">
                <a:solidFill>
                  <a:schemeClr val="tx2"/>
                </a:solidFill>
              </a:rPr>
              <a:t>System architecture</a:t>
            </a:r>
            <a:endParaRPr lang="en-US" sz="2000" dirty="0"/>
          </a:p>
        </p:txBody>
      </p:sp>
      <p:sp>
        <p:nvSpPr>
          <p:cNvPr id="6" name="Text 4"/>
          <p:cNvSpPr txBox="1"/>
          <p:nvPr/>
        </p:nvSpPr>
        <p:spPr>
          <a:xfrm>
            <a:off x="1920240" y="2075688"/>
            <a:ext cx="3840480" cy="502920"/>
          </a:xfrm>
          <a:prstGeom prst="rect">
            <a:avLst/>
          </a:prstGeom>
          <a:noFill/>
          <a:ln/>
        </p:spPr>
        <p:txBody>
          <a:bodyPr wrap="square" lIns="0" tIns="0" rIns="0" bIns="0" rtlCol="0" anchor="t"/>
          <a:lstStyle/>
          <a:p>
            <a:pPr indent="0" marL="0">
              <a:buNone/>
            </a:pPr>
            <a:r>
              <a:rPr lang="en-US" sz="1400" dirty="0">
                <a:solidFill>
                  <a:schemeClr val="tx1"/>
                </a:solidFill>
              </a:rPr>
              <a:t>Components, tech stack, trust boundaries, module map</a:t>
            </a:r>
            <a:endParaRPr lang="en-US" sz="1400" dirty="0"/>
          </a:p>
        </p:txBody>
      </p:sp>
      <p:sp>
        <p:nvSpPr>
          <p:cNvPr id="7" name="agenda card"/>
          <p:cNvSpPr/>
          <p:nvPr/>
        </p:nvSpPr>
        <p:spPr>
          <a:xfrm>
            <a:off x="548640" y="2971800"/>
            <a:ext cx="5394960" cy="1280160"/>
          </a:xfrm>
          <a:prstGeom prst="roundRect">
            <a:avLst>
              <a:gd name="adj" fmla="val 5714"/>
            </a:avLst>
          </a:prstGeom>
          <a:solidFill>
            <a:schemeClr val="bg2"/>
          </a:solidFill>
          <a:ln/>
        </p:spPr>
      </p:sp>
      <p:sp>
        <p:nvSpPr>
          <p:cNvPr id="8" name="Text 6"/>
          <p:cNvSpPr txBox="1"/>
          <p:nvPr/>
        </p:nvSpPr>
        <p:spPr>
          <a:xfrm>
            <a:off x="822960" y="3154680"/>
            <a:ext cx="1005840" cy="914400"/>
          </a:xfrm>
          <a:prstGeom prst="rect">
            <a:avLst/>
          </a:prstGeom>
          <a:noFill/>
          <a:ln/>
        </p:spPr>
        <p:txBody>
          <a:bodyPr wrap="square" lIns="0" tIns="0" rIns="0" bIns="0" rtlCol="0" anchor="ctr"/>
          <a:lstStyle/>
          <a:p>
            <a:pPr indent="0" marL="0">
              <a:buNone/>
            </a:pPr>
            <a:r>
              <a:rPr lang="en-US" sz="4000" dirty="0">
                <a:solidFill>
                  <a:schemeClr val="accent1"/>
                </a:solidFill>
                <a:latin typeface="Cambria" pitchFamily="34" charset="0"/>
                <a:ea typeface="Cambria" pitchFamily="34" charset="-122"/>
                <a:cs typeface="Cambria" pitchFamily="34" charset="-120"/>
              </a:rPr>
              <a:t>02</a:t>
            </a:r>
            <a:endParaRPr lang="en-US" sz="4000" dirty="0"/>
          </a:p>
        </p:txBody>
      </p:sp>
      <p:sp>
        <p:nvSpPr>
          <p:cNvPr id="9" name="Text 7"/>
          <p:cNvSpPr txBox="1"/>
          <p:nvPr/>
        </p:nvSpPr>
        <p:spPr>
          <a:xfrm>
            <a:off x="1920240" y="3200400"/>
            <a:ext cx="3840480" cy="411480"/>
          </a:xfrm>
          <a:prstGeom prst="rect">
            <a:avLst/>
          </a:prstGeom>
          <a:noFill/>
          <a:ln/>
        </p:spPr>
        <p:txBody>
          <a:bodyPr wrap="square" lIns="0" tIns="0" rIns="0" bIns="0" rtlCol="0" anchor="t"/>
          <a:lstStyle/>
          <a:p>
            <a:pPr indent="0" marL="0">
              <a:buNone/>
            </a:pPr>
            <a:r>
              <a:rPr lang="en-US" sz="2000" b="1" dirty="0">
                <a:solidFill>
                  <a:schemeClr val="tx2"/>
                </a:solidFill>
              </a:rPr>
              <a:t>Smart contract</a:t>
            </a:r>
            <a:endParaRPr lang="en-US" sz="2000" dirty="0"/>
          </a:p>
        </p:txBody>
      </p:sp>
      <p:sp>
        <p:nvSpPr>
          <p:cNvPr id="10" name="Text 8"/>
          <p:cNvSpPr txBox="1"/>
          <p:nvPr/>
        </p:nvSpPr>
        <p:spPr>
          <a:xfrm>
            <a:off x="1920240" y="3630168"/>
            <a:ext cx="3840480" cy="502920"/>
          </a:xfrm>
          <a:prstGeom prst="rect">
            <a:avLst/>
          </a:prstGeom>
          <a:noFill/>
          <a:ln/>
        </p:spPr>
        <p:txBody>
          <a:bodyPr wrap="square" lIns="0" tIns="0" rIns="0" bIns="0" rtlCol="0" anchor="t"/>
          <a:lstStyle/>
          <a:p>
            <a:pPr indent="0" marL="0">
              <a:buNone/>
            </a:pPr>
            <a:r>
              <a:rPr lang="en-US" sz="1400" dirty="0">
                <a:solidFill>
                  <a:schemeClr val="tx1"/>
                </a:solidFill>
              </a:rPr>
              <a:t>Data model, state machine, Chainlink Automation, safety patterns</a:t>
            </a:r>
            <a:endParaRPr lang="en-US" sz="1400" dirty="0"/>
          </a:p>
        </p:txBody>
      </p:sp>
      <p:sp>
        <p:nvSpPr>
          <p:cNvPr id="11" name="agenda card"/>
          <p:cNvSpPr/>
          <p:nvPr/>
        </p:nvSpPr>
        <p:spPr>
          <a:xfrm>
            <a:off x="548640" y="4526280"/>
            <a:ext cx="5394960" cy="1280160"/>
          </a:xfrm>
          <a:prstGeom prst="roundRect">
            <a:avLst>
              <a:gd name="adj" fmla="val 5714"/>
            </a:avLst>
          </a:prstGeom>
          <a:solidFill>
            <a:schemeClr val="bg2"/>
          </a:solidFill>
          <a:ln/>
        </p:spPr>
      </p:sp>
      <p:sp>
        <p:nvSpPr>
          <p:cNvPr id="12" name="Text 10"/>
          <p:cNvSpPr txBox="1"/>
          <p:nvPr/>
        </p:nvSpPr>
        <p:spPr>
          <a:xfrm>
            <a:off x="822960" y="4709160"/>
            <a:ext cx="1005840" cy="914400"/>
          </a:xfrm>
          <a:prstGeom prst="rect">
            <a:avLst/>
          </a:prstGeom>
          <a:noFill/>
          <a:ln/>
        </p:spPr>
        <p:txBody>
          <a:bodyPr wrap="square" lIns="0" tIns="0" rIns="0" bIns="0" rtlCol="0" anchor="ctr"/>
          <a:lstStyle/>
          <a:p>
            <a:pPr indent="0" marL="0">
              <a:buNone/>
            </a:pPr>
            <a:r>
              <a:rPr lang="en-US" sz="4000" dirty="0">
                <a:solidFill>
                  <a:schemeClr val="accent1"/>
                </a:solidFill>
                <a:latin typeface="Cambria" pitchFamily="34" charset="0"/>
                <a:ea typeface="Cambria" pitchFamily="34" charset="-122"/>
                <a:cs typeface="Cambria" pitchFamily="34" charset="-120"/>
              </a:rPr>
              <a:t>03</a:t>
            </a:r>
            <a:endParaRPr lang="en-US" sz="4000" dirty="0"/>
          </a:p>
        </p:txBody>
      </p:sp>
      <p:sp>
        <p:nvSpPr>
          <p:cNvPr id="13" name="Text 11"/>
          <p:cNvSpPr txBox="1"/>
          <p:nvPr/>
        </p:nvSpPr>
        <p:spPr>
          <a:xfrm>
            <a:off x="1920240" y="4754880"/>
            <a:ext cx="3840480" cy="411480"/>
          </a:xfrm>
          <a:prstGeom prst="rect">
            <a:avLst/>
          </a:prstGeom>
          <a:noFill/>
          <a:ln/>
        </p:spPr>
        <p:txBody>
          <a:bodyPr wrap="square" lIns="0" tIns="0" rIns="0" bIns="0" rtlCol="0" anchor="t"/>
          <a:lstStyle/>
          <a:p>
            <a:pPr indent="0" marL="0">
              <a:buNone/>
            </a:pPr>
            <a:r>
              <a:rPr lang="en-US" sz="2000" b="1" dirty="0">
                <a:solidFill>
                  <a:schemeClr val="tx2"/>
                </a:solidFill>
              </a:rPr>
              <a:t>Cryptography &amp; storage</a:t>
            </a:r>
            <a:endParaRPr lang="en-US" sz="2000" dirty="0"/>
          </a:p>
        </p:txBody>
      </p:sp>
      <p:sp>
        <p:nvSpPr>
          <p:cNvPr id="14" name="Text 12"/>
          <p:cNvSpPr txBox="1"/>
          <p:nvPr/>
        </p:nvSpPr>
        <p:spPr>
          <a:xfrm>
            <a:off x="1920240" y="5184648"/>
            <a:ext cx="3840480" cy="502920"/>
          </a:xfrm>
          <a:prstGeom prst="rect">
            <a:avLst/>
          </a:prstGeom>
          <a:noFill/>
          <a:ln/>
        </p:spPr>
        <p:txBody>
          <a:bodyPr wrap="square" lIns="0" tIns="0" rIns="0" bIns="0" rtlCol="0" anchor="t"/>
          <a:lstStyle/>
          <a:p>
            <a:pPr indent="0" marL="0">
              <a:buNone/>
            </a:pPr>
            <a:r>
              <a:rPr lang="en-US" sz="1400" dirty="0">
                <a:solidFill>
                  <a:schemeClr val="tx1"/>
                </a:solidFill>
              </a:rPr>
              <a:t>PBKDF2 + AES-256-GCM pipeline, IPFS, Supabase index</a:t>
            </a:r>
            <a:endParaRPr lang="en-US" sz="1400" dirty="0"/>
          </a:p>
        </p:txBody>
      </p:sp>
      <p:sp>
        <p:nvSpPr>
          <p:cNvPr id="15" name="agenda card"/>
          <p:cNvSpPr/>
          <p:nvPr/>
        </p:nvSpPr>
        <p:spPr>
          <a:xfrm>
            <a:off x="6217920" y="1417320"/>
            <a:ext cx="5394960" cy="1280160"/>
          </a:xfrm>
          <a:prstGeom prst="roundRect">
            <a:avLst>
              <a:gd name="adj" fmla="val 5714"/>
            </a:avLst>
          </a:prstGeom>
          <a:solidFill>
            <a:schemeClr val="bg2"/>
          </a:solidFill>
          <a:ln/>
        </p:spPr>
      </p:sp>
      <p:sp>
        <p:nvSpPr>
          <p:cNvPr id="16" name="Text 14"/>
          <p:cNvSpPr txBox="1"/>
          <p:nvPr/>
        </p:nvSpPr>
        <p:spPr>
          <a:xfrm>
            <a:off x="6492240" y="1600200"/>
            <a:ext cx="1005840" cy="914400"/>
          </a:xfrm>
          <a:prstGeom prst="rect">
            <a:avLst/>
          </a:prstGeom>
          <a:noFill/>
          <a:ln/>
        </p:spPr>
        <p:txBody>
          <a:bodyPr wrap="square" lIns="0" tIns="0" rIns="0" bIns="0" rtlCol="0" anchor="ctr"/>
          <a:lstStyle/>
          <a:p>
            <a:pPr indent="0" marL="0">
              <a:buNone/>
            </a:pPr>
            <a:r>
              <a:rPr lang="en-US" sz="4000" dirty="0">
                <a:solidFill>
                  <a:schemeClr val="accent1"/>
                </a:solidFill>
                <a:latin typeface="Cambria" pitchFamily="34" charset="0"/>
                <a:ea typeface="Cambria" pitchFamily="34" charset="-122"/>
                <a:cs typeface="Cambria" pitchFamily="34" charset="-120"/>
              </a:rPr>
              <a:t>04</a:t>
            </a:r>
            <a:endParaRPr lang="en-US" sz="4000" dirty="0"/>
          </a:p>
        </p:txBody>
      </p:sp>
      <p:sp>
        <p:nvSpPr>
          <p:cNvPr id="17" name="Text 15"/>
          <p:cNvSpPr txBox="1"/>
          <p:nvPr/>
        </p:nvSpPr>
        <p:spPr>
          <a:xfrm>
            <a:off x="7589520" y="1645920"/>
            <a:ext cx="3840480" cy="411480"/>
          </a:xfrm>
          <a:prstGeom prst="rect">
            <a:avLst/>
          </a:prstGeom>
          <a:noFill/>
          <a:ln/>
        </p:spPr>
        <p:txBody>
          <a:bodyPr wrap="square" lIns="0" tIns="0" rIns="0" bIns="0" rtlCol="0" anchor="t"/>
          <a:lstStyle/>
          <a:p>
            <a:pPr indent="0" marL="0">
              <a:buNone/>
            </a:pPr>
            <a:r>
              <a:rPr lang="en-US" sz="2000" b="1" dirty="0">
                <a:solidFill>
                  <a:schemeClr val="tx2"/>
                </a:solidFill>
              </a:rPr>
              <a:t>User journeys</a:t>
            </a:r>
            <a:endParaRPr lang="en-US" sz="2000" dirty="0"/>
          </a:p>
        </p:txBody>
      </p:sp>
      <p:sp>
        <p:nvSpPr>
          <p:cNvPr id="18" name="Text 16"/>
          <p:cNvSpPr txBox="1"/>
          <p:nvPr/>
        </p:nvSpPr>
        <p:spPr>
          <a:xfrm>
            <a:off x="7589520" y="2075688"/>
            <a:ext cx="3840480" cy="502920"/>
          </a:xfrm>
          <a:prstGeom prst="rect">
            <a:avLst/>
          </a:prstGeom>
          <a:noFill/>
          <a:ln/>
        </p:spPr>
        <p:txBody>
          <a:bodyPr wrap="square" lIns="0" tIns="0" rIns="0" bIns="0" rtlCol="0" anchor="t"/>
          <a:lstStyle/>
          <a:p>
            <a:pPr indent="0" marL="0">
              <a:buNone/>
            </a:pPr>
            <a:r>
              <a:rPr lang="en-US" sz="1400" dirty="0">
                <a:solidFill>
                  <a:schemeClr val="tx1"/>
                </a:solidFill>
              </a:rPr>
              <a:t>Every screen, from sign-in to the beneficiary decrypting</a:t>
            </a:r>
            <a:endParaRPr lang="en-US" sz="1400" dirty="0"/>
          </a:p>
        </p:txBody>
      </p:sp>
      <p:sp>
        <p:nvSpPr>
          <p:cNvPr id="19" name="agenda card"/>
          <p:cNvSpPr/>
          <p:nvPr/>
        </p:nvSpPr>
        <p:spPr>
          <a:xfrm>
            <a:off x="6217920" y="2971800"/>
            <a:ext cx="5394960" cy="1280160"/>
          </a:xfrm>
          <a:prstGeom prst="roundRect">
            <a:avLst>
              <a:gd name="adj" fmla="val 5714"/>
            </a:avLst>
          </a:prstGeom>
          <a:solidFill>
            <a:schemeClr val="bg2"/>
          </a:solidFill>
          <a:ln/>
        </p:spPr>
      </p:sp>
      <p:sp>
        <p:nvSpPr>
          <p:cNvPr id="20" name="Text 18"/>
          <p:cNvSpPr txBox="1"/>
          <p:nvPr/>
        </p:nvSpPr>
        <p:spPr>
          <a:xfrm>
            <a:off x="6492240" y="3154680"/>
            <a:ext cx="1005840" cy="914400"/>
          </a:xfrm>
          <a:prstGeom prst="rect">
            <a:avLst/>
          </a:prstGeom>
          <a:noFill/>
          <a:ln/>
        </p:spPr>
        <p:txBody>
          <a:bodyPr wrap="square" lIns="0" tIns="0" rIns="0" bIns="0" rtlCol="0" anchor="ctr"/>
          <a:lstStyle/>
          <a:p>
            <a:pPr indent="0" marL="0">
              <a:buNone/>
            </a:pPr>
            <a:r>
              <a:rPr lang="en-US" sz="4000" dirty="0">
                <a:solidFill>
                  <a:schemeClr val="accent1"/>
                </a:solidFill>
                <a:latin typeface="Cambria" pitchFamily="34" charset="0"/>
                <a:ea typeface="Cambria" pitchFamily="34" charset="-122"/>
                <a:cs typeface="Cambria" pitchFamily="34" charset="-120"/>
              </a:rPr>
              <a:t>05</a:t>
            </a:r>
            <a:endParaRPr lang="en-US" sz="4000" dirty="0"/>
          </a:p>
        </p:txBody>
      </p:sp>
      <p:sp>
        <p:nvSpPr>
          <p:cNvPr id="21" name="Text 19"/>
          <p:cNvSpPr txBox="1"/>
          <p:nvPr/>
        </p:nvSpPr>
        <p:spPr>
          <a:xfrm>
            <a:off x="7589520" y="3200400"/>
            <a:ext cx="3840480" cy="411480"/>
          </a:xfrm>
          <a:prstGeom prst="rect">
            <a:avLst/>
          </a:prstGeom>
          <a:noFill/>
          <a:ln/>
        </p:spPr>
        <p:txBody>
          <a:bodyPr wrap="square" lIns="0" tIns="0" rIns="0" bIns="0" rtlCol="0" anchor="t"/>
          <a:lstStyle/>
          <a:p>
            <a:pPr indent="0" marL="0">
              <a:buNone/>
            </a:pPr>
            <a:r>
              <a:rPr lang="en-US" sz="2000" b="1" dirty="0">
                <a:solidFill>
                  <a:schemeClr val="tx2"/>
                </a:solidFill>
              </a:rPr>
              <a:t>Review &amp; roadmap</a:t>
            </a:r>
            <a:endParaRPr lang="en-US" sz="2000" dirty="0"/>
          </a:p>
        </p:txBody>
      </p:sp>
      <p:sp>
        <p:nvSpPr>
          <p:cNvPr id="22" name="Text 20"/>
          <p:cNvSpPr txBox="1"/>
          <p:nvPr/>
        </p:nvSpPr>
        <p:spPr>
          <a:xfrm>
            <a:off x="7589520" y="3630168"/>
            <a:ext cx="3840480" cy="502920"/>
          </a:xfrm>
          <a:prstGeom prst="rect">
            <a:avLst/>
          </a:prstGeom>
          <a:noFill/>
          <a:ln/>
        </p:spPr>
        <p:txBody>
          <a:bodyPr wrap="square" lIns="0" tIns="0" rIns="0" bIns="0" rtlCol="0" anchor="t"/>
          <a:lstStyle/>
          <a:p>
            <a:pPr indent="0" marL="0">
              <a:buNone/>
            </a:pPr>
            <a:r>
              <a:rPr lang="en-US" sz="1400" dirty="0">
                <a:solidFill>
                  <a:schemeClr val="tx1"/>
                </a:solidFill>
              </a:rPr>
              <a:t>Strengths, known gaps, deployment, next steps</a:t>
            </a:r>
            <a:endParaRPr lang="en-US" sz="1400" dirty="0"/>
          </a:p>
        </p:txBody>
      </p:sp>
      <p:sp>
        <p:nvSpPr>
          <p:cNvPr id="23" name="how to read"/>
          <p:cNvSpPr/>
          <p:nvPr/>
        </p:nvSpPr>
        <p:spPr>
          <a:xfrm>
            <a:off x="6217920" y="4526280"/>
            <a:ext cx="5394960" cy="1280160"/>
          </a:xfrm>
          <a:prstGeom prst="roundRect">
            <a:avLst>
              <a:gd name="adj" fmla="val 5714"/>
            </a:avLst>
          </a:prstGeom>
          <a:solidFill>
            <a:schemeClr val="tx2"/>
          </a:solidFill>
          <a:ln/>
        </p:spPr>
      </p:sp>
      <p:sp>
        <p:nvSpPr>
          <p:cNvPr id="24" name="Text 22"/>
          <p:cNvSpPr txBox="1"/>
          <p:nvPr/>
        </p:nvSpPr>
        <p:spPr>
          <a:xfrm>
            <a:off x="6492240" y="4663440"/>
            <a:ext cx="4846320" cy="1005840"/>
          </a:xfrm>
          <a:prstGeom prst="rect">
            <a:avLst/>
          </a:prstGeom>
          <a:noFill/>
          <a:ln/>
        </p:spPr>
        <p:txBody>
          <a:bodyPr wrap="square" lIns="0" tIns="0" rIns="0" bIns="0" rtlCol="0" anchor="ctr"/>
          <a:lstStyle/>
          <a:p>
            <a:pPr indent="0" marL="0">
              <a:buNone/>
            </a:pPr>
            <a:r>
              <a:rPr lang="en-US" sz="1400" dirty="0">
                <a:solidFill>
                  <a:schemeClr val="bg1"/>
                </a:solidFill>
              </a:rPr>
              <a:t>Screenshots were captured from a local build of this repository with demo data (mocked wallet, Supabase and IPFS responses).</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lstStyle/>
          <a:p>
            <a:pPr indent="0" marL="0">
              <a:buNone/>
            </a:pPr>
            <a:r>
              <a:rPr lang="en-US" sz="9600" dirty="0">
                <a:solidFill>
                  <a:schemeClr val="accent2"/>
                </a:solidFill>
                <a:latin typeface="Cambria" pitchFamily="34" charset="0"/>
                <a:ea typeface="Cambria" pitchFamily="34" charset="-122"/>
                <a:cs typeface="Cambria" pitchFamily="34" charset="-120"/>
              </a:rPr>
              <a:t>01</a:t>
            </a: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System architecture</a:t>
            </a: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1800" dirty="0">
                <a:solidFill>
                  <a:schemeClr val="accent2"/>
                </a:solidFill>
              </a:rPr>
              <a:t>Five moving parts: the browser, the wallet, the contract, IPFS and Supabase, plus an automation network that never needs trusting.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High-level architecture</a:t>
            </a:r>
            <a:endParaRPr lang="en-US" sz="3200" dirty="0"/>
          </a:p>
        </p:txBody>
      </p:sp>
      <p:sp>
        <p:nvSpPr>
          <p:cNvPr id="3" name="Owner actor"/>
          <p:cNvSpPr/>
          <p:nvPr/>
        </p:nvSpPr>
        <p:spPr>
          <a:xfrm>
            <a:off x="548640" y="2011680"/>
            <a:ext cx="1463040" cy="1234440"/>
          </a:xfrm>
          <a:prstGeom prst="roundRect">
            <a:avLst>
              <a:gd name="adj" fmla="val 5926"/>
            </a:avLst>
          </a:prstGeom>
          <a:solidFill>
            <a:schemeClr val="bg1"/>
          </a:solidFill>
          <a:ln w="12700">
            <a:solidFill>
              <a:schemeClr val="accent6"/>
            </a:solidFill>
            <a:prstDash val="solid"/>
          </a:ln>
        </p:spPr>
      </p:sp>
      <p:sp>
        <p:nvSpPr>
          <p:cNvPr id="4" name="Owner circle"/>
          <p:cNvSpPr/>
          <p:nvPr/>
        </p:nvSpPr>
        <p:spPr>
          <a:xfrm>
            <a:off x="1005840" y="2148840"/>
            <a:ext cx="548640" cy="548640"/>
          </a:xfrm>
          <a:prstGeom prst="ellipse">
            <a:avLst/>
          </a:prstGeom>
          <a:solidFill>
            <a:schemeClr val="accent1"/>
          </a:solidFill>
          <a:ln/>
        </p:spPr>
      </p:sp>
      <p:pic>
        <p:nvPicPr>
          <p:cNvPr id="5" name="Owner glyph" descr="preencoded.png">    </p:cNvPr>
          <p:cNvPicPr>
            <a:picLocks noChangeAspect="1"/>
          </p:cNvPicPr>
          <p:nvPr/>
        </p:nvPicPr>
        <p:blipFill>
          <a:blip r:embed="rId1"/>
          <a:stretch>
            <a:fillRect/>
          </a:stretch>
        </p:blipFill>
        <p:spPr>
          <a:xfrm>
            <a:off x="1137514" y="2280514"/>
            <a:ext cx="285293" cy="285293"/>
          </a:xfrm>
          <a:prstGeom prst="rect">
            <a:avLst/>
          </a:prstGeom>
        </p:spPr>
      </p:pic>
      <p:sp>
        <p:nvSpPr>
          <p:cNvPr id="6" name="Text 3"/>
          <p:cNvSpPr txBox="1"/>
          <p:nvPr/>
        </p:nvSpPr>
        <p:spPr>
          <a:xfrm>
            <a:off x="548640" y="274320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Owner</a:t>
            </a:r>
            <a:endParaRPr lang="en-US" sz="1400" dirty="0"/>
          </a:p>
        </p:txBody>
      </p:sp>
      <p:sp>
        <p:nvSpPr>
          <p:cNvPr id="7" name="Text 4"/>
          <p:cNvSpPr txBox="1"/>
          <p:nvPr/>
        </p:nvSpPr>
        <p:spPr>
          <a:xfrm>
            <a:off x="548640" y="2971800"/>
            <a:ext cx="1463040" cy="228600"/>
          </a:xfrm>
          <a:prstGeom prst="rect">
            <a:avLst/>
          </a:prstGeom>
          <a:noFill/>
          <a:ln/>
        </p:spPr>
        <p:txBody>
          <a:bodyPr wrap="square" lIns="0" tIns="0" rIns="0" bIns="0" rtlCol="0" anchor="t"/>
          <a:lstStyle/>
          <a:p>
            <a:pPr algn="ctr" indent="0" marL="0">
              <a:buNone/>
            </a:pPr>
            <a:r>
              <a:rPr lang="en-US" sz="1000" dirty="0">
                <a:solidFill>
                  <a:schemeClr val="accent6"/>
                </a:solidFill>
              </a:rPr>
              <a:t>arms &amp; pings</a:t>
            </a:r>
            <a:endParaRPr lang="en-US" sz="1000" dirty="0"/>
          </a:p>
        </p:txBody>
      </p:sp>
      <p:sp>
        <p:nvSpPr>
          <p:cNvPr id="8" name="Beneficiary actor"/>
          <p:cNvSpPr/>
          <p:nvPr/>
        </p:nvSpPr>
        <p:spPr>
          <a:xfrm>
            <a:off x="548640" y="4206240"/>
            <a:ext cx="1463040" cy="1234440"/>
          </a:xfrm>
          <a:prstGeom prst="roundRect">
            <a:avLst>
              <a:gd name="adj" fmla="val 5926"/>
            </a:avLst>
          </a:prstGeom>
          <a:solidFill>
            <a:schemeClr val="bg1"/>
          </a:solidFill>
          <a:ln w="12700">
            <a:solidFill>
              <a:schemeClr val="accent6"/>
            </a:solidFill>
            <a:prstDash val="solid"/>
          </a:ln>
        </p:spPr>
      </p:sp>
      <p:sp>
        <p:nvSpPr>
          <p:cNvPr id="9" name="Beneficiary circle"/>
          <p:cNvSpPr/>
          <p:nvPr/>
        </p:nvSpPr>
        <p:spPr>
          <a:xfrm>
            <a:off x="1005840" y="4343400"/>
            <a:ext cx="548640" cy="548640"/>
          </a:xfrm>
          <a:prstGeom prst="ellipse">
            <a:avLst/>
          </a:prstGeom>
          <a:solidFill>
            <a:schemeClr val="accent1"/>
          </a:solidFill>
          <a:ln/>
        </p:spPr>
      </p:sp>
      <p:pic>
        <p:nvPicPr>
          <p:cNvPr id="10" name="Beneficiary glyph" descr="preencoded.png">    </p:cNvPr>
          <p:cNvPicPr>
            <a:picLocks noChangeAspect="1"/>
          </p:cNvPicPr>
          <p:nvPr/>
        </p:nvPicPr>
        <p:blipFill>
          <a:blip r:embed="rId2"/>
          <a:stretch>
            <a:fillRect/>
          </a:stretch>
        </p:blipFill>
        <p:spPr>
          <a:xfrm>
            <a:off x="1137514" y="4475074"/>
            <a:ext cx="285293" cy="285293"/>
          </a:xfrm>
          <a:prstGeom prst="rect">
            <a:avLst/>
          </a:prstGeom>
        </p:spPr>
      </p:pic>
      <p:sp>
        <p:nvSpPr>
          <p:cNvPr id="11" name="Text 7"/>
          <p:cNvSpPr txBox="1"/>
          <p:nvPr/>
        </p:nvSpPr>
        <p:spPr>
          <a:xfrm>
            <a:off x="548640" y="493776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Beneficiary</a:t>
            </a:r>
            <a:endParaRPr lang="en-US" sz="1400" dirty="0"/>
          </a:p>
        </p:txBody>
      </p:sp>
      <p:sp>
        <p:nvSpPr>
          <p:cNvPr id="12" name="Text 8"/>
          <p:cNvSpPr txBox="1"/>
          <p:nvPr/>
        </p:nvSpPr>
        <p:spPr>
          <a:xfrm>
            <a:off x="548640" y="5166360"/>
            <a:ext cx="1463040" cy="228600"/>
          </a:xfrm>
          <a:prstGeom prst="rect">
            <a:avLst/>
          </a:prstGeom>
          <a:noFill/>
          <a:ln/>
        </p:spPr>
        <p:txBody>
          <a:bodyPr wrap="square" lIns="0" tIns="0" rIns="0" bIns="0" rtlCol="0" anchor="t"/>
          <a:lstStyle/>
          <a:p>
            <a:pPr algn="ctr" indent="0" marL="0">
              <a:buNone/>
            </a:pPr>
            <a:r>
              <a:rPr lang="en-US" sz="1000" dirty="0">
                <a:solidFill>
                  <a:schemeClr val="accent6"/>
                </a:solidFill>
              </a:rPr>
              <a:t>claims &amp; decrypts</a:t>
            </a:r>
            <a:endParaRPr lang="en-US" sz="1000" dirty="0"/>
          </a:p>
        </p:txBody>
      </p:sp>
      <p:sp>
        <p:nvSpPr>
          <p:cNvPr id="13" name="connector"/>
          <p:cNvSpPr/>
          <p:nvPr/>
        </p:nvSpPr>
        <p:spPr>
          <a:xfrm>
            <a:off x="2011680" y="2624328"/>
            <a:ext cx="320040" cy="0"/>
          </a:xfrm>
          <a:prstGeom prst="line">
            <a:avLst/>
          </a:prstGeom>
          <a:noFill/>
          <a:ln w="19050">
            <a:solidFill>
              <a:schemeClr val="accent6"/>
            </a:solidFill>
            <a:prstDash val="solid"/>
            <a:tailEnd type="triangle"/>
          </a:ln>
        </p:spPr>
      </p:sp>
      <p:sp>
        <p:nvSpPr>
          <p:cNvPr id="14" name="connector"/>
          <p:cNvSpPr/>
          <p:nvPr/>
        </p:nvSpPr>
        <p:spPr>
          <a:xfrm>
            <a:off x="2011680" y="4818888"/>
            <a:ext cx="320040" cy="0"/>
          </a:xfrm>
          <a:prstGeom prst="line">
            <a:avLst/>
          </a:prstGeom>
          <a:noFill/>
          <a:ln w="19050">
            <a:solidFill>
              <a:schemeClr val="accent6"/>
            </a:solidFill>
            <a:prstDash val="solid"/>
            <a:tailEnd type="triangle"/>
          </a:ln>
        </p:spPr>
      </p:sp>
      <p:sp>
        <p:nvSpPr>
          <p:cNvPr id="15" name="browser container"/>
          <p:cNvSpPr/>
          <p:nvPr/>
        </p:nvSpPr>
        <p:spPr>
          <a:xfrm>
            <a:off x="2331720" y="1280160"/>
            <a:ext cx="4069080" cy="4892040"/>
          </a:xfrm>
          <a:prstGeom prst="roundRect">
            <a:avLst>
              <a:gd name="adj" fmla="val 1798"/>
            </a:avLst>
          </a:prstGeom>
          <a:solidFill>
            <a:schemeClr val="bg2"/>
          </a:solidFill>
          <a:ln w="15875">
            <a:solidFill>
              <a:schemeClr val="accent1"/>
            </a:solidFill>
            <a:prstDash val="solid"/>
          </a:ln>
        </p:spPr>
      </p:sp>
      <p:sp>
        <p:nvSpPr>
          <p:cNvPr id="16" name="Text 12"/>
          <p:cNvSpPr txBox="1"/>
          <p:nvPr/>
        </p:nvSpPr>
        <p:spPr>
          <a:xfrm>
            <a:off x="2560320" y="1371600"/>
            <a:ext cx="3657600" cy="320040"/>
          </a:xfrm>
          <a:prstGeom prst="rect">
            <a:avLst/>
          </a:prstGeom>
          <a:noFill/>
          <a:ln/>
        </p:spPr>
        <p:txBody>
          <a:bodyPr wrap="square" lIns="0" tIns="0" rIns="0" bIns="0" rtlCol="0" anchor="t"/>
          <a:lstStyle/>
          <a:p>
            <a:pPr indent="0" marL="0">
              <a:buNone/>
            </a:pPr>
            <a:r>
              <a:rPr lang="en-US" sz="1600" b="1" dirty="0">
                <a:solidFill>
                  <a:schemeClr val="tx2"/>
                </a:solidFill>
              </a:rPr>
              <a:t>Browser  ·  React SPA</a:t>
            </a:r>
            <a:endParaRPr lang="en-US" sz="1600" dirty="0"/>
          </a:p>
        </p:txBody>
      </p:sp>
      <p:sp>
        <p:nvSpPr>
          <p:cNvPr id="17" name="Text 13"/>
          <p:cNvSpPr txBox="1"/>
          <p:nvPr/>
        </p:nvSpPr>
        <p:spPr>
          <a:xfrm>
            <a:off x="2560320" y="1664208"/>
            <a:ext cx="3657600" cy="228600"/>
          </a:xfrm>
          <a:prstGeom prst="rect">
            <a:avLst/>
          </a:prstGeom>
          <a:noFill/>
          <a:ln/>
        </p:spPr>
        <p:txBody>
          <a:bodyPr wrap="square" lIns="0" tIns="0" rIns="0" bIns="0" rtlCol="0" anchor="t"/>
          <a:lstStyle/>
          <a:p>
            <a:pPr indent="0" marL="0">
              <a:buNone/>
            </a:pPr>
            <a:r>
              <a:rPr lang="en-US" sz="1100" dirty="0">
                <a:solidFill>
                  <a:schemeClr val="accent6"/>
                </a:solidFill>
              </a:rPr>
              <a:t>Vite build served by Vercel</a:t>
            </a:r>
            <a:endParaRPr lang="en-US" sz="1100" dirty="0"/>
          </a:p>
        </p:txBody>
      </p:sp>
      <p:sp>
        <p:nvSpPr>
          <p:cNvPr id="18" name="module UI layer"/>
          <p:cNvSpPr/>
          <p:nvPr/>
        </p:nvSpPr>
        <p:spPr>
          <a:xfrm>
            <a:off x="2560320" y="2011680"/>
            <a:ext cx="3611880" cy="676656"/>
          </a:xfrm>
          <a:prstGeom prst="roundRect">
            <a:avLst>
              <a:gd name="adj" fmla="val 10811"/>
            </a:avLst>
          </a:prstGeom>
          <a:solidFill>
            <a:schemeClr val="bg1"/>
          </a:solidFill>
          <a:ln/>
        </p:spPr>
      </p:sp>
      <p:sp>
        <p:nvSpPr>
          <p:cNvPr id="19" name="Text 15"/>
          <p:cNvSpPr txBox="1"/>
          <p:nvPr/>
        </p:nvSpPr>
        <p:spPr>
          <a:xfrm>
            <a:off x="2697480" y="2084832"/>
            <a:ext cx="3383280" cy="274320"/>
          </a:xfrm>
          <a:prstGeom prst="rect">
            <a:avLst/>
          </a:prstGeom>
          <a:noFill/>
          <a:ln/>
        </p:spPr>
        <p:txBody>
          <a:bodyPr wrap="square" lIns="0" tIns="0" rIns="0" bIns="0" rtlCol="0" anchor="t"/>
          <a:lstStyle/>
          <a:p>
            <a:pPr indent="0" marL="0">
              <a:buNone/>
            </a:pPr>
            <a:r>
              <a:rPr lang="en-US" sz="1300" b="1" dirty="0">
                <a:solidFill>
                  <a:schemeClr val="accent1"/>
                </a:solidFill>
              </a:rPr>
              <a:t>UI layer</a:t>
            </a:r>
            <a:endParaRPr lang="en-US" sz="1300" dirty="0"/>
          </a:p>
        </p:txBody>
      </p:sp>
      <p:sp>
        <p:nvSpPr>
          <p:cNvPr id="20" name="Text 16"/>
          <p:cNvSpPr txBox="1"/>
          <p:nvPr/>
        </p:nvSpPr>
        <p:spPr>
          <a:xfrm>
            <a:off x="2697480" y="2359152"/>
            <a:ext cx="3383280" cy="274320"/>
          </a:xfrm>
          <a:prstGeom prst="rect">
            <a:avLst/>
          </a:prstGeom>
          <a:noFill/>
          <a:ln/>
        </p:spPr>
        <p:txBody>
          <a:bodyPr wrap="square" lIns="0" tIns="0" rIns="0" bIns="0" rtlCol="0" anchor="t"/>
          <a:lstStyle/>
          <a:p>
            <a:pPr indent="0" marL="0">
              <a:buNone/>
            </a:pPr>
            <a:r>
              <a:rPr lang="en-US" sz="1100" dirty="0">
                <a:solidFill>
                  <a:schemeClr val="tx1"/>
                </a:solidFill>
              </a:rPr>
              <a:t>TanStack Router · shadcn/ui · TanStack Query</a:t>
            </a:r>
            <a:endParaRPr lang="en-US" sz="1100" dirty="0"/>
          </a:p>
        </p:txBody>
      </p:sp>
      <p:sp>
        <p:nvSpPr>
          <p:cNvPr id="21" name="module Web Crypto"/>
          <p:cNvSpPr/>
          <p:nvPr/>
        </p:nvSpPr>
        <p:spPr>
          <a:xfrm>
            <a:off x="2560320" y="2834640"/>
            <a:ext cx="3611880" cy="676656"/>
          </a:xfrm>
          <a:prstGeom prst="roundRect">
            <a:avLst>
              <a:gd name="adj" fmla="val 10811"/>
            </a:avLst>
          </a:prstGeom>
          <a:solidFill>
            <a:schemeClr val="bg1"/>
          </a:solidFill>
          <a:ln/>
        </p:spPr>
      </p:sp>
      <p:sp>
        <p:nvSpPr>
          <p:cNvPr id="22" name="Text 18"/>
          <p:cNvSpPr txBox="1"/>
          <p:nvPr/>
        </p:nvSpPr>
        <p:spPr>
          <a:xfrm>
            <a:off x="2697480" y="2907792"/>
            <a:ext cx="3383280" cy="274320"/>
          </a:xfrm>
          <a:prstGeom prst="rect">
            <a:avLst/>
          </a:prstGeom>
          <a:noFill/>
          <a:ln/>
        </p:spPr>
        <p:txBody>
          <a:bodyPr wrap="square" lIns="0" tIns="0" rIns="0" bIns="0" rtlCol="0" anchor="t"/>
          <a:lstStyle/>
          <a:p>
            <a:pPr indent="0" marL="0">
              <a:buNone/>
            </a:pPr>
            <a:r>
              <a:rPr lang="en-US" sz="1300" b="1" dirty="0">
                <a:solidFill>
                  <a:schemeClr val="accent1"/>
                </a:solidFill>
              </a:rPr>
              <a:t>Web Crypto</a:t>
            </a:r>
            <a:endParaRPr lang="en-US" sz="1300" dirty="0"/>
          </a:p>
        </p:txBody>
      </p:sp>
      <p:sp>
        <p:nvSpPr>
          <p:cNvPr id="23" name="Text 19"/>
          <p:cNvSpPr txBox="1"/>
          <p:nvPr/>
        </p:nvSpPr>
        <p:spPr>
          <a:xfrm>
            <a:off x="2697480" y="3182112"/>
            <a:ext cx="3383280" cy="274320"/>
          </a:xfrm>
          <a:prstGeom prst="rect">
            <a:avLst/>
          </a:prstGeom>
          <a:noFill/>
          <a:ln/>
        </p:spPr>
        <p:txBody>
          <a:bodyPr wrap="square" lIns="0" tIns="0" rIns="0" bIns="0" rtlCol="0" anchor="t"/>
          <a:lstStyle/>
          <a:p>
            <a:pPr indent="0" marL="0">
              <a:buNone/>
            </a:pPr>
            <a:r>
              <a:rPr lang="en-US" sz="1100" dirty="0">
                <a:solidFill>
                  <a:schemeClr val="tx1"/>
                </a:solidFill>
              </a:rPr>
              <a:t>PBKDF2 + AES-256-GCM, never leaves the tab</a:t>
            </a:r>
            <a:endParaRPr lang="en-US" sz="1100" dirty="0"/>
          </a:p>
        </p:txBody>
      </p:sp>
      <p:sp>
        <p:nvSpPr>
          <p:cNvPr id="24" name="module ethers v6"/>
          <p:cNvSpPr/>
          <p:nvPr/>
        </p:nvSpPr>
        <p:spPr>
          <a:xfrm>
            <a:off x="2560320" y="3657600"/>
            <a:ext cx="3611880" cy="676656"/>
          </a:xfrm>
          <a:prstGeom prst="roundRect">
            <a:avLst>
              <a:gd name="adj" fmla="val 10811"/>
            </a:avLst>
          </a:prstGeom>
          <a:solidFill>
            <a:schemeClr val="bg1"/>
          </a:solidFill>
          <a:ln/>
        </p:spPr>
      </p:sp>
      <p:sp>
        <p:nvSpPr>
          <p:cNvPr id="25" name="Text 21"/>
          <p:cNvSpPr txBox="1"/>
          <p:nvPr/>
        </p:nvSpPr>
        <p:spPr>
          <a:xfrm>
            <a:off x="2697480" y="3730752"/>
            <a:ext cx="3383280" cy="274320"/>
          </a:xfrm>
          <a:prstGeom prst="rect">
            <a:avLst/>
          </a:prstGeom>
          <a:noFill/>
          <a:ln/>
        </p:spPr>
        <p:txBody>
          <a:bodyPr wrap="square" lIns="0" tIns="0" rIns="0" bIns="0" rtlCol="0" anchor="t"/>
          <a:lstStyle/>
          <a:p>
            <a:pPr indent="0" marL="0">
              <a:buNone/>
            </a:pPr>
            <a:r>
              <a:rPr lang="en-US" sz="1300" b="1" dirty="0">
                <a:solidFill>
                  <a:schemeClr val="accent1"/>
                </a:solidFill>
              </a:rPr>
              <a:t>ethers v6</a:t>
            </a:r>
            <a:endParaRPr lang="en-US" sz="1300" dirty="0"/>
          </a:p>
        </p:txBody>
      </p:sp>
      <p:sp>
        <p:nvSpPr>
          <p:cNvPr id="26" name="Text 22"/>
          <p:cNvSpPr txBox="1"/>
          <p:nvPr/>
        </p:nvSpPr>
        <p:spPr>
          <a:xfrm>
            <a:off x="2697480" y="4005072"/>
            <a:ext cx="3383280" cy="274320"/>
          </a:xfrm>
          <a:prstGeom prst="rect">
            <a:avLst/>
          </a:prstGeom>
          <a:noFill/>
          <a:ln/>
        </p:spPr>
        <p:txBody>
          <a:bodyPr wrap="square" lIns="0" tIns="0" rIns="0" bIns="0" rtlCol="0" anchor="t"/>
          <a:lstStyle/>
          <a:p>
            <a:pPr indent="0" marL="0">
              <a:buNone/>
            </a:pPr>
            <a:r>
              <a:rPr lang="en-US" sz="1100" dirty="0">
                <a:solidFill>
                  <a:schemeClr val="tx1"/>
                </a:solidFill>
              </a:rPr>
              <a:t>lib/vault-chain.ts · lib/wallet.ts</a:t>
            </a:r>
            <a:endParaRPr lang="en-US" sz="1100" dirty="0"/>
          </a:p>
        </p:txBody>
      </p:sp>
      <p:sp>
        <p:nvSpPr>
          <p:cNvPr id="27" name="module Pinata client"/>
          <p:cNvSpPr/>
          <p:nvPr/>
        </p:nvSpPr>
        <p:spPr>
          <a:xfrm>
            <a:off x="2560320" y="4480560"/>
            <a:ext cx="3611880" cy="676656"/>
          </a:xfrm>
          <a:prstGeom prst="roundRect">
            <a:avLst>
              <a:gd name="adj" fmla="val 10811"/>
            </a:avLst>
          </a:prstGeom>
          <a:solidFill>
            <a:schemeClr val="bg1"/>
          </a:solidFill>
          <a:ln/>
        </p:spPr>
      </p:sp>
      <p:sp>
        <p:nvSpPr>
          <p:cNvPr id="28" name="Text 24"/>
          <p:cNvSpPr txBox="1"/>
          <p:nvPr/>
        </p:nvSpPr>
        <p:spPr>
          <a:xfrm>
            <a:off x="2697480" y="4553712"/>
            <a:ext cx="3383280" cy="274320"/>
          </a:xfrm>
          <a:prstGeom prst="rect">
            <a:avLst/>
          </a:prstGeom>
          <a:noFill/>
          <a:ln/>
        </p:spPr>
        <p:txBody>
          <a:bodyPr wrap="square" lIns="0" tIns="0" rIns="0" bIns="0" rtlCol="0" anchor="t"/>
          <a:lstStyle/>
          <a:p>
            <a:pPr indent="0" marL="0">
              <a:buNone/>
            </a:pPr>
            <a:r>
              <a:rPr lang="en-US" sz="1300" b="1" dirty="0">
                <a:solidFill>
                  <a:schemeClr val="accent1"/>
                </a:solidFill>
              </a:rPr>
              <a:t>Pinata client</a:t>
            </a:r>
            <a:endParaRPr lang="en-US" sz="1300" dirty="0"/>
          </a:p>
        </p:txBody>
      </p:sp>
      <p:sp>
        <p:nvSpPr>
          <p:cNvPr id="29" name="Text 25"/>
          <p:cNvSpPr txBox="1"/>
          <p:nvPr/>
        </p:nvSpPr>
        <p:spPr>
          <a:xfrm>
            <a:off x="2697480" y="4828032"/>
            <a:ext cx="3383280" cy="274320"/>
          </a:xfrm>
          <a:prstGeom prst="rect">
            <a:avLst/>
          </a:prstGeom>
          <a:noFill/>
          <a:ln/>
        </p:spPr>
        <p:txBody>
          <a:bodyPr wrap="square" lIns="0" tIns="0" rIns="0" bIns="0" rtlCol="0" anchor="t"/>
          <a:lstStyle/>
          <a:p>
            <a:pPr indent="0" marL="0">
              <a:buNone/>
            </a:pPr>
            <a:r>
              <a:rPr lang="en-US" sz="1100" dirty="0">
                <a:solidFill>
                  <a:schemeClr val="tx1"/>
                </a:solidFill>
              </a:rPr>
              <a:t>lib/pinata.functions.ts</a:t>
            </a:r>
            <a:endParaRPr lang="en-US" sz="1100" dirty="0"/>
          </a:p>
        </p:txBody>
      </p:sp>
      <p:sp>
        <p:nvSpPr>
          <p:cNvPr id="30" name="module Supabase JS"/>
          <p:cNvSpPr/>
          <p:nvPr/>
        </p:nvSpPr>
        <p:spPr>
          <a:xfrm>
            <a:off x="2560320" y="5303520"/>
            <a:ext cx="3611880" cy="676656"/>
          </a:xfrm>
          <a:prstGeom prst="roundRect">
            <a:avLst>
              <a:gd name="adj" fmla="val 10811"/>
            </a:avLst>
          </a:prstGeom>
          <a:solidFill>
            <a:schemeClr val="bg1"/>
          </a:solidFill>
          <a:ln/>
        </p:spPr>
      </p:sp>
      <p:sp>
        <p:nvSpPr>
          <p:cNvPr id="31" name="Text 27"/>
          <p:cNvSpPr txBox="1"/>
          <p:nvPr/>
        </p:nvSpPr>
        <p:spPr>
          <a:xfrm>
            <a:off x="2697480" y="5376672"/>
            <a:ext cx="3383280" cy="274320"/>
          </a:xfrm>
          <a:prstGeom prst="rect">
            <a:avLst/>
          </a:prstGeom>
          <a:noFill/>
          <a:ln/>
        </p:spPr>
        <p:txBody>
          <a:bodyPr wrap="square" lIns="0" tIns="0" rIns="0" bIns="0" rtlCol="0" anchor="t"/>
          <a:lstStyle/>
          <a:p>
            <a:pPr indent="0" marL="0">
              <a:buNone/>
            </a:pPr>
            <a:r>
              <a:rPr lang="en-US" sz="1300" b="1" dirty="0">
                <a:solidFill>
                  <a:schemeClr val="accent1"/>
                </a:solidFill>
              </a:rPr>
              <a:t>Supabase JS</a:t>
            </a:r>
            <a:endParaRPr lang="en-US" sz="1300" dirty="0"/>
          </a:p>
        </p:txBody>
      </p:sp>
      <p:sp>
        <p:nvSpPr>
          <p:cNvPr id="32" name="Text 28"/>
          <p:cNvSpPr txBox="1"/>
          <p:nvPr/>
        </p:nvSpPr>
        <p:spPr>
          <a:xfrm>
            <a:off x="2697480" y="5650992"/>
            <a:ext cx="3383280" cy="274320"/>
          </a:xfrm>
          <a:prstGeom prst="rect">
            <a:avLst/>
          </a:prstGeom>
          <a:noFill/>
          <a:ln/>
        </p:spPr>
        <p:txBody>
          <a:bodyPr wrap="square" lIns="0" tIns="0" rIns="0" bIns="0" rtlCol="0" anchor="t"/>
          <a:lstStyle/>
          <a:p>
            <a:pPr indent="0" marL="0">
              <a:buNone/>
            </a:pPr>
            <a:r>
              <a:rPr lang="en-US" sz="1100" dirty="0">
                <a:solidFill>
                  <a:schemeClr val="tx1"/>
                </a:solidFill>
              </a:rPr>
              <a:t>lib/auth.ts · vaults table</a:t>
            </a:r>
            <a:endParaRPr lang="en-US" sz="1100" dirty="0"/>
          </a:p>
        </p:txBody>
      </p:sp>
      <p:sp>
        <p:nvSpPr>
          <p:cNvPr id="33" name="MetaMask"/>
          <p:cNvSpPr/>
          <p:nvPr/>
        </p:nvSpPr>
        <p:spPr>
          <a:xfrm>
            <a:off x="6949440" y="3657600"/>
            <a:ext cx="2148840" cy="676656"/>
          </a:xfrm>
          <a:prstGeom prst="roundRect">
            <a:avLst>
              <a:gd name="adj" fmla="val 10811"/>
            </a:avLst>
          </a:prstGeom>
          <a:solidFill>
            <a:schemeClr val="bg1"/>
          </a:solidFill>
          <a:ln w="12700">
            <a:solidFill>
              <a:schemeClr val="accent6"/>
            </a:solidFill>
            <a:prstDash val="solid"/>
          </a:ln>
        </p:spPr>
      </p:sp>
      <p:sp>
        <p:nvSpPr>
          <p:cNvPr id="34" name="MetaMask circle"/>
          <p:cNvSpPr/>
          <p:nvPr/>
        </p:nvSpPr>
        <p:spPr>
          <a:xfrm>
            <a:off x="7059168" y="3785616"/>
            <a:ext cx="420624" cy="420624"/>
          </a:xfrm>
          <a:prstGeom prst="ellipse">
            <a:avLst/>
          </a:prstGeom>
          <a:solidFill>
            <a:schemeClr val="accent1"/>
          </a:solidFill>
          <a:ln/>
        </p:spPr>
      </p:sp>
      <p:pic>
        <p:nvPicPr>
          <p:cNvPr id="35" name="MetaMask glyph" descr="preencoded.png">    </p:cNvPr>
          <p:cNvPicPr>
            <a:picLocks noChangeAspect="1"/>
          </p:cNvPicPr>
          <p:nvPr/>
        </p:nvPicPr>
        <p:blipFill>
          <a:blip r:embed="rId3"/>
          <a:stretch>
            <a:fillRect/>
          </a:stretch>
        </p:blipFill>
        <p:spPr>
          <a:xfrm>
            <a:off x="7160118" y="3886566"/>
            <a:ext cx="218724" cy="218724"/>
          </a:xfrm>
          <a:prstGeom prst="rect">
            <a:avLst/>
          </a:prstGeom>
        </p:spPr>
      </p:pic>
      <p:sp>
        <p:nvSpPr>
          <p:cNvPr id="36" name="Text 31"/>
          <p:cNvSpPr txBox="1"/>
          <p:nvPr/>
        </p:nvSpPr>
        <p:spPr>
          <a:xfrm>
            <a:off x="7589520" y="3730752"/>
            <a:ext cx="1417320" cy="274320"/>
          </a:xfrm>
          <a:prstGeom prst="rect">
            <a:avLst/>
          </a:prstGeom>
          <a:noFill/>
          <a:ln/>
        </p:spPr>
        <p:txBody>
          <a:bodyPr wrap="square" lIns="0" tIns="0" rIns="0" bIns="0" rtlCol="0" anchor="t"/>
          <a:lstStyle/>
          <a:p>
            <a:pPr indent="0" marL="0">
              <a:buNone/>
            </a:pPr>
            <a:r>
              <a:rPr lang="en-US" sz="1300" b="1" dirty="0">
                <a:solidFill>
                  <a:schemeClr val="tx2"/>
                </a:solidFill>
              </a:rPr>
              <a:t>MetaMask</a:t>
            </a:r>
            <a:endParaRPr lang="en-US" sz="1300" dirty="0"/>
          </a:p>
        </p:txBody>
      </p:sp>
      <p:sp>
        <p:nvSpPr>
          <p:cNvPr id="37" name="Text 32"/>
          <p:cNvSpPr txBox="1"/>
          <p:nvPr/>
        </p:nvSpPr>
        <p:spPr>
          <a:xfrm>
            <a:off x="7589520" y="4005072"/>
            <a:ext cx="1417320" cy="274320"/>
          </a:xfrm>
          <a:prstGeom prst="rect">
            <a:avLst/>
          </a:prstGeom>
          <a:noFill/>
          <a:ln/>
        </p:spPr>
        <p:txBody>
          <a:bodyPr wrap="square" lIns="0" tIns="0" rIns="0" bIns="0" rtlCol="0" anchor="t"/>
          <a:lstStyle/>
          <a:p>
            <a:pPr indent="0" marL="0">
              <a:buNone/>
            </a:pPr>
            <a:r>
              <a:rPr lang="en-US" sz="1050" dirty="0">
                <a:solidFill>
                  <a:schemeClr val="accent6"/>
                </a:solidFill>
              </a:rPr>
              <a:t>EIP-1193 signer</a:t>
            </a:r>
            <a:endParaRPr lang="en-US" sz="1050" dirty="0"/>
          </a:p>
        </p:txBody>
      </p:sp>
      <p:sp>
        <p:nvSpPr>
          <p:cNvPr id="38" name="Pinata IPFS"/>
          <p:cNvSpPr/>
          <p:nvPr/>
        </p:nvSpPr>
        <p:spPr>
          <a:xfrm>
            <a:off x="6949440" y="4480560"/>
            <a:ext cx="2148840" cy="676656"/>
          </a:xfrm>
          <a:prstGeom prst="roundRect">
            <a:avLst>
              <a:gd name="adj" fmla="val 10811"/>
            </a:avLst>
          </a:prstGeom>
          <a:solidFill>
            <a:schemeClr val="bg1"/>
          </a:solidFill>
          <a:ln w="12700">
            <a:solidFill>
              <a:schemeClr val="accent6"/>
            </a:solidFill>
            <a:prstDash val="solid"/>
          </a:ln>
        </p:spPr>
      </p:sp>
      <p:sp>
        <p:nvSpPr>
          <p:cNvPr id="39" name="Pinata IPFS circle"/>
          <p:cNvSpPr/>
          <p:nvPr/>
        </p:nvSpPr>
        <p:spPr>
          <a:xfrm>
            <a:off x="7059168" y="4608576"/>
            <a:ext cx="420624" cy="420624"/>
          </a:xfrm>
          <a:prstGeom prst="ellipse">
            <a:avLst/>
          </a:prstGeom>
          <a:solidFill>
            <a:schemeClr val="accent1"/>
          </a:solidFill>
          <a:ln/>
        </p:spPr>
      </p:sp>
      <p:pic>
        <p:nvPicPr>
          <p:cNvPr id="40" name="Pinata IPFS glyph" descr="preencoded.png">    </p:cNvPr>
          <p:cNvPicPr>
            <a:picLocks noChangeAspect="1"/>
          </p:cNvPicPr>
          <p:nvPr/>
        </p:nvPicPr>
        <p:blipFill>
          <a:blip r:embed="rId4"/>
          <a:stretch>
            <a:fillRect/>
          </a:stretch>
        </p:blipFill>
        <p:spPr>
          <a:xfrm>
            <a:off x="7160118" y="4709526"/>
            <a:ext cx="218724" cy="218724"/>
          </a:xfrm>
          <a:prstGeom prst="rect">
            <a:avLst/>
          </a:prstGeom>
        </p:spPr>
      </p:pic>
      <p:sp>
        <p:nvSpPr>
          <p:cNvPr id="41" name="Text 35"/>
          <p:cNvSpPr txBox="1"/>
          <p:nvPr/>
        </p:nvSpPr>
        <p:spPr>
          <a:xfrm>
            <a:off x="7589520" y="4553712"/>
            <a:ext cx="1417320" cy="274320"/>
          </a:xfrm>
          <a:prstGeom prst="rect">
            <a:avLst/>
          </a:prstGeom>
          <a:noFill/>
          <a:ln/>
        </p:spPr>
        <p:txBody>
          <a:bodyPr wrap="square" lIns="0" tIns="0" rIns="0" bIns="0" rtlCol="0" anchor="t"/>
          <a:lstStyle/>
          <a:p>
            <a:pPr indent="0" marL="0">
              <a:buNone/>
            </a:pPr>
            <a:r>
              <a:rPr lang="en-US" sz="1300" b="1" dirty="0">
                <a:solidFill>
                  <a:schemeClr val="tx2"/>
                </a:solidFill>
              </a:rPr>
              <a:t>Pinata IPFS</a:t>
            </a:r>
            <a:endParaRPr lang="en-US" sz="1300" dirty="0"/>
          </a:p>
        </p:txBody>
      </p:sp>
      <p:sp>
        <p:nvSpPr>
          <p:cNvPr id="42" name="Text 36"/>
          <p:cNvSpPr txBox="1"/>
          <p:nvPr/>
        </p:nvSpPr>
        <p:spPr>
          <a:xfrm>
            <a:off x="7589520" y="4828032"/>
            <a:ext cx="1417320" cy="274320"/>
          </a:xfrm>
          <a:prstGeom prst="rect">
            <a:avLst/>
          </a:prstGeom>
          <a:noFill/>
          <a:ln/>
        </p:spPr>
        <p:txBody>
          <a:bodyPr wrap="square" lIns="0" tIns="0" rIns="0" bIns="0" rtlCol="0" anchor="t"/>
          <a:lstStyle/>
          <a:p>
            <a:pPr indent="0" marL="0">
              <a:buNone/>
            </a:pPr>
            <a:r>
              <a:rPr lang="en-US" sz="1050" dirty="0">
                <a:solidFill>
                  <a:schemeClr val="accent6"/>
                </a:solidFill>
              </a:rPr>
              <a:t>ciphertext JSON, public</a:t>
            </a:r>
            <a:endParaRPr lang="en-US" sz="1050" dirty="0"/>
          </a:p>
        </p:txBody>
      </p:sp>
      <p:sp>
        <p:nvSpPr>
          <p:cNvPr id="43" name="Supabase"/>
          <p:cNvSpPr/>
          <p:nvPr/>
        </p:nvSpPr>
        <p:spPr>
          <a:xfrm>
            <a:off x="6949440" y="5303520"/>
            <a:ext cx="2148840" cy="676656"/>
          </a:xfrm>
          <a:prstGeom prst="roundRect">
            <a:avLst>
              <a:gd name="adj" fmla="val 10811"/>
            </a:avLst>
          </a:prstGeom>
          <a:solidFill>
            <a:schemeClr val="bg1"/>
          </a:solidFill>
          <a:ln w="12700">
            <a:solidFill>
              <a:schemeClr val="accent6"/>
            </a:solidFill>
            <a:prstDash val="solid"/>
          </a:ln>
        </p:spPr>
      </p:sp>
      <p:sp>
        <p:nvSpPr>
          <p:cNvPr id="44" name="Supabase circle"/>
          <p:cNvSpPr/>
          <p:nvPr/>
        </p:nvSpPr>
        <p:spPr>
          <a:xfrm>
            <a:off x="7059168" y="5431536"/>
            <a:ext cx="420624" cy="420624"/>
          </a:xfrm>
          <a:prstGeom prst="ellipse">
            <a:avLst/>
          </a:prstGeom>
          <a:solidFill>
            <a:schemeClr val="accent1"/>
          </a:solidFill>
          <a:ln/>
        </p:spPr>
      </p:sp>
      <p:pic>
        <p:nvPicPr>
          <p:cNvPr id="45" name="Supabase glyph" descr="preencoded.png">    </p:cNvPr>
          <p:cNvPicPr>
            <a:picLocks noChangeAspect="1"/>
          </p:cNvPicPr>
          <p:nvPr/>
        </p:nvPicPr>
        <p:blipFill>
          <a:blip r:embed="rId5"/>
          <a:stretch>
            <a:fillRect/>
          </a:stretch>
        </p:blipFill>
        <p:spPr>
          <a:xfrm>
            <a:off x="7160118" y="5532486"/>
            <a:ext cx="218724" cy="218724"/>
          </a:xfrm>
          <a:prstGeom prst="rect">
            <a:avLst/>
          </a:prstGeom>
        </p:spPr>
      </p:pic>
      <p:sp>
        <p:nvSpPr>
          <p:cNvPr id="46" name="Text 39"/>
          <p:cNvSpPr txBox="1"/>
          <p:nvPr/>
        </p:nvSpPr>
        <p:spPr>
          <a:xfrm>
            <a:off x="7589520" y="5376672"/>
            <a:ext cx="1417320" cy="274320"/>
          </a:xfrm>
          <a:prstGeom prst="rect">
            <a:avLst/>
          </a:prstGeom>
          <a:noFill/>
          <a:ln/>
        </p:spPr>
        <p:txBody>
          <a:bodyPr wrap="square" lIns="0" tIns="0" rIns="0" bIns="0" rtlCol="0" anchor="t"/>
          <a:lstStyle/>
          <a:p>
            <a:pPr indent="0" marL="0">
              <a:buNone/>
            </a:pPr>
            <a:r>
              <a:rPr lang="en-US" sz="1300" b="1" dirty="0">
                <a:solidFill>
                  <a:schemeClr val="tx2"/>
                </a:solidFill>
              </a:rPr>
              <a:t>Supabase</a:t>
            </a:r>
            <a:endParaRPr lang="en-US" sz="1300" dirty="0"/>
          </a:p>
        </p:txBody>
      </p:sp>
      <p:sp>
        <p:nvSpPr>
          <p:cNvPr id="47" name="Text 40"/>
          <p:cNvSpPr txBox="1"/>
          <p:nvPr/>
        </p:nvSpPr>
        <p:spPr>
          <a:xfrm>
            <a:off x="7589520" y="5650992"/>
            <a:ext cx="1417320" cy="274320"/>
          </a:xfrm>
          <a:prstGeom prst="rect">
            <a:avLst/>
          </a:prstGeom>
          <a:noFill/>
          <a:ln/>
        </p:spPr>
        <p:txBody>
          <a:bodyPr wrap="square" lIns="0" tIns="0" rIns="0" bIns="0" rtlCol="0" anchor="t"/>
          <a:lstStyle/>
          <a:p>
            <a:pPr indent="0" marL="0">
              <a:buNone/>
            </a:pPr>
            <a:r>
              <a:rPr lang="en-US" sz="1050" dirty="0">
                <a:solidFill>
                  <a:schemeClr val="accent6"/>
                </a:solidFill>
              </a:rPr>
              <a:t>Auth + Postgres index</a:t>
            </a:r>
            <a:endParaRPr lang="en-US" sz="1050" dirty="0"/>
          </a:p>
        </p:txBody>
      </p:sp>
      <p:sp>
        <p:nvSpPr>
          <p:cNvPr id="48" name="connector"/>
          <p:cNvSpPr/>
          <p:nvPr/>
        </p:nvSpPr>
        <p:spPr>
          <a:xfrm>
            <a:off x="6172200" y="3995928"/>
            <a:ext cx="777240" cy="0"/>
          </a:xfrm>
          <a:prstGeom prst="line">
            <a:avLst/>
          </a:prstGeom>
          <a:noFill/>
          <a:ln w="19050">
            <a:solidFill>
              <a:schemeClr val="accent6"/>
            </a:solidFill>
            <a:prstDash val="solid"/>
            <a:headEnd type="triangle"/>
            <a:tailEnd type="triangle"/>
          </a:ln>
        </p:spPr>
      </p:sp>
      <p:sp>
        <p:nvSpPr>
          <p:cNvPr id="49" name="connector"/>
          <p:cNvSpPr/>
          <p:nvPr/>
        </p:nvSpPr>
        <p:spPr>
          <a:xfrm>
            <a:off x="6172200" y="4818888"/>
            <a:ext cx="777240" cy="0"/>
          </a:xfrm>
          <a:prstGeom prst="line">
            <a:avLst/>
          </a:prstGeom>
          <a:noFill/>
          <a:ln w="19050">
            <a:solidFill>
              <a:schemeClr val="accent6"/>
            </a:solidFill>
            <a:prstDash val="solid"/>
            <a:headEnd type="triangle"/>
            <a:tailEnd type="triangle"/>
          </a:ln>
        </p:spPr>
      </p:sp>
      <p:sp>
        <p:nvSpPr>
          <p:cNvPr id="50" name="connector"/>
          <p:cNvSpPr/>
          <p:nvPr/>
        </p:nvSpPr>
        <p:spPr>
          <a:xfrm>
            <a:off x="6172200" y="5641848"/>
            <a:ext cx="777240" cy="0"/>
          </a:xfrm>
          <a:prstGeom prst="line">
            <a:avLst/>
          </a:prstGeom>
          <a:noFill/>
          <a:ln w="19050">
            <a:solidFill>
              <a:schemeClr val="accent6"/>
            </a:solidFill>
            <a:prstDash val="solid"/>
            <a:headEnd type="triangle"/>
            <a:tailEnd type="triangle"/>
          </a:ln>
        </p:spPr>
      </p:sp>
      <p:sp>
        <p:nvSpPr>
          <p:cNvPr id="51" name="contract box"/>
          <p:cNvSpPr/>
          <p:nvPr/>
        </p:nvSpPr>
        <p:spPr>
          <a:xfrm>
            <a:off x="9555480" y="3200400"/>
            <a:ext cx="2103120" cy="1600200"/>
          </a:xfrm>
          <a:prstGeom prst="roundRect">
            <a:avLst>
              <a:gd name="adj" fmla="val 4571"/>
            </a:avLst>
          </a:prstGeom>
          <a:solidFill>
            <a:schemeClr val="tx2"/>
          </a:solidFill>
          <a:ln/>
        </p:spPr>
      </p:sp>
      <p:sp>
        <p:nvSpPr>
          <p:cNvPr id="52" name="contract circle"/>
          <p:cNvSpPr/>
          <p:nvPr/>
        </p:nvSpPr>
        <p:spPr>
          <a:xfrm>
            <a:off x="9692640" y="3337560"/>
            <a:ext cx="457200" cy="457200"/>
          </a:xfrm>
          <a:prstGeom prst="ellipse">
            <a:avLst/>
          </a:prstGeom>
          <a:solidFill>
            <a:schemeClr val="accent2"/>
          </a:solidFill>
          <a:ln/>
        </p:spPr>
      </p:sp>
      <p:pic>
        <p:nvPicPr>
          <p:cNvPr id="53" name="contract glyph" descr="preencoded.png">    </p:cNvPr>
          <p:cNvPicPr>
            <a:picLocks noChangeAspect="1"/>
          </p:cNvPicPr>
          <p:nvPr/>
        </p:nvPicPr>
        <p:blipFill>
          <a:blip r:embed="rId6"/>
          <a:stretch>
            <a:fillRect/>
          </a:stretch>
        </p:blipFill>
        <p:spPr>
          <a:xfrm>
            <a:off x="9802368" y="3447288"/>
            <a:ext cx="237744" cy="237744"/>
          </a:xfrm>
          <a:prstGeom prst="rect">
            <a:avLst/>
          </a:prstGeom>
        </p:spPr>
      </p:pic>
      <p:sp>
        <p:nvSpPr>
          <p:cNvPr id="54" name="Text 46"/>
          <p:cNvSpPr txBox="1"/>
          <p:nvPr/>
        </p:nvSpPr>
        <p:spPr>
          <a:xfrm>
            <a:off x="10241280" y="3364992"/>
            <a:ext cx="1371600" cy="411480"/>
          </a:xfrm>
          <a:prstGeom prst="rect">
            <a:avLst/>
          </a:prstGeom>
          <a:noFill/>
          <a:ln/>
        </p:spPr>
        <p:txBody>
          <a:bodyPr wrap="square" lIns="0" tIns="0" rIns="0" bIns="0" rtlCol="0" anchor="ctr"/>
          <a:lstStyle/>
          <a:p>
            <a:pPr indent="0" marL="0">
              <a:buNone/>
            </a:pPr>
            <a:r>
              <a:rPr lang="en-US" sz="1300" b="1" dirty="0">
                <a:solidFill>
                  <a:schemeClr val="bg1"/>
                </a:solidFill>
              </a:rPr>
              <a:t>DeadMansSwitch</a:t>
            </a:r>
            <a:endParaRPr lang="en-US" sz="1300" dirty="0"/>
          </a:p>
        </p:txBody>
      </p:sp>
      <p:sp>
        <p:nvSpPr>
          <p:cNvPr id="55" name="Text 47"/>
          <p:cNvSpPr txBox="1"/>
          <p:nvPr/>
        </p:nvSpPr>
        <p:spPr>
          <a:xfrm>
            <a:off x="9692640" y="3886200"/>
            <a:ext cx="1874520" cy="868680"/>
          </a:xfrm>
          <a:prstGeom prst="rect">
            <a:avLst/>
          </a:prstGeom>
          <a:noFill/>
          <a:ln/>
        </p:spPr>
        <p:txBody>
          <a:bodyPr wrap="square" lIns="0" tIns="0" rIns="0" bIns="0" rtlCol="0" anchor="t"/>
          <a:lstStyle/>
          <a:p>
            <a:pPr indent="0" marL="0">
              <a:buNone/>
            </a:pPr>
            <a:r>
              <a:rPr lang="en-US" sz="1100" dirty="0">
                <a:solidFill>
                  <a:schemeClr val="bg2"/>
                </a:solidFill>
              </a:rPr>
              <a:t>Solidity ^0.8.24 on Sepolia. Holds ETH, CID, timer; releases funds.</a:t>
            </a:r>
            <a:endParaRPr lang="en-US" sz="1100" dirty="0"/>
          </a:p>
        </p:txBody>
      </p:sp>
      <p:sp>
        <p:nvSpPr>
          <p:cNvPr id="56" name="connector"/>
          <p:cNvSpPr/>
          <p:nvPr/>
        </p:nvSpPr>
        <p:spPr>
          <a:xfrm>
            <a:off x="9098280" y="3995928"/>
            <a:ext cx="457200" cy="0"/>
          </a:xfrm>
          <a:prstGeom prst="line">
            <a:avLst/>
          </a:prstGeom>
          <a:noFill/>
          <a:ln w="19050">
            <a:solidFill>
              <a:schemeClr val="accent6"/>
            </a:solidFill>
            <a:prstDash val="solid"/>
            <a:headEnd type="triangle"/>
            <a:tailEnd type="triangle"/>
          </a:ln>
        </p:spPr>
      </p:sp>
      <p:sp>
        <p:nvSpPr>
          <p:cNvPr id="57" name="Chainlink"/>
          <p:cNvSpPr/>
          <p:nvPr/>
        </p:nvSpPr>
        <p:spPr>
          <a:xfrm>
            <a:off x="9555480" y="1463040"/>
            <a:ext cx="2103120" cy="676656"/>
          </a:xfrm>
          <a:prstGeom prst="roundRect">
            <a:avLst>
              <a:gd name="adj" fmla="val 10811"/>
            </a:avLst>
          </a:prstGeom>
          <a:solidFill>
            <a:schemeClr val="bg2"/>
          </a:solidFill>
          <a:ln w="12700">
            <a:solidFill>
              <a:schemeClr val="accent6"/>
            </a:solidFill>
            <a:prstDash val="solid"/>
          </a:ln>
        </p:spPr>
      </p:sp>
      <p:sp>
        <p:nvSpPr>
          <p:cNvPr id="58" name="Chainlink circle"/>
          <p:cNvSpPr/>
          <p:nvPr/>
        </p:nvSpPr>
        <p:spPr>
          <a:xfrm>
            <a:off x="9665208" y="1591056"/>
            <a:ext cx="420624" cy="420624"/>
          </a:xfrm>
          <a:prstGeom prst="ellipse">
            <a:avLst/>
          </a:prstGeom>
          <a:solidFill>
            <a:schemeClr val="accent1"/>
          </a:solidFill>
          <a:ln/>
        </p:spPr>
      </p:sp>
      <p:pic>
        <p:nvPicPr>
          <p:cNvPr id="59" name="Chainlink glyph" descr="preencoded.png">    </p:cNvPr>
          <p:cNvPicPr>
            <a:picLocks noChangeAspect="1"/>
          </p:cNvPicPr>
          <p:nvPr/>
        </p:nvPicPr>
        <p:blipFill>
          <a:blip r:embed="rId7"/>
          <a:stretch>
            <a:fillRect/>
          </a:stretch>
        </p:blipFill>
        <p:spPr>
          <a:xfrm>
            <a:off x="9766158" y="1692006"/>
            <a:ext cx="218724" cy="218724"/>
          </a:xfrm>
          <a:prstGeom prst="rect">
            <a:avLst/>
          </a:prstGeom>
        </p:spPr>
      </p:pic>
      <p:sp>
        <p:nvSpPr>
          <p:cNvPr id="60" name="Text 51"/>
          <p:cNvSpPr txBox="1"/>
          <p:nvPr/>
        </p:nvSpPr>
        <p:spPr>
          <a:xfrm>
            <a:off x="10195560" y="1536192"/>
            <a:ext cx="1371600" cy="274320"/>
          </a:xfrm>
          <a:prstGeom prst="rect">
            <a:avLst/>
          </a:prstGeom>
          <a:noFill/>
          <a:ln/>
        </p:spPr>
        <p:txBody>
          <a:bodyPr wrap="square" lIns="0" tIns="0" rIns="0" bIns="0" rtlCol="0" anchor="t"/>
          <a:lstStyle/>
          <a:p>
            <a:pPr indent="0" marL="0">
              <a:buNone/>
            </a:pPr>
            <a:r>
              <a:rPr lang="en-US" sz="1300" b="1" dirty="0">
                <a:solidFill>
                  <a:schemeClr val="tx2"/>
                </a:solidFill>
              </a:rPr>
              <a:t>Chainlink</a:t>
            </a:r>
            <a:endParaRPr lang="en-US" sz="1300" dirty="0"/>
          </a:p>
        </p:txBody>
      </p:sp>
      <p:sp>
        <p:nvSpPr>
          <p:cNvPr id="61" name="Text 52"/>
          <p:cNvSpPr txBox="1"/>
          <p:nvPr/>
        </p:nvSpPr>
        <p:spPr>
          <a:xfrm>
            <a:off x="10195560" y="1810512"/>
            <a:ext cx="1371600" cy="274320"/>
          </a:xfrm>
          <a:prstGeom prst="rect">
            <a:avLst/>
          </a:prstGeom>
          <a:noFill/>
          <a:ln/>
        </p:spPr>
        <p:txBody>
          <a:bodyPr wrap="square" lIns="0" tIns="0" rIns="0" bIns="0" rtlCol="0" anchor="t"/>
          <a:lstStyle/>
          <a:p>
            <a:pPr indent="0" marL="0">
              <a:buNone/>
            </a:pPr>
            <a:r>
              <a:rPr lang="en-US" sz="1050" dirty="0">
                <a:solidFill>
                  <a:schemeClr val="accent6"/>
                </a:solidFill>
              </a:rPr>
              <a:t>Automation network</a:t>
            </a:r>
            <a:endParaRPr lang="en-US" sz="1050" dirty="0"/>
          </a:p>
        </p:txBody>
      </p:sp>
      <p:sp>
        <p:nvSpPr>
          <p:cNvPr id="62" name="connector"/>
          <p:cNvSpPr/>
          <p:nvPr/>
        </p:nvSpPr>
        <p:spPr>
          <a:xfrm>
            <a:off x="10607040" y="2139696"/>
            <a:ext cx="0" cy="1060704"/>
          </a:xfrm>
          <a:prstGeom prst="line">
            <a:avLst/>
          </a:prstGeom>
          <a:noFill/>
          <a:ln w="25400">
            <a:solidFill>
              <a:schemeClr val="accent3"/>
            </a:solidFill>
            <a:prstDash val="solid"/>
            <a:tailEnd type="triangle"/>
          </a:ln>
        </p:spPr>
      </p:sp>
      <p:sp>
        <p:nvSpPr>
          <p:cNvPr id="63" name="Text 54"/>
          <p:cNvSpPr txBox="1"/>
          <p:nvPr/>
        </p:nvSpPr>
        <p:spPr>
          <a:xfrm>
            <a:off x="9555480" y="2331720"/>
            <a:ext cx="2103120" cy="45720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checkUpkeep() / performUpkeep()</a:t>
            </a:r>
            <a:endParaRPr lang="en-US" sz="1000" dirty="0"/>
          </a:p>
        </p:txBody>
      </p:sp>
      <p:sp>
        <p:nvSpPr>
          <p:cNvPr id="64" name="Text 55"/>
          <p:cNvSpPr txBox="1"/>
          <p:nvPr/>
        </p:nvSpPr>
        <p:spPr>
          <a:xfrm>
            <a:off x="9555480" y="4983480"/>
            <a:ext cx="2103120" cy="1188720"/>
          </a:xfrm>
          <a:prstGeom prst="rect">
            <a:avLst/>
          </a:prstGeom>
          <a:noFill/>
          <a:ln/>
        </p:spPr>
        <p:txBody>
          <a:bodyPr wrap="square" lIns="0" tIns="0" rIns="0" bIns="0" rtlCol="0" anchor="t"/>
          <a:lstStyle/>
          <a:p>
            <a:pPr indent="0" marL="0">
              <a:buNone/>
            </a:pPr>
            <a:r>
              <a:rPr lang="en-US" sz="1050" i="1" dirty="0">
                <a:solidFill>
                  <a:schemeClr val="accent6"/>
                </a:solidFill>
              </a:rPr>
              <a:t>Arrows show data flow. The browser is the only place plaintext exists; every value transfer is a MetaMask-signed transaction.</a:t>
            </a:r>
            <a:endParaRPr lang="en-US" sz="105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Layered tech stack</a:t>
            </a:r>
            <a:endParaRPr lang="en-US" sz="3200" dirty="0"/>
          </a:p>
        </p:txBody>
      </p:sp>
      <p:graphicFrame>
        <p:nvGraphicFramePr>
          <p:cNvPr id="7" name="tech stack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554480"/>
                <a:gridCol w="4023360"/>
                <a:gridCol w="3108960"/>
                <a:gridCol w="2377440"/>
              </a:tblGrid>
              <a:tr h="457200">
                <a:tc>
                  <a:txBody>
                    <a:bodyPr/>
                    <a:lstStyle/>
                    <a:p>
                      <a:pPr indent="0" marL="0">
                        <a:buNone/>
                      </a:pPr>
                      <a:r>
                        <a:rPr lang="en-US" sz="1200" b="1" dirty="0">
                          <a:solidFill>
                            <a:schemeClr val="bg1"/>
                          </a:solidFill>
                        </a:rPr>
                        <a:t>Layer</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Technology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Where in the code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Responsibility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accent1"/>
                          </a:solidFill>
                        </a:rPr>
                        <a:t>Presentation</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React 19, TanStack Router, Tailwind v4, shadcn/ui (Radix), framer-motion</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src/routes, src/components/vault</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Landing, auth, owner &amp; beneficiary views</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accent1"/>
                          </a:solidFill>
                        </a:rPr>
                        <a:t>Data fetching</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TanStack Query with 10–15 s polling</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Dashboard.tsx, BeneficiaryPanel.tsx</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Keeps on-chain state live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accent1"/>
                          </a:solidFill>
                        </a:rPr>
                        <a:t>Identity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Supabase Auth: email/password, Google OAuth</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lib/auth.ts, routes/auth.tsx</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Sessions, profiles, roles</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accent1"/>
                          </a:solidFill>
                        </a:rPr>
                        <a:t>Cryptography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Web Crypto: PBKDF2-SHA256 → AES-256-GCM</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lib/crypto-utils.ts</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Encrypt / decrypt in browser</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accent1"/>
                          </a:solidFill>
                        </a:rPr>
                        <a:t>Storage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Pinata IPFS (pinJSONToIPFS + gateway)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lib/pinata.functions.ts</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Persist ciphertext</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accent1"/>
                          </a:solidFill>
                        </a:rPr>
                        <a:t>Wallet &amp; RPC</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MetaMask (EIP-1193) + ethers v6</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lib/wallet.ts, lib/vault-chain.ts</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Sign and send transactions</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accent1"/>
                          </a:solidFill>
                        </a:rPr>
                        <a:t>Contract</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Solidity ^0.8.24, Sepolia testnet</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contracts/DeadMansSwitch.sol</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Custody, timer, release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accent1"/>
                          </a:solidFill>
                        </a:rPr>
                        <a:t>Automation</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Chainlink Automation interface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checkUpkeep / performUpkeep</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Trustless trigger</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accent1"/>
                          </a:solidFill>
                        </a:rPr>
                        <a:t>Hosting</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Vite build on Vercel, SPA rewrite</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vercel.json</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Static delivery</a:t>
                      </a:r>
                      <a:endParaRPr lang="en-US" sz="1200" dirty="0"/>
                    </a:p>
                  </a:txBody>
                  <a:tcPr marL="76200" marR="76200" marT="38100" marB="3810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Trust boundaries: who sees what</a:t>
            </a:r>
            <a:endParaRPr lang="en-US" sz="3200" dirty="0"/>
          </a:p>
        </p:txBody>
      </p:sp>
      <p:graphicFrame>
        <p:nvGraphicFramePr>
          <p:cNvPr id="8" name="trust table"/>
          <p:cNvGraphicFramePr>
            <a:graphicFrameLocks noGrp="1"/>
          </p:cNvGraphicFramePr>
          <p:nvPr>
            <p:extLst>
              <p:ext uri="{D42A27DB-BD31-4B8C-83A1-F6EECF244321}">
                <p14:modId xmlns:p14="http://schemas.microsoft.com/office/powerpoint/2010/main" val="1579011935"/>
              </p:ext>
            </p:extLst>
          </p:nvPr>
        </p:nvGraphicFramePr>
        <p:xfrm>
          <a:off x="548640" y="1371600"/>
          <a:ext cx="7680960" cy="914400"/>
        </p:xfrm>
        <a:graphic>
          <a:graphicData uri="http://schemas.openxmlformats.org/drawingml/2006/table">
            <a:tbl>
              <a:tblPr/>
              <a:tblGrid>
                <a:gridCol w="2651760"/>
                <a:gridCol w="1005840"/>
                <a:gridCol w="1051560"/>
                <a:gridCol w="1005840"/>
                <a:gridCol w="777240"/>
                <a:gridCol w="1188720"/>
              </a:tblGrid>
              <a:tr h="566928">
                <a:tc>
                  <a:txBody>
                    <a:bodyPr/>
                    <a:lstStyle/>
                    <a:p>
                      <a:pPr indent="0" marL="0">
                        <a:buNone/>
                      </a:pPr>
                      <a:r>
                        <a:rPr lang="en-US" sz="1300" b="1" dirty="0">
                          <a:solidFill>
                            <a:schemeClr val="bg1"/>
                          </a:solidFill>
                        </a:rPr>
                        <a:t>Component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Plaintext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Passphrase</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Ciphertext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CID</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Controls ETH</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2"/>
                          </a:solidFill>
                        </a:rPr>
                        <a:t>Owner's / beneficiary's browser tab</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Signs only</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Pinata / IPFS (public)</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Sepolia contract (public)</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Yes, by rules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Supabase database</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Yes</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Chainlink Automation</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Trigger only</a:t>
                      </a:r>
                      <a:endParaRPr lang="en-US" sz="13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bl>
          </a:graphicData>
        </a:graphic>
      </p:graphicFrame>
      <p:sp>
        <p:nvSpPr>
          <p:cNvPr id="4" name="trust callout"/>
          <p:cNvSpPr/>
          <p:nvPr/>
        </p:nvSpPr>
        <p:spPr>
          <a:xfrm>
            <a:off x="8595360" y="1371600"/>
            <a:ext cx="3017520" cy="4663440"/>
          </a:xfrm>
          <a:prstGeom prst="roundRect">
            <a:avLst>
              <a:gd name="adj" fmla="val 2424"/>
            </a:avLst>
          </a:prstGeom>
          <a:solidFill>
            <a:schemeClr val="tx2"/>
          </a:solidFill>
          <a:ln/>
        </p:spPr>
      </p:sp>
      <p:sp>
        <p:nvSpPr>
          <p:cNvPr id="5" name="shield circle"/>
          <p:cNvSpPr/>
          <p:nvPr/>
        </p:nvSpPr>
        <p:spPr>
          <a:xfrm>
            <a:off x="8869680" y="1645920"/>
            <a:ext cx="640080" cy="640080"/>
          </a:xfrm>
          <a:prstGeom prst="ellipse">
            <a:avLst/>
          </a:prstGeom>
          <a:solidFill>
            <a:schemeClr val="accent2"/>
          </a:solidFill>
          <a:ln/>
        </p:spPr>
      </p:sp>
      <p:pic>
        <p:nvPicPr>
          <p:cNvPr id="6" name="shield glyph" descr="preencoded.png">    </p:cNvPr>
          <p:cNvPicPr>
            <a:picLocks noChangeAspect="1"/>
          </p:cNvPicPr>
          <p:nvPr/>
        </p:nvPicPr>
        <p:blipFill>
          <a:blip r:embed="rId1"/>
          <a:stretch>
            <a:fillRect/>
          </a:stretch>
        </p:blipFill>
        <p:spPr>
          <a:xfrm>
            <a:off x="9023299" y="1799539"/>
            <a:ext cx="332842" cy="332842"/>
          </a:xfrm>
          <a:prstGeom prst="rect">
            <a:avLst/>
          </a:prstGeom>
        </p:spPr>
      </p:pic>
      <p:sp>
        <p:nvSpPr>
          <p:cNvPr id="7" name="Text 3"/>
          <p:cNvSpPr txBox="1"/>
          <p:nvPr/>
        </p:nvSpPr>
        <p:spPr>
          <a:xfrm>
            <a:off x="8869680" y="2468880"/>
            <a:ext cx="2560320" cy="640080"/>
          </a:xfrm>
          <a:prstGeom prst="rect">
            <a:avLst/>
          </a:prstGeom>
          <a:noFill/>
          <a:ln/>
        </p:spPr>
        <p:txBody>
          <a:bodyPr wrap="square" lIns="0" tIns="0" rIns="0" bIns="0" rtlCol="0" anchor="t"/>
          <a:lstStyle/>
          <a:p>
            <a:pPr indent="0" marL="0">
              <a:buNone/>
            </a:pPr>
            <a:r>
              <a:rPr lang="en-US" sz="1800" b="1" dirty="0">
                <a:solidFill>
                  <a:schemeClr val="bg1"/>
                </a:solidFill>
              </a:rPr>
              <a:t>Zero-knowledge by design</a:t>
            </a:r>
            <a:endParaRPr lang="en-US" sz="1800" dirty="0"/>
          </a:p>
        </p:txBody>
      </p:sp>
      <p:sp>
        <p:nvSpPr>
          <p:cNvPr id="8" name="Text 4"/>
          <p:cNvSpPr txBox="1"/>
          <p:nvPr/>
        </p:nvSpPr>
        <p:spPr>
          <a:xfrm>
            <a:off x="8869680" y="3154680"/>
            <a:ext cx="256032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Only a browser tab ever holds the plaintext or passphrase.</a:t>
            </a:r>
            <a:endParaRPr lang="en-US" sz="1400" dirty="0"/>
          </a:p>
          <a:p>
            <a:pPr marL="177800" indent="-177800">
              <a:spcAft>
                <a:spcPts val="600"/>
              </a:spcAft>
              <a:buSzPct val="100000"/>
              <a:buChar char="•"/>
            </a:pPr>
            <a:r>
              <a:rPr lang="en-US" sz="1400" dirty="0">
                <a:solidFill>
                  <a:schemeClr val="bg2"/>
                </a:solidFill>
              </a:rPr>
              <a:t>Everything public (IPFS, chain) is ciphertext or a pointer to it.</a:t>
            </a:r>
            <a:endParaRPr lang="en-US" sz="1400" dirty="0"/>
          </a:p>
          <a:p>
            <a:pPr marL="177800" indent="-177800">
              <a:spcAft>
                <a:spcPts val="600"/>
              </a:spcAft>
              <a:buSzPct val="100000"/>
              <a:buChar char="•"/>
            </a:pPr>
            <a:r>
              <a:rPr lang="en-US" sz="1400" dirty="0">
                <a:solidFill>
                  <a:schemeClr val="bg2"/>
                </a:solidFill>
              </a:rPr>
              <a:t>Chainlink can only trigger a release the contract already allows.</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Frontend module map</a:t>
            </a:r>
            <a:endParaRPr lang="en-US" sz="3200" dirty="0"/>
          </a:p>
        </p:txBody>
      </p:sp>
      <p:sp>
        <p:nvSpPr>
          <p:cNvPr id="3" name="Text 1"/>
          <p:cNvSpPr txBox="1"/>
          <p:nvPr/>
        </p:nvSpPr>
        <p:spPr>
          <a:xfrm>
            <a:off x="548640" y="1325880"/>
            <a:ext cx="2514600" cy="365760"/>
          </a:xfrm>
          <a:prstGeom prst="rect">
            <a:avLst/>
          </a:prstGeom>
          <a:noFill/>
          <a:ln/>
        </p:spPr>
        <p:txBody>
          <a:bodyPr wrap="square" lIns="0" tIns="0" rIns="0" bIns="0" rtlCol="0" anchor="t"/>
          <a:lstStyle/>
          <a:p>
            <a:pPr indent="0" marL="0">
              <a:buNone/>
            </a:pPr>
            <a:r>
              <a:rPr lang="en-US" sz="1600" b="1" dirty="0">
                <a:solidFill>
                  <a:schemeClr val="accent1"/>
                </a:solidFill>
              </a:rPr>
              <a:t>Routes</a:t>
            </a:r>
            <a:endParaRPr lang="en-US" sz="1600" dirty="0"/>
          </a:p>
        </p:txBody>
      </p:sp>
      <p:sp>
        <p:nvSpPr>
          <p:cNvPr id="4" name="chip /  (index)"/>
          <p:cNvSpPr/>
          <p:nvPr/>
        </p:nvSpPr>
        <p:spPr>
          <a:xfrm>
            <a:off x="548640" y="1783080"/>
            <a:ext cx="2514600" cy="548640"/>
          </a:xfrm>
          <a:prstGeom prst="roundRect">
            <a:avLst>
              <a:gd name="adj" fmla="val 13333"/>
            </a:avLst>
          </a:prstGeom>
          <a:solidFill>
            <a:schemeClr val="bg2"/>
          </a:solidFill>
          <a:ln/>
        </p:spPr>
      </p:sp>
      <p:sp>
        <p:nvSpPr>
          <p:cNvPr id="5" name="Text 3"/>
          <p:cNvSpPr txBox="1"/>
          <p:nvPr/>
        </p:nvSpPr>
        <p:spPr>
          <a:xfrm>
            <a:off x="685800" y="1783080"/>
            <a:ext cx="2240280" cy="548640"/>
          </a:xfrm>
          <a:prstGeom prst="rect">
            <a:avLst/>
          </a:prstGeom>
          <a:noFill/>
          <a:ln/>
        </p:spPr>
        <p:txBody>
          <a:bodyPr wrap="square" lIns="0" tIns="0" rIns="0" bIns="0" rtlCol="0" anchor="ctr"/>
          <a:lstStyle/>
          <a:p>
            <a:pPr indent="0" marL="0">
              <a:buNone/>
            </a:pPr>
            <a:r>
              <a:rPr lang="en-US" sz="1200" dirty="0">
                <a:solidFill>
                  <a:schemeClr val="tx1"/>
                </a:solidFill>
              </a:rPr>
              <a:t>/  (index)</a:t>
            </a:r>
            <a:endParaRPr lang="en-US" sz="1200" dirty="0"/>
          </a:p>
        </p:txBody>
      </p:sp>
      <p:sp>
        <p:nvSpPr>
          <p:cNvPr id="6" name="chip /auth"/>
          <p:cNvSpPr/>
          <p:nvPr/>
        </p:nvSpPr>
        <p:spPr>
          <a:xfrm>
            <a:off x="548640" y="2441448"/>
            <a:ext cx="2514600" cy="548640"/>
          </a:xfrm>
          <a:prstGeom prst="roundRect">
            <a:avLst>
              <a:gd name="adj" fmla="val 13333"/>
            </a:avLst>
          </a:prstGeom>
          <a:solidFill>
            <a:schemeClr val="bg2"/>
          </a:solidFill>
          <a:ln/>
        </p:spPr>
      </p:sp>
      <p:sp>
        <p:nvSpPr>
          <p:cNvPr id="7" name="Text 5"/>
          <p:cNvSpPr txBox="1"/>
          <p:nvPr/>
        </p:nvSpPr>
        <p:spPr>
          <a:xfrm>
            <a:off x="685800" y="2441448"/>
            <a:ext cx="2240280" cy="548640"/>
          </a:xfrm>
          <a:prstGeom prst="rect">
            <a:avLst/>
          </a:prstGeom>
          <a:noFill/>
          <a:ln/>
        </p:spPr>
        <p:txBody>
          <a:bodyPr wrap="square" lIns="0" tIns="0" rIns="0" bIns="0" rtlCol="0" anchor="ctr"/>
          <a:lstStyle/>
          <a:p>
            <a:pPr indent="0" marL="0">
              <a:buNone/>
            </a:pPr>
            <a:r>
              <a:rPr lang="en-US" sz="1200" dirty="0">
                <a:solidFill>
                  <a:schemeClr val="tx1"/>
                </a:solidFill>
              </a:rPr>
              <a:t>/auth</a:t>
            </a:r>
            <a:endParaRPr lang="en-US" sz="1200" dirty="0"/>
          </a:p>
        </p:txBody>
      </p:sp>
      <p:sp>
        <p:nvSpPr>
          <p:cNvPr id="8" name="chip /_authenticated  (guard)"/>
          <p:cNvSpPr/>
          <p:nvPr/>
        </p:nvSpPr>
        <p:spPr>
          <a:xfrm>
            <a:off x="548640" y="3099816"/>
            <a:ext cx="2514600" cy="548640"/>
          </a:xfrm>
          <a:prstGeom prst="roundRect">
            <a:avLst>
              <a:gd name="adj" fmla="val 13333"/>
            </a:avLst>
          </a:prstGeom>
          <a:solidFill>
            <a:schemeClr val="bg2"/>
          </a:solidFill>
          <a:ln/>
        </p:spPr>
      </p:sp>
      <p:sp>
        <p:nvSpPr>
          <p:cNvPr id="9" name="Text 7"/>
          <p:cNvSpPr txBox="1"/>
          <p:nvPr/>
        </p:nvSpPr>
        <p:spPr>
          <a:xfrm>
            <a:off x="685800" y="3099816"/>
            <a:ext cx="2240280" cy="548640"/>
          </a:xfrm>
          <a:prstGeom prst="rect">
            <a:avLst/>
          </a:prstGeom>
          <a:noFill/>
          <a:ln/>
        </p:spPr>
        <p:txBody>
          <a:bodyPr wrap="square" lIns="0" tIns="0" rIns="0" bIns="0" rtlCol="0" anchor="ctr"/>
          <a:lstStyle/>
          <a:p>
            <a:pPr indent="0" marL="0">
              <a:buNone/>
            </a:pPr>
            <a:r>
              <a:rPr lang="en-US" sz="1200" dirty="0">
                <a:solidFill>
                  <a:schemeClr val="tx1"/>
                </a:solidFill>
              </a:rPr>
              <a:t>/_authenticated  (guard)</a:t>
            </a:r>
            <a:endParaRPr lang="en-US" sz="1200" dirty="0"/>
          </a:p>
        </p:txBody>
      </p:sp>
      <p:sp>
        <p:nvSpPr>
          <p:cNvPr id="10" name="chip /_authenticated/app"/>
          <p:cNvSpPr/>
          <p:nvPr/>
        </p:nvSpPr>
        <p:spPr>
          <a:xfrm>
            <a:off x="548640" y="3758184"/>
            <a:ext cx="2514600" cy="548640"/>
          </a:xfrm>
          <a:prstGeom prst="roundRect">
            <a:avLst>
              <a:gd name="adj" fmla="val 13333"/>
            </a:avLst>
          </a:prstGeom>
          <a:solidFill>
            <a:schemeClr val="bg2"/>
          </a:solidFill>
          <a:ln/>
        </p:spPr>
      </p:sp>
      <p:sp>
        <p:nvSpPr>
          <p:cNvPr id="11" name="Text 9"/>
          <p:cNvSpPr txBox="1"/>
          <p:nvPr/>
        </p:nvSpPr>
        <p:spPr>
          <a:xfrm>
            <a:off x="685800" y="3758184"/>
            <a:ext cx="2240280" cy="548640"/>
          </a:xfrm>
          <a:prstGeom prst="rect">
            <a:avLst/>
          </a:prstGeom>
          <a:noFill/>
          <a:ln/>
        </p:spPr>
        <p:txBody>
          <a:bodyPr wrap="square" lIns="0" tIns="0" rIns="0" bIns="0" rtlCol="0" anchor="ctr"/>
          <a:lstStyle/>
          <a:p>
            <a:pPr indent="0" marL="0">
              <a:buNone/>
            </a:pPr>
            <a:r>
              <a:rPr lang="en-US" sz="1200" dirty="0">
                <a:solidFill>
                  <a:schemeClr val="tx1"/>
                </a:solidFill>
              </a:rPr>
              <a:t>/_authenticated/app</a:t>
            </a:r>
            <a:endParaRPr lang="en-US" sz="1200" dirty="0"/>
          </a:p>
        </p:txBody>
      </p:sp>
      <p:sp>
        <p:nvSpPr>
          <p:cNvPr id="12" name="Text 10"/>
          <p:cNvSpPr txBox="1"/>
          <p:nvPr/>
        </p:nvSpPr>
        <p:spPr>
          <a:xfrm>
            <a:off x="3429000" y="1325880"/>
            <a:ext cx="2651760" cy="365760"/>
          </a:xfrm>
          <a:prstGeom prst="rect">
            <a:avLst/>
          </a:prstGeom>
          <a:noFill/>
          <a:ln/>
        </p:spPr>
        <p:txBody>
          <a:bodyPr wrap="square" lIns="0" tIns="0" rIns="0" bIns="0" rtlCol="0" anchor="t"/>
          <a:lstStyle/>
          <a:p>
            <a:pPr indent="0" marL="0">
              <a:buNone/>
            </a:pPr>
            <a:r>
              <a:rPr lang="en-US" sz="1600" b="1" dirty="0">
                <a:solidFill>
                  <a:schemeClr val="accent1"/>
                </a:solidFill>
              </a:rPr>
              <a:t>Components</a:t>
            </a:r>
            <a:endParaRPr lang="en-US" sz="1600" dirty="0"/>
          </a:p>
        </p:txBody>
      </p:sp>
      <p:sp>
        <p:nvSpPr>
          <p:cNvPr id="13" name="chip Hero · HowItWorks · StackStrip"/>
          <p:cNvSpPr/>
          <p:nvPr/>
        </p:nvSpPr>
        <p:spPr>
          <a:xfrm>
            <a:off x="3429000" y="1783080"/>
            <a:ext cx="2651760" cy="548640"/>
          </a:xfrm>
          <a:prstGeom prst="roundRect">
            <a:avLst>
              <a:gd name="adj" fmla="val 13333"/>
            </a:avLst>
          </a:prstGeom>
          <a:solidFill>
            <a:schemeClr val="bg2"/>
          </a:solidFill>
          <a:ln/>
        </p:spPr>
      </p:sp>
      <p:sp>
        <p:nvSpPr>
          <p:cNvPr id="14" name="Text 12"/>
          <p:cNvSpPr txBox="1"/>
          <p:nvPr/>
        </p:nvSpPr>
        <p:spPr>
          <a:xfrm>
            <a:off x="3566160" y="1783080"/>
            <a:ext cx="2377440" cy="548640"/>
          </a:xfrm>
          <a:prstGeom prst="rect">
            <a:avLst/>
          </a:prstGeom>
          <a:noFill/>
          <a:ln/>
        </p:spPr>
        <p:txBody>
          <a:bodyPr wrap="square" lIns="0" tIns="0" rIns="0" bIns="0" rtlCol="0" anchor="ctr"/>
          <a:lstStyle/>
          <a:p>
            <a:pPr indent="0" marL="0">
              <a:buNone/>
            </a:pPr>
            <a:r>
              <a:rPr lang="en-US" sz="1200" dirty="0">
                <a:solidFill>
                  <a:schemeClr val="tx1"/>
                </a:solidFill>
              </a:rPr>
              <a:t>Hero · HowItWorks · StackStrip</a:t>
            </a:r>
            <a:endParaRPr lang="en-US" sz="1200" dirty="0"/>
          </a:p>
        </p:txBody>
      </p:sp>
      <p:sp>
        <p:nvSpPr>
          <p:cNvPr id="15" name="chip WalletBar"/>
          <p:cNvSpPr/>
          <p:nvPr/>
        </p:nvSpPr>
        <p:spPr>
          <a:xfrm>
            <a:off x="3429000" y="2441448"/>
            <a:ext cx="2651760" cy="548640"/>
          </a:xfrm>
          <a:prstGeom prst="roundRect">
            <a:avLst>
              <a:gd name="adj" fmla="val 13333"/>
            </a:avLst>
          </a:prstGeom>
          <a:solidFill>
            <a:schemeClr val="bg2"/>
          </a:solidFill>
          <a:ln/>
        </p:spPr>
      </p:sp>
      <p:sp>
        <p:nvSpPr>
          <p:cNvPr id="16" name="Text 14"/>
          <p:cNvSpPr txBox="1"/>
          <p:nvPr/>
        </p:nvSpPr>
        <p:spPr>
          <a:xfrm>
            <a:off x="3566160" y="2441448"/>
            <a:ext cx="2377440" cy="548640"/>
          </a:xfrm>
          <a:prstGeom prst="rect">
            <a:avLst/>
          </a:prstGeom>
          <a:noFill/>
          <a:ln/>
        </p:spPr>
        <p:txBody>
          <a:bodyPr wrap="square" lIns="0" tIns="0" rIns="0" bIns="0" rtlCol="0" anchor="ctr"/>
          <a:lstStyle/>
          <a:p>
            <a:pPr indent="0" marL="0">
              <a:buNone/>
            </a:pPr>
            <a:r>
              <a:rPr lang="en-US" sz="1200" dirty="0">
                <a:solidFill>
                  <a:schemeClr val="tx1"/>
                </a:solidFill>
              </a:rPr>
              <a:t>WalletBar</a:t>
            </a:r>
            <a:endParaRPr lang="en-US" sz="1200" dirty="0"/>
          </a:p>
        </p:txBody>
      </p:sp>
      <p:sp>
        <p:nvSpPr>
          <p:cNvPr id="17" name="chip ContractSettings"/>
          <p:cNvSpPr/>
          <p:nvPr/>
        </p:nvSpPr>
        <p:spPr>
          <a:xfrm>
            <a:off x="3429000" y="3099816"/>
            <a:ext cx="2651760" cy="548640"/>
          </a:xfrm>
          <a:prstGeom prst="roundRect">
            <a:avLst>
              <a:gd name="adj" fmla="val 13333"/>
            </a:avLst>
          </a:prstGeom>
          <a:solidFill>
            <a:schemeClr val="bg2"/>
          </a:solidFill>
          <a:ln/>
        </p:spPr>
      </p:sp>
      <p:sp>
        <p:nvSpPr>
          <p:cNvPr id="18" name="Text 16"/>
          <p:cNvSpPr txBox="1"/>
          <p:nvPr/>
        </p:nvSpPr>
        <p:spPr>
          <a:xfrm>
            <a:off x="3566160" y="3099816"/>
            <a:ext cx="2377440" cy="548640"/>
          </a:xfrm>
          <a:prstGeom prst="rect">
            <a:avLst/>
          </a:prstGeom>
          <a:noFill/>
          <a:ln/>
        </p:spPr>
        <p:txBody>
          <a:bodyPr wrap="square" lIns="0" tIns="0" rIns="0" bIns="0" rtlCol="0" anchor="ctr"/>
          <a:lstStyle/>
          <a:p>
            <a:pPr indent="0" marL="0">
              <a:buNone/>
            </a:pPr>
            <a:r>
              <a:rPr lang="en-US" sz="1200" dirty="0">
                <a:solidFill>
                  <a:schemeClr val="tx1"/>
                </a:solidFill>
              </a:rPr>
              <a:t>ContractSettings</a:t>
            </a:r>
            <a:endParaRPr lang="en-US" sz="1200" dirty="0"/>
          </a:p>
        </p:txBody>
      </p:sp>
      <p:sp>
        <p:nvSpPr>
          <p:cNvPr id="19" name="chip SetupForm"/>
          <p:cNvSpPr/>
          <p:nvPr/>
        </p:nvSpPr>
        <p:spPr>
          <a:xfrm>
            <a:off x="3429000" y="3758184"/>
            <a:ext cx="2651760" cy="548640"/>
          </a:xfrm>
          <a:prstGeom prst="roundRect">
            <a:avLst>
              <a:gd name="adj" fmla="val 13333"/>
            </a:avLst>
          </a:prstGeom>
          <a:solidFill>
            <a:schemeClr val="bg2"/>
          </a:solidFill>
          <a:ln/>
        </p:spPr>
      </p:sp>
      <p:sp>
        <p:nvSpPr>
          <p:cNvPr id="20" name="Text 18"/>
          <p:cNvSpPr txBox="1"/>
          <p:nvPr/>
        </p:nvSpPr>
        <p:spPr>
          <a:xfrm>
            <a:off x="3566160" y="3758184"/>
            <a:ext cx="2377440" cy="548640"/>
          </a:xfrm>
          <a:prstGeom prst="rect">
            <a:avLst/>
          </a:prstGeom>
          <a:noFill/>
          <a:ln/>
        </p:spPr>
        <p:txBody>
          <a:bodyPr wrap="square" lIns="0" tIns="0" rIns="0" bIns="0" rtlCol="0" anchor="ctr"/>
          <a:lstStyle/>
          <a:p>
            <a:pPr indent="0" marL="0">
              <a:buNone/>
            </a:pPr>
            <a:r>
              <a:rPr lang="en-US" sz="1200" dirty="0">
                <a:solidFill>
                  <a:schemeClr val="tx1"/>
                </a:solidFill>
              </a:rPr>
              <a:t>SetupForm</a:t>
            </a:r>
            <a:endParaRPr lang="en-US" sz="1200" dirty="0"/>
          </a:p>
        </p:txBody>
      </p:sp>
      <p:sp>
        <p:nvSpPr>
          <p:cNvPr id="21" name="chip Dashboard + Countdown"/>
          <p:cNvSpPr/>
          <p:nvPr/>
        </p:nvSpPr>
        <p:spPr>
          <a:xfrm>
            <a:off x="3429000" y="4416552"/>
            <a:ext cx="2651760" cy="548640"/>
          </a:xfrm>
          <a:prstGeom prst="roundRect">
            <a:avLst>
              <a:gd name="adj" fmla="val 13333"/>
            </a:avLst>
          </a:prstGeom>
          <a:solidFill>
            <a:schemeClr val="bg2"/>
          </a:solidFill>
          <a:ln/>
        </p:spPr>
      </p:sp>
      <p:sp>
        <p:nvSpPr>
          <p:cNvPr id="22" name="Text 20"/>
          <p:cNvSpPr txBox="1"/>
          <p:nvPr/>
        </p:nvSpPr>
        <p:spPr>
          <a:xfrm>
            <a:off x="3566160" y="4416552"/>
            <a:ext cx="2377440" cy="548640"/>
          </a:xfrm>
          <a:prstGeom prst="rect">
            <a:avLst/>
          </a:prstGeom>
          <a:noFill/>
          <a:ln/>
        </p:spPr>
        <p:txBody>
          <a:bodyPr wrap="square" lIns="0" tIns="0" rIns="0" bIns="0" rtlCol="0" anchor="ctr"/>
          <a:lstStyle/>
          <a:p>
            <a:pPr indent="0" marL="0">
              <a:buNone/>
            </a:pPr>
            <a:r>
              <a:rPr lang="en-US" sz="1200" dirty="0">
                <a:solidFill>
                  <a:schemeClr val="tx1"/>
                </a:solidFill>
              </a:rPr>
              <a:t>Dashboard + Countdown</a:t>
            </a:r>
            <a:endParaRPr lang="en-US" sz="1200" dirty="0"/>
          </a:p>
        </p:txBody>
      </p:sp>
      <p:sp>
        <p:nvSpPr>
          <p:cNvPr id="23" name="chip BeneficiaryPanel"/>
          <p:cNvSpPr/>
          <p:nvPr/>
        </p:nvSpPr>
        <p:spPr>
          <a:xfrm>
            <a:off x="3429000" y="5074920"/>
            <a:ext cx="2651760" cy="548640"/>
          </a:xfrm>
          <a:prstGeom prst="roundRect">
            <a:avLst>
              <a:gd name="adj" fmla="val 13333"/>
            </a:avLst>
          </a:prstGeom>
          <a:solidFill>
            <a:schemeClr val="bg2"/>
          </a:solidFill>
          <a:ln/>
        </p:spPr>
      </p:sp>
      <p:sp>
        <p:nvSpPr>
          <p:cNvPr id="24" name="Text 22"/>
          <p:cNvSpPr txBox="1"/>
          <p:nvPr/>
        </p:nvSpPr>
        <p:spPr>
          <a:xfrm>
            <a:off x="3566160" y="5074920"/>
            <a:ext cx="2377440" cy="548640"/>
          </a:xfrm>
          <a:prstGeom prst="rect">
            <a:avLst/>
          </a:prstGeom>
          <a:noFill/>
          <a:ln/>
        </p:spPr>
        <p:txBody>
          <a:bodyPr wrap="square" lIns="0" tIns="0" rIns="0" bIns="0" rtlCol="0" anchor="ctr"/>
          <a:lstStyle/>
          <a:p>
            <a:pPr indent="0" marL="0">
              <a:buNone/>
            </a:pPr>
            <a:r>
              <a:rPr lang="en-US" sz="1200" dirty="0">
                <a:solidFill>
                  <a:schemeClr val="tx1"/>
                </a:solidFill>
              </a:rPr>
              <a:t>BeneficiaryPanel</a:t>
            </a:r>
            <a:endParaRPr lang="en-US" sz="1200" dirty="0"/>
          </a:p>
        </p:txBody>
      </p:sp>
      <p:sp>
        <p:nvSpPr>
          <p:cNvPr id="25" name="Text 23"/>
          <p:cNvSpPr txBox="1"/>
          <p:nvPr/>
        </p:nvSpPr>
        <p:spPr>
          <a:xfrm>
            <a:off x="6400800" y="1325880"/>
            <a:ext cx="2697480" cy="365760"/>
          </a:xfrm>
          <a:prstGeom prst="rect">
            <a:avLst/>
          </a:prstGeom>
          <a:noFill/>
          <a:ln/>
        </p:spPr>
        <p:txBody>
          <a:bodyPr wrap="square" lIns="0" tIns="0" rIns="0" bIns="0" rtlCol="0" anchor="t"/>
          <a:lstStyle/>
          <a:p>
            <a:pPr indent="0" marL="0">
              <a:buNone/>
            </a:pPr>
            <a:r>
              <a:rPr lang="en-US" sz="1600" b="1" dirty="0">
                <a:solidFill>
                  <a:schemeClr val="accent1"/>
                </a:solidFill>
              </a:rPr>
              <a:t>lib/ services</a:t>
            </a:r>
            <a:endParaRPr lang="en-US" sz="1600" dirty="0"/>
          </a:p>
        </p:txBody>
      </p:sp>
      <p:sp>
        <p:nvSpPr>
          <p:cNvPr id="26" name="chip auth.ts"/>
          <p:cNvSpPr/>
          <p:nvPr/>
        </p:nvSpPr>
        <p:spPr>
          <a:xfrm>
            <a:off x="6400800" y="1783080"/>
            <a:ext cx="2697480" cy="548640"/>
          </a:xfrm>
          <a:prstGeom prst="roundRect">
            <a:avLst>
              <a:gd name="adj" fmla="val 13333"/>
            </a:avLst>
          </a:prstGeom>
          <a:solidFill>
            <a:schemeClr val="bg2"/>
          </a:solidFill>
          <a:ln/>
        </p:spPr>
      </p:sp>
      <p:sp>
        <p:nvSpPr>
          <p:cNvPr id="27" name="Text 25"/>
          <p:cNvSpPr txBox="1"/>
          <p:nvPr/>
        </p:nvSpPr>
        <p:spPr>
          <a:xfrm>
            <a:off x="6537960" y="1783080"/>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auth.ts</a:t>
            </a:r>
            <a:endParaRPr lang="en-US" sz="1200" dirty="0"/>
          </a:p>
        </p:txBody>
      </p:sp>
      <p:sp>
        <p:nvSpPr>
          <p:cNvPr id="28" name="chip wallet.ts"/>
          <p:cNvSpPr/>
          <p:nvPr/>
        </p:nvSpPr>
        <p:spPr>
          <a:xfrm>
            <a:off x="6400800" y="2441448"/>
            <a:ext cx="2697480" cy="548640"/>
          </a:xfrm>
          <a:prstGeom prst="roundRect">
            <a:avLst>
              <a:gd name="adj" fmla="val 13333"/>
            </a:avLst>
          </a:prstGeom>
          <a:solidFill>
            <a:schemeClr val="bg2"/>
          </a:solidFill>
          <a:ln/>
        </p:spPr>
      </p:sp>
      <p:sp>
        <p:nvSpPr>
          <p:cNvPr id="29" name="Text 27"/>
          <p:cNvSpPr txBox="1"/>
          <p:nvPr/>
        </p:nvSpPr>
        <p:spPr>
          <a:xfrm>
            <a:off x="6537960" y="2441448"/>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wallet.ts</a:t>
            </a:r>
            <a:endParaRPr lang="en-US" sz="1200" dirty="0"/>
          </a:p>
        </p:txBody>
      </p:sp>
      <p:sp>
        <p:nvSpPr>
          <p:cNvPr id="30" name="chip contract.ts"/>
          <p:cNvSpPr/>
          <p:nvPr/>
        </p:nvSpPr>
        <p:spPr>
          <a:xfrm>
            <a:off x="6400800" y="3099816"/>
            <a:ext cx="2697480" cy="548640"/>
          </a:xfrm>
          <a:prstGeom prst="roundRect">
            <a:avLst>
              <a:gd name="adj" fmla="val 13333"/>
            </a:avLst>
          </a:prstGeom>
          <a:solidFill>
            <a:schemeClr val="bg2"/>
          </a:solidFill>
          <a:ln/>
        </p:spPr>
      </p:sp>
      <p:sp>
        <p:nvSpPr>
          <p:cNvPr id="31" name="Text 29"/>
          <p:cNvSpPr txBox="1"/>
          <p:nvPr/>
        </p:nvSpPr>
        <p:spPr>
          <a:xfrm>
            <a:off x="6537960" y="3099816"/>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contract.ts</a:t>
            </a:r>
            <a:endParaRPr lang="en-US" sz="1200" dirty="0"/>
          </a:p>
        </p:txBody>
      </p:sp>
      <p:sp>
        <p:nvSpPr>
          <p:cNvPr id="32" name="chip vault-chain.ts"/>
          <p:cNvSpPr/>
          <p:nvPr/>
        </p:nvSpPr>
        <p:spPr>
          <a:xfrm>
            <a:off x="6400800" y="3758184"/>
            <a:ext cx="2697480" cy="548640"/>
          </a:xfrm>
          <a:prstGeom prst="roundRect">
            <a:avLst>
              <a:gd name="adj" fmla="val 13333"/>
            </a:avLst>
          </a:prstGeom>
          <a:solidFill>
            <a:schemeClr val="bg2"/>
          </a:solidFill>
          <a:ln/>
        </p:spPr>
      </p:sp>
      <p:sp>
        <p:nvSpPr>
          <p:cNvPr id="33" name="Text 31"/>
          <p:cNvSpPr txBox="1"/>
          <p:nvPr/>
        </p:nvSpPr>
        <p:spPr>
          <a:xfrm>
            <a:off x="6537960" y="3758184"/>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vault-chain.ts</a:t>
            </a:r>
            <a:endParaRPr lang="en-US" sz="1200" dirty="0"/>
          </a:p>
        </p:txBody>
      </p:sp>
      <p:sp>
        <p:nvSpPr>
          <p:cNvPr id="34" name="chip crypto-utils.ts"/>
          <p:cNvSpPr/>
          <p:nvPr/>
        </p:nvSpPr>
        <p:spPr>
          <a:xfrm>
            <a:off x="6400800" y="4416552"/>
            <a:ext cx="2697480" cy="548640"/>
          </a:xfrm>
          <a:prstGeom prst="roundRect">
            <a:avLst>
              <a:gd name="adj" fmla="val 13333"/>
            </a:avLst>
          </a:prstGeom>
          <a:solidFill>
            <a:schemeClr val="bg2"/>
          </a:solidFill>
          <a:ln/>
        </p:spPr>
      </p:sp>
      <p:sp>
        <p:nvSpPr>
          <p:cNvPr id="35" name="Text 33"/>
          <p:cNvSpPr txBox="1"/>
          <p:nvPr/>
        </p:nvSpPr>
        <p:spPr>
          <a:xfrm>
            <a:off x="6537960" y="4416552"/>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crypto-utils.ts</a:t>
            </a:r>
            <a:endParaRPr lang="en-US" sz="1200" dirty="0"/>
          </a:p>
        </p:txBody>
      </p:sp>
      <p:sp>
        <p:nvSpPr>
          <p:cNvPr id="36" name="chip pinata.functions.ts"/>
          <p:cNvSpPr/>
          <p:nvPr/>
        </p:nvSpPr>
        <p:spPr>
          <a:xfrm>
            <a:off x="6400800" y="5074920"/>
            <a:ext cx="2697480" cy="548640"/>
          </a:xfrm>
          <a:prstGeom prst="roundRect">
            <a:avLst>
              <a:gd name="adj" fmla="val 13333"/>
            </a:avLst>
          </a:prstGeom>
          <a:solidFill>
            <a:schemeClr val="bg2"/>
          </a:solidFill>
          <a:ln/>
        </p:spPr>
      </p:sp>
      <p:sp>
        <p:nvSpPr>
          <p:cNvPr id="37" name="Text 35"/>
          <p:cNvSpPr txBox="1"/>
          <p:nvPr/>
        </p:nvSpPr>
        <p:spPr>
          <a:xfrm>
            <a:off x="6537960" y="5074920"/>
            <a:ext cx="242316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pinata.functions.ts</a:t>
            </a:r>
            <a:endParaRPr lang="en-US" sz="1200" dirty="0"/>
          </a:p>
        </p:txBody>
      </p:sp>
      <p:sp>
        <p:nvSpPr>
          <p:cNvPr id="38" name="Text 36"/>
          <p:cNvSpPr txBox="1"/>
          <p:nvPr/>
        </p:nvSpPr>
        <p:spPr>
          <a:xfrm>
            <a:off x="9418320" y="132588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External</a:t>
            </a:r>
            <a:endParaRPr lang="en-US" sz="1600" dirty="0"/>
          </a:p>
        </p:txBody>
      </p:sp>
      <p:sp>
        <p:nvSpPr>
          <p:cNvPr id="39" name="chip Supabase"/>
          <p:cNvSpPr/>
          <p:nvPr/>
        </p:nvSpPr>
        <p:spPr>
          <a:xfrm>
            <a:off x="9418320" y="1783080"/>
            <a:ext cx="2194560" cy="548640"/>
          </a:xfrm>
          <a:prstGeom prst="roundRect">
            <a:avLst>
              <a:gd name="adj" fmla="val 13333"/>
            </a:avLst>
          </a:prstGeom>
          <a:solidFill>
            <a:schemeClr val="tx2"/>
          </a:solidFill>
          <a:ln/>
        </p:spPr>
      </p:sp>
      <p:sp>
        <p:nvSpPr>
          <p:cNvPr id="40" name="Text 38"/>
          <p:cNvSpPr txBox="1"/>
          <p:nvPr/>
        </p:nvSpPr>
        <p:spPr>
          <a:xfrm>
            <a:off x="9555480" y="1783080"/>
            <a:ext cx="1920240" cy="548640"/>
          </a:xfrm>
          <a:prstGeom prst="rect">
            <a:avLst/>
          </a:prstGeom>
          <a:noFill/>
          <a:ln/>
        </p:spPr>
        <p:txBody>
          <a:bodyPr wrap="square" lIns="0" tIns="0" rIns="0" bIns="0" rtlCol="0" anchor="ctr"/>
          <a:lstStyle/>
          <a:p>
            <a:pPr indent="0" marL="0">
              <a:buNone/>
            </a:pPr>
            <a:r>
              <a:rPr lang="en-US" sz="1200" b="1" dirty="0">
                <a:solidFill>
                  <a:schemeClr val="bg1"/>
                </a:solidFill>
              </a:rPr>
              <a:t>Supabase</a:t>
            </a:r>
            <a:endParaRPr lang="en-US" sz="1200" dirty="0"/>
          </a:p>
        </p:txBody>
      </p:sp>
      <p:sp>
        <p:nvSpPr>
          <p:cNvPr id="41" name="chip MetaMask"/>
          <p:cNvSpPr/>
          <p:nvPr/>
        </p:nvSpPr>
        <p:spPr>
          <a:xfrm>
            <a:off x="9418320" y="2441448"/>
            <a:ext cx="2194560" cy="548640"/>
          </a:xfrm>
          <a:prstGeom prst="roundRect">
            <a:avLst>
              <a:gd name="adj" fmla="val 13333"/>
            </a:avLst>
          </a:prstGeom>
          <a:solidFill>
            <a:schemeClr val="tx2"/>
          </a:solidFill>
          <a:ln/>
        </p:spPr>
      </p:sp>
      <p:sp>
        <p:nvSpPr>
          <p:cNvPr id="42" name="Text 40"/>
          <p:cNvSpPr txBox="1"/>
          <p:nvPr/>
        </p:nvSpPr>
        <p:spPr>
          <a:xfrm>
            <a:off x="9555480" y="2441448"/>
            <a:ext cx="1920240" cy="548640"/>
          </a:xfrm>
          <a:prstGeom prst="rect">
            <a:avLst/>
          </a:prstGeom>
          <a:noFill/>
          <a:ln/>
        </p:spPr>
        <p:txBody>
          <a:bodyPr wrap="square" lIns="0" tIns="0" rIns="0" bIns="0" rtlCol="0" anchor="ctr"/>
          <a:lstStyle/>
          <a:p>
            <a:pPr indent="0" marL="0">
              <a:buNone/>
            </a:pPr>
            <a:r>
              <a:rPr lang="en-US" sz="1200" b="1" dirty="0">
                <a:solidFill>
                  <a:schemeClr val="bg1"/>
                </a:solidFill>
              </a:rPr>
              <a:t>MetaMask</a:t>
            </a:r>
            <a:endParaRPr lang="en-US" sz="1200" dirty="0"/>
          </a:p>
        </p:txBody>
      </p:sp>
      <p:sp>
        <p:nvSpPr>
          <p:cNvPr id="43" name="chip Sepolia contract"/>
          <p:cNvSpPr/>
          <p:nvPr/>
        </p:nvSpPr>
        <p:spPr>
          <a:xfrm>
            <a:off x="9418320" y="3099816"/>
            <a:ext cx="2194560" cy="548640"/>
          </a:xfrm>
          <a:prstGeom prst="roundRect">
            <a:avLst>
              <a:gd name="adj" fmla="val 13333"/>
            </a:avLst>
          </a:prstGeom>
          <a:solidFill>
            <a:schemeClr val="tx2"/>
          </a:solidFill>
          <a:ln/>
        </p:spPr>
      </p:sp>
      <p:sp>
        <p:nvSpPr>
          <p:cNvPr id="44" name="Text 42"/>
          <p:cNvSpPr txBox="1"/>
          <p:nvPr/>
        </p:nvSpPr>
        <p:spPr>
          <a:xfrm>
            <a:off x="9555480" y="3099816"/>
            <a:ext cx="1920240" cy="548640"/>
          </a:xfrm>
          <a:prstGeom prst="rect">
            <a:avLst/>
          </a:prstGeom>
          <a:noFill/>
          <a:ln/>
        </p:spPr>
        <p:txBody>
          <a:bodyPr wrap="square" lIns="0" tIns="0" rIns="0" bIns="0" rtlCol="0" anchor="ctr"/>
          <a:lstStyle/>
          <a:p>
            <a:pPr indent="0" marL="0">
              <a:buNone/>
            </a:pPr>
            <a:r>
              <a:rPr lang="en-US" sz="1200" b="1" dirty="0">
                <a:solidFill>
                  <a:schemeClr val="bg1"/>
                </a:solidFill>
              </a:rPr>
              <a:t>Sepolia contract</a:t>
            </a:r>
            <a:endParaRPr lang="en-US" sz="1200" dirty="0"/>
          </a:p>
        </p:txBody>
      </p:sp>
      <p:sp>
        <p:nvSpPr>
          <p:cNvPr id="45" name="chip Web Crypto API"/>
          <p:cNvSpPr/>
          <p:nvPr/>
        </p:nvSpPr>
        <p:spPr>
          <a:xfrm>
            <a:off x="9418320" y="3758184"/>
            <a:ext cx="2194560" cy="548640"/>
          </a:xfrm>
          <a:prstGeom prst="roundRect">
            <a:avLst>
              <a:gd name="adj" fmla="val 13333"/>
            </a:avLst>
          </a:prstGeom>
          <a:solidFill>
            <a:schemeClr val="tx2"/>
          </a:solidFill>
          <a:ln/>
        </p:spPr>
      </p:sp>
      <p:sp>
        <p:nvSpPr>
          <p:cNvPr id="46" name="Text 44"/>
          <p:cNvSpPr txBox="1"/>
          <p:nvPr/>
        </p:nvSpPr>
        <p:spPr>
          <a:xfrm>
            <a:off x="9555480" y="3758184"/>
            <a:ext cx="1920240" cy="548640"/>
          </a:xfrm>
          <a:prstGeom prst="rect">
            <a:avLst/>
          </a:prstGeom>
          <a:noFill/>
          <a:ln/>
        </p:spPr>
        <p:txBody>
          <a:bodyPr wrap="square" lIns="0" tIns="0" rIns="0" bIns="0" rtlCol="0" anchor="ctr"/>
          <a:lstStyle/>
          <a:p>
            <a:pPr indent="0" marL="0">
              <a:buNone/>
            </a:pPr>
            <a:r>
              <a:rPr lang="en-US" sz="1200" b="1" dirty="0">
                <a:solidFill>
                  <a:schemeClr val="bg1"/>
                </a:solidFill>
              </a:rPr>
              <a:t>Web Crypto API</a:t>
            </a:r>
            <a:endParaRPr lang="en-US" sz="1200" dirty="0"/>
          </a:p>
        </p:txBody>
      </p:sp>
      <p:sp>
        <p:nvSpPr>
          <p:cNvPr id="47" name="chip Pinata IPFS"/>
          <p:cNvSpPr/>
          <p:nvPr/>
        </p:nvSpPr>
        <p:spPr>
          <a:xfrm>
            <a:off x="9418320" y="4416552"/>
            <a:ext cx="2194560" cy="548640"/>
          </a:xfrm>
          <a:prstGeom prst="roundRect">
            <a:avLst>
              <a:gd name="adj" fmla="val 13333"/>
            </a:avLst>
          </a:prstGeom>
          <a:solidFill>
            <a:schemeClr val="tx2"/>
          </a:solidFill>
          <a:ln/>
        </p:spPr>
      </p:sp>
      <p:sp>
        <p:nvSpPr>
          <p:cNvPr id="48" name="Text 46"/>
          <p:cNvSpPr txBox="1"/>
          <p:nvPr/>
        </p:nvSpPr>
        <p:spPr>
          <a:xfrm>
            <a:off x="9555480" y="4416552"/>
            <a:ext cx="1920240" cy="548640"/>
          </a:xfrm>
          <a:prstGeom prst="rect">
            <a:avLst/>
          </a:prstGeom>
          <a:noFill/>
          <a:ln/>
        </p:spPr>
        <p:txBody>
          <a:bodyPr wrap="square" lIns="0" tIns="0" rIns="0" bIns="0" rtlCol="0" anchor="ctr"/>
          <a:lstStyle/>
          <a:p>
            <a:pPr indent="0" marL="0">
              <a:buNone/>
            </a:pPr>
            <a:r>
              <a:rPr lang="en-US" sz="1200" b="1" dirty="0">
                <a:solidFill>
                  <a:schemeClr val="bg1"/>
                </a:solidFill>
              </a:rPr>
              <a:t>Pinata IPFS</a:t>
            </a:r>
            <a:endParaRPr lang="en-US" sz="1200" dirty="0"/>
          </a:p>
        </p:txBody>
      </p:sp>
      <p:sp>
        <p:nvSpPr>
          <p:cNvPr id="49" name="connector"/>
          <p:cNvSpPr/>
          <p:nvPr/>
        </p:nvSpPr>
        <p:spPr>
          <a:xfrm>
            <a:off x="3063240" y="4032504"/>
            <a:ext cx="365760" cy="0"/>
          </a:xfrm>
          <a:prstGeom prst="line">
            <a:avLst/>
          </a:prstGeom>
          <a:noFill/>
          <a:ln w="19050">
            <a:solidFill>
              <a:schemeClr val="accent6"/>
            </a:solidFill>
            <a:prstDash val="solid"/>
            <a:tailEnd type="triangle"/>
          </a:ln>
        </p:spPr>
      </p:sp>
      <p:sp>
        <p:nvSpPr>
          <p:cNvPr id="50" name="connector"/>
          <p:cNvSpPr/>
          <p:nvPr/>
        </p:nvSpPr>
        <p:spPr>
          <a:xfrm>
            <a:off x="6080760" y="4032504"/>
            <a:ext cx="320040" cy="0"/>
          </a:xfrm>
          <a:prstGeom prst="line">
            <a:avLst/>
          </a:prstGeom>
          <a:noFill/>
          <a:ln w="19050">
            <a:solidFill>
              <a:schemeClr val="accent6"/>
            </a:solidFill>
            <a:prstDash val="solid"/>
            <a:tailEnd type="triangle"/>
          </a:ln>
        </p:spPr>
      </p:sp>
      <p:sp>
        <p:nvSpPr>
          <p:cNvPr id="51" name="connector"/>
          <p:cNvSpPr/>
          <p:nvPr/>
        </p:nvSpPr>
        <p:spPr>
          <a:xfrm>
            <a:off x="6080760" y="5349240"/>
            <a:ext cx="320040" cy="0"/>
          </a:xfrm>
          <a:prstGeom prst="line">
            <a:avLst/>
          </a:prstGeom>
          <a:noFill/>
          <a:ln w="19050">
            <a:solidFill>
              <a:schemeClr val="accent6"/>
            </a:solidFill>
            <a:prstDash val="solid"/>
            <a:tailEnd type="triangle"/>
          </a:ln>
        </p:spPr>
      </p:sp>
      <p:sp>
        <p:nvSpPr>
          <p:cNvPr id="52" name="connector"/>
          <p:cNvSpPr/>
          <p:nvPr/>
        </p:nvSpPr>
        <p:spPr>
          <a:xfrm>
            <a:off x="6080760" y="4690872"/>
            <a:ext cx="320040" cy="0"/>
          </a:xfrm>
          <a:prstGeom prst="line">
            <a:avLst/>
          </a:prstGeom>
          <a:noFill/>
          <a:ln w="19050">
            <a:solidFill>
              <a:schemeClr val="accent6"/>
            </a:solidFill>
            <a:prstDash val="solid"/>
            <a:tailEnd type="triangle"/>
          </a:ln>
        </p:spPr>
      </p:sp>
      <p:sp>
        <p:nvSpPr>
          <p:cNvPr id="53" name="connector"/>
          <p:cNvSpPr/>
          <p:nvPr/>
        </p:nvSpPr>
        <p:spPr>
          <a:xfrm>
            <a:off x="9098280" y="2057400"/>
            <a:ext cx="320040" cy="0"/>
          </a:xfrm>
          <a:prstGeom prst="line">
            <a:avLst/>
          </a:prstGeom>
          <a:noFill/>
          <a:ln w="19050">
            <a:solidFill>
              <a:schemeClr val="accent6"/>
            </a:solidFill>
            <a:prstDash val="solid"/>
            <a:tailEnd type="triangle"/>
          </a:ln>
        </p:spPr>
      </p:sp>
      <p:sp>
        <p:nvSpPr>
          <p:cNvPr id="54" name="connector"/>
          <p:cNvSpPr/>
          <p:nvPr/>
        </p:nvSpPr>
        <p:spPr>
          <a:xfrm>
            <a:off x="9098280" y="2715768"/>
            <a:ext cx="320040" cy="0"/>
          </a:xfrm>
          <a:prstGeom prst="line">
            <a:avLst/>
          </a:prstGeom>
          <a:noFill/>
          <a:ln w="19050">
            <a:solidFill>
              <a:schemeClr val="accent6"/>
            </a:solidFill>
            <a:prstDash val="solid"/>
            <a:tailEnd type="triangle"/>
          </a:ln>
        </p:spPr>
      </p:sp>
      <p:sp>
        <p:nvSpPr>
          <p:cNvPr id="55" name="connector"/>
          <p:cNvSpPr/>
          <p:nvPr/>
        </p:nvSpPr>
        <p:spPr>
          <a:xfrm flipV="1">
            <a:off x="9098280" y="3374136"/>
            <a:ext cx="320040" cy="658368"/>
          </a:xfrm>
          <a:prstGeom prst="line">
            <a:avLst/>
          </a:prstGeom>
          <a:noFill/>
          <a:ln w="19050">
            <a:solidFill>
              <a:schemeClr val="accent6"/>
            </a:solidFill>
            <a:prstDash val="solid"/>
            <a:tailEnd type="triangle"/>
          </a:ln>
        </p:spPr>
      </p:sp>
      <p:sp>
        <p:nvSpPr>
          <p:cNvPr id="56" name="connector"/>
          <p:cNvSpPr/>
          <p:nvPr/>
        </p:nvSpPr>
        <p:spPr>
          <a:xfrm flipV="1">
            <a:off x="9098280" y="4032504"/>
            <a:ext cx="320040" cy="658368"/>
          </a:xfrm>
          <a:prstGeom prst="line">
            <a:avLst/>
          </a:prstGeom>
          <a:noFill/>
          <a:ln w="19050">
            <a:solidFill>
              <a:schemeClr val="accent6"/>
            </a:solidFill>
            <a:prstDash val="solid"/>
            <a:tailEnd type="triangle"/>
          </a:ln>
        </p:spPr>
      </p:sp>
      <p:sp>
        <p:nvSpPr>
          <p:cNvPr id="57" name="connector"/>
          <p:cNvSpPr/>
          <p:nvPr/>
        </p:nvSpPr>
        <p:spPr>
          <a:xfrm flipV="1">
            <a:off x="9098280" y="4690872"/>
            <a:ext cx="320040" cy="658368"/>
          </a:xfrm>
          <a:prstGeom prst="line">
            <a:avLst/>
          </a:prstGeom>
          <a:noFill/>
          <a:ln w="19050">
            <a:solidFill>
              <a:schemeClr val="accent6"/>
            </a:solidFill>
            <a:prstDash val="solid"/>
            <a:tailEnd type="triangle"/>
          </a:ln>
        </p:spPr>
      </p:sp>
      <p:sp>
        <p:nvSpPr>
          <p:cNvPr id="58" name="Text 56"/>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00" i="1" dirty="0">
                <a:solidFill>
                  <a:schemeClr val="accent6"/>
                </a:solidFill>
              </a:rPr>
              <a:t>Wallet and contract config are tiny external stores read with useSyncExternalStore; the contract address persists in localStorage so one build can target any deployment.</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lstStyle/>
          <a:p>
            <a:pPr indent="0" marL="0">
              <a:buNone/>
            </a:pPr>
            <a:r>
              <a:rPr lang="en-US" sz="9600" dirty="0">
                <a:solidFill>
                  <a:schemeClr val="accent2"/>
                </a:solidFill>
                <a:latin typeface="Cambria" pitchFamily="34" charset="0"/>
                <a:ea typeface="Cambria" pitchFamily="34" charset="-122"/>
                <a:cs typeface="Cambria" pitchFamily="34" charset="-120"/>
              </a:rPr>
              <a:t>02</a:t>
            </a: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Smart contract</a:t>
            </a: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1800" dirty="0">
                <a:solidFill>
                  <a:schemeClr val="accent2"/>
                </a:solidFill>
              </a:rPr>
              <a:t>DeadMansSwitch.sol: one vault per owner, a block-timestamp timer, and a release path anyone can call.</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Vault data model</a:t>
            </a:r>
            <a:endParaRPr lang="en-US" sz="3200" dirty="0"/>
          </a:p>
        </p:txBody>
      </p:sp>
      <p:sp>
        <p:nvSpPr>
          <p:cNvPr id="3" name="struct code"/>
          <p:cNvSpPr/>
          <p:nvPr/>
        </p:nvSpPr>
        <p:spPr>
          <a:xfrm>
            <a:off x="548640" y="1325880"/>
            <a:ext cx="5760720" cy="4800600"/>
          </a:xfrm>
          <a:prstGeom prst="roundRect">
            <a:avLst>
              <a:gd name="adj" fmla="val 1524"/>
            </a:avLst>
          </a:prstGeom>
          <a:solidFill>
            <a:schemeClr val="tx2"/>
          </a:solidFill>
          <a:ln/>
        </p:spPr>
      </p:sp>
      <p:sp>
        <p:nvSpPr>
          <p:cNvPr id="4" name="Text 2"/>
          <p:cNvSpPr txBox="1"/>
          <p:nvPr/>
        </p:nvSpPr>
        <p:spPr>
          <a:xfrm>
            <a:off x="822960" y="1554480"/>
            <a:ext cx="5303520" cy="43891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struct Vault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address owner;</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address beneficiary;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uint256 amount;      // locked wei</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uint64  lastPing;    // last heartbeat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uint64  timeout;     // seconds of silence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string  cid;         // IPFS ciphertext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bool released;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bool cancelled;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bool exists;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mapping(address =&gt; Vault) _vaults;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address[] _owners;  // for upkeep scan</a:t>
            </a:r>
            <a:endParaRPr lang="en-US" sz="1400" dirty="0"/>
          </a:p>
        </p:txBody>
      </p:sp>
      <p:sp>
        <p:nvSpPr>
          <p:cNvPr id="5" name="icon circle"/>
          <p:cNvSpPr/>
          <p:nvPr/>
        </p:nvSpPr>
        <p:spPr>
          <a:xfrm>
            <a:off x="6675120" y="1371600"/>
            <a:ext cx="548640" cy="548640"/>
          </a:xfrm>
          <a:prstGeom prst="ellipse">
            <a:avLst/>
          </a:prstGeom>
          <a:solidFill>
            <a:schemeClr val="accent1"/>
          </a:solidFill>
          <a:ln/>
        </p:spPr>
      </p:sp>
      <p:pic>
        <p:nvPicPr>
          <p:cNvPr id="6" name="icon glyph" descr="preencoded.png">    </p:cNvPr>
          <p:cNvPicPr>
            <a:picLocks noChangeAspect="1"/>
          </p:cNvPicPr>
          <p:nvPr/>
        </p:nvPicPr>
        <p:blipFill>
          <a:blip r:embed="rId1"/>
          <a:stretch>
            <a:fillRect/>
          </a:stretch>
        </p:blipFill>
        <p:spPr>
          <a:xfrm>
            <a:off x="6806794" y="1503274"/>
            <a:ext cx="285293" cy="285293"/>
          </a:xfrm>
          <a:prstGeom prst="rect">
            <a:avLst/>
          </a:prstGeom>
        </p:spPr>
      </p:pic>
      <p:sp>
        <p:nvSpPr>
          <p:cNvPr id="7" name="Text 4"/>
          <p:cNvSpPr txBox="1"/>
          <p:nvPr/>
        </p:nvSpPr>
        <p:spPr>
          <a:xfrm>
            <a:off x="7406640" y="1371600"/>
            <a:ext cx="4206240" cy="320040"/>
          </a:xfrm>
          <a:prstGeom prst="rect">
            <a:avLst/>
          </a:prstGeom>
          <a:noFill/>
          <a:ln/>
        </p:spPr>
        <p:txBody>
          <a:bodyPr wrap="square" lIns="0" tIns="0" rIns="0" bIns="0" rtlCol="0" anchor="t"/>
          <a:lstStyle/>
          <a:p>
            <a:pPr indent="0" marL="0">
              <a:buNone/>
            </a:pPr>
            <a:r>
              <a:rPr lang="en-US" sz="1600" b="1" dirty="0">
                <a:solidFill>
                  <a:schemeClr val="tx2"/>
                </a:solidFill>
              </a:rPr>
              <a:t>One vault per owner address</a:t>
            </a:r>
            <a:endParaRPr lang="en-US" sz="1600" dirty="0"/>
          </a:p>
        </p:txBody>
      </p:sp>
      <p:sp>
        <p:nvSpPr>
          <p:cNvPr id="8" name="Text 5"/>
          <p:cNvSpPr txBox="1"/>
          <p:nvPr/>
        </p:nvSpPr>
        <p:spPr>
          <a:xfrm>
            <a:off x="7406640" y="1719072"/>
            <a:ext cx="4206240" cy="731520"/>
          </a:xfrm>
          <a:prstGeom prst="rect">
            <a:avLst/>
          </a:prstGeom>
          <a:noFill/>
          <a:ln/>
        </p:spPr>
        <p:txBody>
          <a:bodyPr wrap="square" lIns="0" tIns="0" rIns="0" bIns="0" rtlCol="0" anchor="t"/>
          <a:lstStyle/>
          <a:p>
            <a:pPr indent="0" marL="0">
              <a:buNone/>
            </a:pPr>
            <a:r>
              <a:rPr lang="en-US" sz="1400" dirty="0">
                <a:solidFill>
                  <a:schemeClr val="tx1"/>
                </a:solidFill>
              </a:rPr>
              <a:t>Keyed by msg.sender. A released or cancelled vault can be re-registered.</a:t>
            </a:r>
            <a:endParaRPr lang="en-US" sz="1400" dirty="0"/>
          </a:p>
        </p:txBody>
      </p:sp>
      <p:sp>
        <p:nvSpPr>
          <p:cNvPr id="9" name="icon circle"/>
          <p:cNvSpPr/>
          <p:nvPr/>
        </p:nvSpPr>
        <p:spPr>
          <a:xfrm>
            <a:off x="6675120" y="2560320"/>
            <a:ext cx="548640" cy="548640"/>
          </a:xfrm>
          <a:prstGeom prst="ellipse">
            <a:avLst/>
          </a:prstGeom>
          <a:solidFill>
            <a:schemeClr val="accent1"/>
          </a:solidFill>
          <a:ln/>
        </p:spPr>
      </p:sp>
      <p:pic>
        <p:nvPicPr>
          <p:cNvPr id="10" name="icon glyph" descr="preencoded.png">    </p:cNvPr>
          <p:cNvPicPr>
            <a:picLocks noChangeAspect="1"/>
          </p:cNvPicPr>
          <p:nvPr/>
        </p:nvPicPr>
        <p:blipFill>
          <a:blip r:embed="rId2"/>
          <a:stretch>
            <a:fillRect/>
          </a:stretch>
        </p:blipFill>
        <p:spPr>
          <a:xfrm>
            <a:off x="6806794" y="2691994"/>
            <a:ext cx="285293" cy="285293"/>
          </a:xfrm>
          <a:prstGeom prst="rect">
            <a:avLst/>
          </a:prstGeom>
        </p:spPr>
      </p:pic>
      <p:sp>
        <p:nvSpPr>
          <p:cNvPr id="11" name="Text 7"/>
          <p:cNvSpPr txBox="1"/>
          <p:nvPr/>
        </p:nvSpPr>
        <p:spPr>
          <a:xfrm>
            <a:off x="7406640" y="2560320"/>
            <a:ext cx="4206240" cy="320040"/>
          </a:xfrm>
          <a:prstGeom prst="rect">
            <a:avLst/>
          </a:prstGeom>
          <a:noFill/>
          <a:ln/>
        </p:spPr>
        <p:txBody>
          <a:bodyPr wrap="square" lIns="0" tIns="0" rIns="0" bIns="0" rtlCol="0" anchor="t"/>
          <a:lstStyle/>
          <a:p>
            <a:pPr indent="0" marL="0">
              <a:buNone/>
            </a:pPr>
            <a:r>
              <a:rPr lang="en-US" sz="1600" b="1" dirty="0">
                <a:solidFill>
                  <a:schemeClr val="tx2"/>
                </a:solidFill>
              </a:rPr>
              <a:t>Timer = lastPing + timeout</a:t>
            </a:r>
            <a:endParaRPr lang="en-US" sz="1600" dirty="0"/>
          </a:p>
        </p:txBody>
      </p:sp>
      <p:sp>
        <p:nvSpPr>
          <p:cNvPr id="12" name="Text 8"/>
          <p:cNvSpPr txBox="1"/>
          <p:nvPr/>
        </p:nvSpPr>
        <p:spPr>
          <a:xfrm>
            <a:off x="7406640" y="2907792"/>
            <a:ext cx="4206240" cy="731520"/>
          </a:xfrm>
          <a:prstGeom prst="rect">
            <a:avLst/>
          </a:prstGeom>
          <a:noFill/>
          <a:ln/>
        </p:spPr>
        <p:txBody>
          <a:bodyPr wrap="square" lIns="0" tIns="0" rIns="0" bIns="0" rtlCol="0" anchor="t"/>
          <a:lstStyle/>
          <a:p>
            <a:pPr indent="0" marL="0">
              <a:buNone/>
            </a:pPr>
            <a:r>
              <a:rPr lang="en-US" sz="1400" dirty="0">
                <a:solidFill>
                  <a:schemeClr val="tx1"/>
                </a:solidFill>
              </a:rPr>
              <a:t>Due when block.timestamp ≥ deadline. No browser clock is trusted.</a:t>
            </a:r>
            <a:endParaRPr lang="en-US" sz="1400" dirty="0"/>
          </a:p>
        </p:txBody>
      </p:sp>
      <p:sp>
        <p:nvSpPr>
          <p:cNvPr id="13" name="icon circle"/>
          <p:cNvSpPr/>
          <p:nvPr/>
        </p:nvSpPr>
        <p:spPr>
          <a:xfrm>
            <a:off x="6675120" y="3749040"/>
            <a:ext cx="548640" cy="548640"/>
          </a:xfrm>
          <a:prstGeom prst="ellipse">
            <a:avLst/>
          </a:prstGeom>
          <a:solidFill>
            <a:schemeClr val="accent1"/>
          </a:solidFill>
          <a:ln/>
        </p:spPr>
      </p:sp>
      <p:pic>
        <p:nvPicPr>
          <p:cNvPr id="14" name="icon glyph" descr="preencoded.png">    </p:cNvPr>
          <p:cNvPicPr>
            <a:picLocks noChangeAspect="1"/>
          </p:cNvPicPr>
          <p:nvPr/>
        </p:nvPicPr>
        <p:blipFill>
          <a:blip r:embed="rId3"/>
          <a:stretch>
            <a:fillRect/>
          </a:stretch>
        </p:blipFill>
        <p:spPr>
          <a:xfrm>
            <a:off x="6806794" y="3880714"/>
            <a:ext cx="285293" cy="285293"/>
          </a:xfrm>
          <a:prstGeom prst="rect">
            <a:avLst/>
          </a:prstGeom>
        </p:spPr>
      </p:pic>
      <p:sp>
        <p:nvSpPr>
          <p:cNvPr id="15" name="Text 10"/>
          <p:cNvSpPr txBox="1"/>
          <p:nvPr/>
        </p:nvSpPr>
        <p:spPr>
          <a:xfrm>
            <a:off x="7406640" y="3749040"/>
            <a:ext cx="4206240" cy="320040"/>
          </a:xfrm>
          <a:prstGeom prst="rect">
            <a:avLst/>
          </a:prstGeom>
          <a:noFill/>
          <a:ln/>
        </p:spPr>
        <p:txBody>
          <a:bodyPr wrap="square" lIns="0" tIns="0" rIns="0" bIns="0" rtlCol="0" anchor="t"/>
          <a:lstStyle/>
          <a:p>
            <a:pPr indent="0" marL="0">
              <a:buNone/>
            </a:pPr>
            <a:r>
              <a:rPr lang="en-US" sz="1600" b="1" dirty="0">
                <a:solidFill>
                  <a:schemeClr val="tx2"/>
                </a:solidFill>
              </a:rPr>
              <a:t>Bounded intervals</a:t>
            </a:r>
            <a:endParaRPr lang="en-US" sz="1600" dirty="0"/>
          </a:p>
        </p:txBody>
      </p:sp>
      <p:sp>
        <p:nvSpPr>
          <p:cNvPr id="16" name="Text 11"/>
          <p:cNvSpPr txBox="1"/>
          <p:nvPr/>
        </p:nvSpPr>
        <p:spPr>
          <a:xfrm>
            <a:off x="7406640" y="4096512"/>
            <a:ext cx="4206240" cy="731520"/>
          </a:xfrm>
          <a:prstGeom prst="rect">
            <a:avLst/>
          </a:prstGeom>
          <a:noFill/>
          <a:ln/>
        </p:spPr>
        <p:txBody>
          <a:bodyPr wrap="square" lIns="0" tIns="0" rIns="0" bIns="0" rtlCol="0" anchor="t"/>
          <a:lstStyle/>
          <a:p>
            <a:pPr indent="0" marL="0">
              <a:buNone/>
            </a:pPr>
            <a:r>
              <a:rPr lang="en-US" sz="1400" dirty="0">
                <a:solidFill>
                  <a:schemeClr val="tx1"/>
                </a:solidFill>
              </a:rPr>
              <a:t>MIN_TIMEOUT = 60 s, MAX_TIMEOUT = 365 days. Beneficiary ≠ 0x0 and ≠ owner.</a:t>
            </a:r>
            <a:endParaRPr lang="en-US" sz="1400" dirty="0"/>
          </a:p>
        </p:txBody>
      </p:sp>
      <p:sp>
        <p:nvSpPr>
          <p:cNvPr id="17" name="icon circle"/>
          <p:cNvSpPr/>
          <p:nvPr/>
        </p:nvSpPr>
        <p:spPr>
          <a:xfrm>
            <a:off x="6675120" y="4937760"/>
            <a:ext cx="548640" cy="548640"/>
          </a:xfrm>
          <a:prstGeom prst="ellipse">
            <a:avLst/>
          </a:prstGeom>
          <a:solidFill>
            <a:schemeClr val="accent1"/>
          </a:solidFill>
          <a:ln/>
        </p:spPr>
      </p:sp>
      <p:pic>
        <p:nvPicPr>
          <p:cNvPr id="18" name="icon glyph" descr="preencoded.png">    </p:cNvPr>
          <p:cNvPicPr>
            <a:picLocks noChangeAspect="1"/>
          </p:cNvPicPr>
          <p:nvPr/>
        </p:nvPicPr>
        <p:blipFill>
          <a:blip r:embed="rId4"/>
          <a:stretch>
            <a:fillRect/>
          </a:stretch>
        </p:blipFill>
        <p:spPr>
          <a:xfrm>
            <a:off x="6806794" y="5069434"/>
            <a:ext cx="285293" cy="285293"/>
          </a:xfrm>
          <a:prstGeom prst="rect">
            <a:avLst/>
          </a:prstGeom>
        </p:spPr>
      </p:pic>
      <p:sp>
        <p:nvSpPr>
          <p:cNvPr id="19" name="Text 13"/>
          <p:cNvSpPr txBox="1"/>
          <p:nvPr/>
        </p:nvSpPr>
        <p:spPr>
          <a:xfrm>
            <a:off x="7406640" y="4937760"/>
            <a:ext cx="4206240" cy="320040"/>
          </a:xfrm>
          <a:prstGeom prst="rect">
            <a:avLst/>
          </a:prstGeom>
          <a:noFill/>
          <a:ln/>
        </p:spPr>
        <p:txBody>
          <a:bodyPr wrap="square" lIns="0" tIns="0" rIns="0" bIns="0" rtlCol="0" anchor="t"/>
          <a:lstStyle/>
          <a:p>
            <a:pPr indent="0" marL="0">
              <a:buNone/>
            </a:pPr>
            <a:r>
              <a:rPr lang="en-US" sz="1600" b="1" dirty="0">
                <a:solidFill>
                  <a:schemeClr val="tx2"/>
                </a:solidFill>
              </a:rPr>
              <a:t>Enumerable owners</a:t>
            </a:r>
            <a:endParaRPr lang="en-US" sz="1600" dirty="0"/>
          </a:p>
        </p:txBody>
      </p:sp>
      <p:sp>
        <p:nvSpPr>
          <p:cNvPr id="20" name="Text 14"/>
          <p:cNvSpPr txBox="1"/>
          <p:nvPr/>
        </p:nvSpPr>
        <p:spPr>
          <a:xfrm>
            <a:off x="7406640" y="5285232"/>
            <a:ext cx="4206240" cy="731520"/>
          </a:xfrm>
          <a:prstGeom prst="rect">
            <a:avLst/>
          </a:prstGeom>
          <a:noFill/>
          <a:ln/>
        </p:spPr>
        <p:txBody>
          <a:bodyPr wrap="square" lIns="0" tIns="0" rIns="0" bIns="0" rtlCol="0" anchor="t"/>
          <a:lstStyle/>
          <a:p>
            <a:pPr indent="0" marL="0">
              <a:buNone/>
            </a:pPr>
            <a:r>
              <a:rPr lang="en-US" sz="1400" dirty="0">
                <a:solidFill>
                  <a:schemeClr val="tx1"/>
                </a:solidFill>
              </a:rPr>
              <a:t>_owners[] lets checkUpkeep find due vaults on-chain.</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Contract state machine</a:t>
            </a:r>
            <a:endParaRPr lang="en-US" sz="3200" dirty="0"/>
          </a:p>
        </p:txBody>
      </p:sp>
      <p:sp>
        <p:nvSpPr>
          <p:cNvPr id="3" name="state No vault"/>
          <p:cNvSpPr/>
          <p:nvPr/>
        </p:nvSpPr>
        <p:spPr>
          <a:xfrm>
            <a:off x="548640" y="2194560"/>
            <a:ext cx="2011680" cy="822960"/>
          </a:xfrm>
          <a:prstGeom prst="roundRect">
            <a:avLst>
              <a:gd name="adj" fmla="val 50000"/>
            </a:avLst>
          </a:prstGeom>
          <a:solidFill>
            <a:schemeClr val="bg2"/>
          </a:solidFill>
          <a:ln/>
        </p:spPr>
      </p:sp>
      <p:sp>
        <p:nvSpPr>
          <p:cNvPr id="4" name="Text 2"/>
          <p:cNvSpPr txBox="1"/>
          <p:nvPr/>
        </p:nvSpPr>
        <p:spPr>
          <a:xfrm>
            <a:off x="548640" y="2194560"/>
            <a:ext cx="2011680" cy="822960"/>
          </a:xfrm>
          <a:prstGeom prst="rect">
            <a:avLst/>
          </a:prstGeom>
          <a:noFill/>
          <a:ln/>
        </p:spPr>
        <p:txBody>
          <a:bodyPr wrap="square" lIns="0" tIns="0" rIns="0" bIns="0" rtlCol="0" anchor="ctr"/>
          <a:lstStyle/>
          <a:p>
            <a:pPr algn="ctr" indent="0" marL="0">
              <a:buNone/>
            </a:pPr>
            <a:r>
              <a:rPr lang="en-US" sz="1600" b="1" dirty="0">
                <a:solidFill>
                  <a:schemeClr val="tx2"/>
                </a:solidFill>
              </a:rPr>
              <a:t>No vault</a:t>
            </a:r>
            <a:endParaRPr lang="en-US" sz="1600" dirty="0"/>
          </a:p>
        </p:txBody>
      </p:sp>
      <p:sp>
        <p:nvSpPr>
          <p:cNvPr id="5" name="state Armed"/>
          <p:cNvSpPr/>
          <p:nvPr/>
        </p:nvSpPr>
        <p:spPr>
          <a:xfrm>
            <a:off x="3931920" y="2194560"/>
            <a:ext cx="2011680" cy="822960"/>
          </a:xfrm>
          <a:prstGeom prst="roundRect">
            <a:avLst>
              <a:gd name="adj" fmla="val 50000"/>
            </a:avLst>
          </a:prstGeom>
          <a:solidFill>
            <a:schemeClr val="accent1"/>
          </a:solidFill>
          <a:ln/>
        </p:spPr>
      </p:sp>
      <p:sp>
        <p:nvSpPr>
          <p:cNvPr id="6" name="Text 4"/>
          <p:cNvSpPr txBox="1"/>
          <p:nvPr/>
        </p:nvSpPr>
        <p:spPr>
          <a:xfrm>
            <a:off x="3931920" y="2194560"/>
            <a:ext cx="2011680" cy="822960"/>
          </a:xfrm>
          <a:prstGeom prst="rect">
            <a:avLst/>
          </a:prstGeom>
          <a:noFill/>
          <a:ln/>
        </p:spPr>
        <p:txBody>
          <a:bodyPr wrap="square" lIns="0" tIns="0" rIns="0" bIns="0" rtlCol="0" anchor="ctr"/>
          <a:lstStyle/>
          <a:p>
            <a:pPr algn="ctr" indent="0" marL="0">
              <a:buNone/>
            </a:pPr>
            <a:r>
              <a:rPr lang="en-US" sz="1600" b="1" dirty="0">
                <a:solidFill>
                  <a:schemeClr val="bg1"/>
                </a:solidFill>
              </a:rPr>
              <a:t>Armed</a:t>
            </a:r>
            <a:endParaRPr lang="en-US" sz="1600" dirty="0"/>
          </a:p>
        </p:txBody>
      </p:sp>
      <p:sp>
        <p:nvSpPr>
          <p:cNvPr id="7" name="state Released"/>
          <p:cNvSpPr/>
          <p:nvPr/>
        </p:nvSpPr>
        <p:spPr>
          <a:xfrm>
            <a:off x="7863840" y="1371600"/>
            <a:ext cx="2011680" cy="822960"/>
          </a:xfrm>
          <a:prstGeom prst="roundRect">
            <a:avLst>
              <a:gd name="adj" fmla="val 50000"/>
            </a:avLst>
          </a:prstGeom>
          <a:solidFill>
            <a:schemeClr val="accent4"/>
          </a:solidFill>
          <a:ln/>
        </p:spPr>
      </p:sp>
      <p:sp>
        <p:nvSpPr>
          <p:cNvPr id="8" name="Text 6"/>
          <p:cNvSpPr txBox="1"/>
          <p:nvPr/>
        </p:nvSpPr>
        <p:spPr>
          <a:xfrm>
            <a:off x="7863840" y="1371600"/>
            <a:ext cx="2011680" cy="822960"/>
          </a:xfrm>
          <a:prstGeom prst="rect">
            <a:avLst/>
          </a:prstGeom>
          <a:noFill/>
          <a:ln/>
        </p:spPr>
        <p:txBody>
          <a:bodyPr wrap="square" lIns="0" tIns="0" rIns="0" bIns="0" rtlCol="0" anchor="ctr"/>
          <a:lstStyle/>
          <a:p>
            <a:pPr algn="ctr" indent="0" marL="0">
              <a:buNone/>
            </a:pPr>
            <a:r>
              <a:rPr lang="en-US" sz="1600" b="1" dirty="0">
                <a:solidFill>
                  <a:schemeClr val="bg1"/>
                </a:solidFill>
              </a:rPr>
              <a:t>Released</a:t>
            </a:r>
            <a:endParaRPr lang="en-US" sz="1600" dirty="0"/>
          </a:p>
        </p:txBody>
      </p:sp>
      <p:sp>
        <p:nvSpPr>
          <p:cNvPr id="9" name="state Cancelled"/>
          <p:cNvSpPr/>
          <p:nvPr/>
        </p:nvSpPr>
        <p:spPr>
          <a:xfrm>
            <a:off x="7863840" y="3063240"/>
            <a:ext cx="2011680" cy="822960"/>
          </a:xfrm>
          <a:prstGeom prst="roundRect">
            <a:avLst>
              <a:gd name="adj" fmla="val 50000"/>
            </a:avLst>
          </a:prstGeom>
          <a:solidFill>
            <a:schemeClr val="accent6"/>
          </a:solidFill>
          <a:ln/>
        </p:spPr>
      </p:sp>
      <p:sp>
        <p:nvSpPr>
          <p:cNvPr id="10" name="Text 8"/>
          <p:cNvSpPr txBox="1"/>
          <p:nvPr/>
        </p:nvSpPr>
        <p:spPr>
          <a:xfrm>
            <a:off x="7863840" y="3063240"/>
            <a:ext cx="2011680" cy="822960"/>
          </a:xfrm>
          <a:prstGeom prst="rect">
            <a:avLst/>
          </a:prstGeom>
          <a:noFill/>
          <a:ln/>
        </p:spPr>
        <p:txBody>
          <a:bodyPr wrap="square" lIns="0" tIns="0" rIns="0" bIns="0" rtlCol="0" anchor="ctr"/>
          <a:lstStyle/>
          <a:p>
            <a:pPr algn="ctr" indent="0" marL="0">
              <a:buNone/>
            </a:pPr>
            <a:r>
              <a:rPr lang="en-US" sz="1600" b="1" dirty="0">
                <a:solidFill>
                  <a:schemeClr val="bg1"/>
                </a:solidFill>
              </a:rPr>
              <a:t>Cancelled</a:t>
            </a:r>
            <a:endParaRPr lang="en-US" sz="1600" dirty="0"/>
          </a:p>
        </p:txBody>
      </p:sp>
      <p:sp>
        <p:nvSpPr>
          <p:cNvPr id="11" name="connector"/>
          <p:cNvSpPr/>
          <p:nvPr/>
        </p:nvSpPr>
        <p:spPr>
          <a:xfrm>
            <a:off x="2560320" y="2606040"/>
            <a:ext cx="1371600" cy="0"/>
          </a:xfrm>
          <a:prstGeom prst="line">
            <a:avLst/>
          </a:prstGeom>
          <a:noFill/>
          <a:ln w="25400">
            <a:solidFill>
              <a:schemeClr val="accent6"/>
            </a:solidFill>
            <a:prstDash val="solid"/>
            <a:tailEnd type="triangle"/>
          </a:ln>
        </p:spPr>
      </p:sp>
      <p:sp>
        <p:nvSpPr>
          <p:cNvPr id="12" name="Text 10"/>
          <p:cNvSpPr txBox="1"/>
          <p:nvPr/>
        </p:nvSpPr>
        <p:spPr>
          <a:xfrm>
            <a:off x="2560320" y="2194560"/>
            <a:ext cx="1371600" cy="365760"/>
          </a:xfrm>
          <a:prstGeom prst="rect">
            <a:avLst/>
          </a:prstGeom>
          <a:noFill/>
          <a:ln/>
        </p:spPr>
        <p:txBody>
          <a:bodyPr wrap="square" lIns="0" tIns="0" rIns="0" bIns="0" rtlCol="0" anchor="t"/>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register()  payable</a:t>
            </a:r>
            <a:endParaRPr lang="en-US" sz="1100" dirty="0"/>
          </a:p>
        </p:txBody>
      </p:sp>
      <p:sp>
        <p:nvSpPr>
          <p:cNvPr id="13" name="connector"/>
          <p:cNvSpPr/>
          <p:nvPr/>
        </p:nvSpPr>
        <p:spPr>
          <a:xfrm flipV="1">
            <a:off x="5943600" y="1783080"/>
            <a:ext cx="1920240" cy="640080"/>
          </a:xfrm>
          <a:prstGeom prst="line">
            <a:avLst/>
          </a:prstGeom>
          <a:noFill/>
          <a:ln w="25400">
            <a:solidFill>
              <a:schemeClr val="accent4"/>
            </a:solidFill>
            <a:prstDash val="solid"/>
            <a:tailEnd type="triangle"/>
          </a:ln>
        </p:spPr>
      </p:sp>
      <p:sp>
        <p:nvSpPr>
          <p:cNvPr id="14" name="Text 12"/>
          <p:cNvSpPr txBox="1"/>
          <p:nvPr/>
        </p:nvSpPr>
        <p:spPr>
          <a:xfrm>
            <a:off x="10012680" y="1325880"/>
            <a:ext cx="1645920" cy="91440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releaseFunds(owner)</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now ≥ lastPing + timeout</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any caller</a:t>
            </a:r>
            <a:endParaRPr lang="en-US" sz="1100" dirty="0"/>
          </a:p>
        </p:txBody>
      </p:sp>
      <p:sp>
        <p:nvSpPr>
          <p:cNvPr id="15" name="connector"/>
          <p:cNvSpPr/>
          <p:nvPr/>
        </p:nvSpPr>
        <p:spPr>
          <a:xfrm>
            <a:off x="5943600" y="2788920"/>
            <a:ext cx="1920240" cy="685800"/>
          </a:xfrm>
          <a:prstGeom prst="line">
            <a:avLst/>
          </a:prstGeom>
          <a:noFill/>
          <a:ln w="25400">
            <a:solidFill>
              <a:schemeClr val="accent6"/>
            </a:solidFill>
            <a:prstDash val="solid"/>
            <a:tailEnd type="triangle"/>
          </a:ln>
        </p:spPr>
      </p:sp>
      <p:sp>
        <p:nvSpPr>
          <p:cNvPr id="16" name="Text 14"/>
          <p:cNvSpPr txBox="1"/>
          <p:nvPr/>
        </p:nvSpPr>
        <p:spPr>
          <a:xfrm>
            <a:off x="10012680" y="3154680"/>
            <a:ext cx="1645920" cy="64008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cancelAndWithdraw()</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owner only, refund</a:t>
            </a:r>
            <a:endParaRPr lang="en-US" sz="1100" dirty="0"/>
          </a:p>
        </p:txBody>
      </p:sp>
      <p:sp>
        <p:nvSpPr>
          <p:cNvPr id="17" name="self loop"/>
          <p:cNvSpPr/>
          <p:nvPr/>
        </p:nvSpPr>
        <p:spPr>
          <a:xfrm>
            <a:off x="4434840" y="2606040"/>
            <a:ext cx="1005840" cy="1005840"/>
          </a:xfrm>
          <a:prstGeom prst="arc">
            <a:avLst>
              <a:gd name="adj1" fmla="val 0"/>
              <a:gd name="adj2" fmla="val 10800000"/>
            </a:avLst>
          </a:prstGeom>
          <a:noFill/>
          <a:ln w="19050">
            <a:solidFill>
              <a:schemeClr val="accent1"/>
            </a:solidFill>
            <a:prstDash val="solid"/>
            <a:tailEnd type="triangle"/>
          </a:ln>
        </p:spPr>
      </p:sp>
      <p:sp>
        <p:nvSpPr>
          <p:cNvPr id="18" name="Text 16"/>
          <p:cNvSpPr txBox="1"/>
          <p:nvPr/>
        </p:nvSpPr>
        <p:spPr>
          <a:xfrm>
            <a:off x="3749040" y="3657600"/>
            <a:ext cx="2377440" cy="320040"/>
          </a:xfrm>
          <a:prstGeom prst="rect">
            <a:avLst/>
          </a:prstGeom>
          <a:noFill/>
          <a:ln/>
        </p:spPr>
        <p:txBody>
          <a:bodyPr wrap="square" lIns="0" tIns="0" rIns="0" bIns="0" rtlCol="0" anchor="t"/>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ping() · deposit()</a:t>
            </a:r>
            <a:endParaRPr lang="en-US" sz="1100" dirty="0"/>
          </a:p>
        </p:txBody>
      </p:sp>
      <p:sp>
        <p:nvSpPr>
          <p:cNvPr id="19" name="Text 17"/>
          <p:cNvSpPr txBox="1"/>
          <p:nvPr/>
        </p:nvSpPr>
        <p:spPr>
          <a:xfrm>
            <a:off x="548640" y="3200400"/>
            <a:ext cx="3017520" cy="640080"/>
          </a:xfrm>
          <a:prstGeom prst="rect">
            <a:avLst/>
          </a:prstGeom>
          <a:noFill/>
          <a:ln/>
        </p:spPr>
        <p:txBody>
          <a:bodyPr wrap="square" lIns="0" tIns="0" rIns="0" bIns="0" rtlCol="0" anchor="t"/>
          <a:lstStyle/>
          <a:p>
            <a:pPr indent="0" marL="0">
              <a:buNone/>
            </a:pPr>
            <a:r>
              <a:rPr lang="en-US" sz="1200" i="1" dirty="0">
                <a:solidFill>
                  <a:schemeClr val="accent6"/>
                </a:solidFill>
              </a:rPr>
              <a:t>Re-registration is allowed once a vault is Released or Cancelled.</a:t>
            </a:r>
            <a:endParaRPr lang="en-US" sz="1200" dirty="0"/>
          </a:p>
        </p:txBody>
      </p:sp>
      <p:graphicFrame>
        <p:nvGraphicFramePr>
          <p:cNvPr id="12" name="function table"/>
          <p:cNvGraphicFramePr>
            <a:graphicFrameLocks noGrp="1"/>
          </p:cNvGraphicFramePr>
          <p:nvPr>
            <p:extLst>
              <p:ext uri="{D42A27DB-BD31-4B8C-83A1-F6EECF244321}">
                <p14:modId xmlns:p14="http://schemas.microsoft.com/office/powerpoint/2010/main" val="1579011935"/>
              </p:ext>
            </p:extLst>
          </p:nvPr>
        </p:nvGraphicFramePr>
        <p:xfrm>
          <a:off x="548640" y="4206240"/>
          <a:ext cx="11064240" cy="914400"/>
        </p:xfrm>
        <a:graphic>
          <a:graphicData uri="http://schemas.openxmlformats.org/drawingml/2006/table">
            <a:tbl>
              <a:tblPr/>
              <a:tblGrid>
                <a:gridCol w="2926080"/>
                <a:gridCol w="1828800"/>
                <a:gridCol w="6309360"/>
              </a:tblGrid>
              <a:tr h="274320">
                <a:tc>
                  <a:txBody>
                    <a:bodyPr/>
                    <a:lstStyle/>
                    <a:p>
                      <a:pPr indent="0" marL="0">
                        <a:buNone/>
                      </a:pPr>
                      <a:r>
                        <a:rPr lang="en-US" sz="1200" b="1" dirty="0">
                          <a:solidFill>
                            <a:schemeClr val="bg1"/>
                          </a:solidFill>
                        </a:rPr>
                        <a:t>Function</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Caller</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Effect</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register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anyone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Create vault, lock msg.value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ping</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owner</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lastPing = now</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deposit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owner</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amount += msg.value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cancelAndWithdraw</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owner</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Refund, mark cancelled</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releaseFunds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anyone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Pay beneficiary if due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27432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getVault / isDue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view</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Read state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Chainlink Automation: release without a server</a:t>
            </a:r>
            <a:endParaRPr lang="en-US" sz="3200" dirty="0"/>
          </a:p>
        </p:txBody>
      </p:sp>
      <p:sp>
        <p:nvSpPr>
          <p:cNvPr id="3" name="automation step"/>
          <p:cNvSpPr/>
          <p:nvPr/>
        </p:nvSpPr>
        <p:spPr>
          <a:xfrm>
            <a:off x="548640" y="1371600"/>
            <a:ext cx="2560320" cy="2971800"/>
          </a:xfrm>
          <a:prstGeom prst="roundRect">
            <a:avLst>
              <a:gd name="adj" fmla="val 2857"/>
            </a:avLst>
          </a:prstGeom>
          <a:solidFill>
            <a:schemeClr val="bg2"/>
          </a:solidFill>
          <a:ln/>
        </p:spPr>
      </p:sp>
      <p:sp>
        <p:nvSpPr>
          <p:cNvPr id="4" name="step circle"/>
          <p:cNvSpPr/>
          <p:nvPr/>
        </p:nvSpPr>
        <p:spPr>
          <a:xfrm>
            <a:off x="822960" y="1600200"/>
            <a:ext cx="640080" cy="640080"/>
          </a:xfrm>
          <a:prstGeom prst="ellipse">
            <a:avLst/>
          </a:prstGeom>
          <a:solidFill>
            <a:schemeClr val="accent3"/>
          </a:solidFill>
          <a:ln/>
        </p:spPr>
      </p:sp>
      <p:pic>
        <p:nvPicPr>
          <p:cNvPr id="5" name="step glyph"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822960" y="2377440"/>
            <a:ext cx="219456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checkUpkeep()</a:t>
            </a:r>
            <a:endParaRPr lang="en-US" sz="1500" dirty="0"/>
          </a:p>
        </p:txBody>
      </p:sp>
      <p:sp>
        <p:nvSpPr>
          <p:cNvPr id="7" name="Text 4"/>
          <p:cNvSpPr txBox="1"/>
          <p:nvPr/>
        </p:nvSpPr>
        <p:spPr>
          <a:xfrm>
            <a:off x="822960" y="2788920"/>
            <a:ext cx="2103120" cy="1463040"/>
          </a:xfrm>
          <a:prstGeom prst="rect">
            <a:avLst/>
          </a:prstGeom>
          <a:noFill/>
          <a:ln/>
        </p:spPr>
        <p:txBody>
          <a:bodyPr wrap="square" lIns="0" tIns="0" rIns="0" bIns="0" rtlCol="0" anchor="t"/>
          <a:lstStyle/>
          <a:p>
            <a:pPr indent="0" marL="0">
              <a:buNone/>
            </a:pPr>
            <a:r>
              <a:rPr lang="en-US" sz="1300" dirty="0">
                <a:solidFill>
                  <a:schemeClr val="tx1"/>
                </a:solidFill>
              </a:rPr>
              <a:t>Run off-chain by Automation nodes every block. Scans _owners for the first vault past its deadline.</a:t>
            </a:r>
            <a:endParaRPr lang="en-US" sz="1300" dirty="0"/>
          </a:p>
        </p:txBody>
      </p:sp>
      <p:sp>
        <p:nvSpPr>
          <p:cNvPr id="8" name="connector"/>
          <p:cNvSpPr/>
          <p:nvPr/>
        </p:nvSpPr>
        <p:spPr>
          <a:xfrm>
            <a:off x="3127248" y="2834640"/>
            <a:ext cx="237744" cy="0"/>
          </a:xfrm>
          <a:prstGeom prst="line">
            <a:avLst/>
          </a:prstGeom>
          <a:noFill/>
          <a:ln w="25400">
            <a:solidFill>
              <a:schemeClr val="accent3"/>
            </a:solidFill>
            <a:prstDash val="solid"/>
            <a:tailEnd type="triangle"/>
          </a:ln>
        </p:spPr>
      </p:sp>
      <p:sp>
        <p:nvSpPr>
          <p:cNvPr id="9" name="automation step"/>
          <p:cNvSpPr/>
          <p:nvPr/>
        </p:nvSpPr>
        <p:spPr>
          <a:xfrm>
            <a:off x="3383280" y="1371600"/>
            <a:ext cx="2560320" cy="2971800"/>
          </a:xfrm>
          <a:prstGeom prst="roundRect">
            <a:avLst>
              <a:gd name="adj" fmla="val 2857"/>
            </a:avLst>
          </a:prstGeom>
          <a:solidFill>
            <a:schemeClr val="bg2"/>
          </a:solidFill>
          <a:ln/>
        </p:spPr>
      </p:sp>
      <p:sp>
        <p:nvSpPr>
          <p:cNvPr id="10" name="step circle"/>
          <p:cNvSpPr/>
          <p:nvPr/>
        </p:nvSpPr>
        <p:spPr>
          <a:xfrm>
            <a:off x="3657600" y="1600200"/>
            <a:ext cx="640080" cy="640080"/>
          </a:xfrm>
          <a:prstGeom prst="ellipse">
            <a:avLst/>
          </a:prstGeom>
          <a:solidFill>
            <a:schemeClr val="accent3"/>
          </a:solidFill>
          <a:ln/>
        </p:spPr>
      </p:sp>
      <p:pic>
        <p:nvPicPr>
          <p:cNvPr id="11" name="step glyph" descr="preencoded.png">    </p:cNvPr>
          <p:cNvPicPr>
            <a:picLocks noChangeAspect="1"/>
          </p:cNvPicPr>
          <p:nvPr/>
        </p:nvPicPr>
        <p:blipFill>
          <a:blip r:embed="rId2"/>
          <a:stretch>
            <a:fillRect/>
          </a:stretch>
        </p:blipFill>
        <p:spPr>
          <a:xfrm>
            <a:off x="3811219" y="1753819"/>
            <a:ext cx="332842" cy="332842"/>
          </a:xfrm>
          <a:prstGeom prst="rect">
            <a:avLst/>
          </a:prstGeom>
        </p:spPr>
      </p:pic>
      <p:sp>
        <p:nvSpPr>
          <p:cNvPr id="12" name="Text 8"/>
          <p:cNvSpPr txBox="1"/>
          <p:nvPr/>
        </p:nvSpPr>
        <p:spPr>
          <a:xfrm>
            <a:off x="3657600" y="2377440"/>
            <a:ext cx="219456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performData</a:t>
            </a:r>
            <a:endParaRPr lang="en-US" sz="1500" dirty="0"/>
          </a:p>
        </p:txBody>
      </p:sp>
      <p:sp>
        <p:nvSpPr>
          <p:cNvPr id="13" name="Text 9"/>
          <p:cNvSpPr txBox="1"/>
          <p:nvPr/>
        </p:nvSpPr>
        <p:spPr>
          <a:xfrm>
            <a:off x="3657600" y="2788920"/>
            <a:ext cx="2103120" cy="1463040"/>
          </a:xfrm>
          <a:prstGeom prst="rect">
            <a:avLst/>
          </a:prstGeom>
          <a:noFill/>
          <a:ln/>
        </p:spPr>
        <p:txBody>
          <a:bodyPr wrap="square" lIns="0" tIns="0" rIns="0" bIns="0" rtlCol="0" anchor="t"/>
          <a:lstStyle/>
          <a:p>
            <a:pPr indent="0" marL="0">
              <a:buNone/>
            </a:pPr>
            <a:r>
              <a:rPr lang="en-US" sz="1300" dirty="0">
                <a:solidFill>
                  <a:schemeClr val="tx1"/>
                </a:solidFill>
              </a:rPr>
              <a:t>Returns (true, abi.encode(owner)) when a vault is due; (false, "") otherwise.</a:t>
            </a:r>
            <a:endParaRPr lang="en-US" sz="1300" dirty="0"/>
          </a:p>
        </p:txBody>
      </p:sp>
      <p:sp>
        <p:nvSpPr>
          <p:cNvPr id="14" name="connector"/>
          <p:cNvSpPr/>
          <p:nvPr/>
        </p:nvSpPr>
        <p:spPr>
          <a:xfrm>
            <a:off x="5961888" y="2834640"/>
            <a:ext cx="237744" cy="0"/>
          </a:xfrm>
          <a:prstGeom prst="line">
            <a:avLst/>
          </a:prstGeom>
          <a:noFill/>
          <a:ln w="25400">
            <a:solidFill>
              <a:schemeClr val="accent3"/>
            </a:solidFill>
            <a:prstDash val="solid"/>
            <a:tailEnd type="triangle"/>
          </a:ln>
        </p:spPr>
      </p:sp>
      <p:sp>
        <p:nvSpPr>
          <p:cNvPr id="15" name="automation step"/>
          <p:cNvSpPr/>
          <p:nvPr/>
        </p:nvSpPr>
        <p:spPr>
          <a:xfrm>
            <a:off x="6217920" y="1371600"/>
            <a:ext cx="2560320" cy="2971800"/>
          </a:xfrm>
          <a:prstGeom prst="roundRect">
            <a:avLst>
              <a:gd name="adj" fmla="val 2857"/>
            </a:avLst>
          </a:prstGeom>
          <a:solidFill>
            <a:schemeClr val="bg2"/>
          </a:solidFill>
          <a:ln/>
        </p:spPr>
      </p:sp>
      <p:sp>
        <p:nvSpPr>
          <p:cNvPr id="16" name="step circle"/>
          <p:cNvSpPr/>
          <p:nvPr/>
        </p:nvSpPr>
        <p:spPr>
          <a:xfrm>
            <a:off x="6492240" y="1600200"/>
            <a:ext cx="640080" cy="640080"/>
          </a:xfrm>
          <a:prstGeom prst="ellipse">
            <a:avLst/>
          </a:prstGeom>
          <a:solidFill>
            <a:schemeClr val="accent3"/>
          </a:solidFill>
          <a:ln/>
        </p:spPr>
      </p:sp>
      <p:pic>
        <p:nvPicPr>
          <p:cNvPr id="17" name="step glyph" descr="preencoded.png">    </p:cNvPr>
          <p:cNvPicPr>
            <a:picLocks noChangeAspect="1"/>
          </p:cNvPicPr>
          <p:nvPr/>
        </p:nvPicPr>
        <p:blipFill>
          <a:blip r:embed="rId3"/>
          <a:stretch>
            <a:fillRect/>
          </a:stretch>
        </p:blipFill>
        <p:spPr>
          <a:xfrm>
            <a:off x="6645859" y="1753819"/>
            <a:ext cx="332842" cy="332842"/>
          </a:xfrm>
          <a:prstGeom prst="rect">
            <a:avLst/>
          </a:prstGeom>
        </p:spPr>
      </p:pic>
      <p:sp>
        <p:nvSpPr>
          <p:cNvPr id="18" name="Text 13"/>
          <p:cNvSpPr txBox="1"/>
          <p:nvPr/>
        </p:nvSpPr>
        <p:spPr>
          <a:xfrm>
            <a:off x="6492240" y="2377440"/>
            <a:ext cx="219456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performUpkeep()</a:t>
            </a:r>
            <a:endParaRPr lang="en-US" sz="1500" dirty="0"/>
          </a:p>
        </p:txBody>
      </p:sp>
      <p:sp>
        <p:nvSpPr>
          <p:cNvPr id="19" name="Text 14"/>
          <p:cNvSpPr txBox="1"/>
          <p:nvPr/>
        </p:nvSpPr>
        <p:spPr>
          <a:xfrm>
            <a:off x="6492240" y="2788920"/>
            <a:ext cx="2103120" cy="1463040"/>
          </a:xfrm>
          <a:prstGeom prst="rect">
            <a:avLst/>
          </a:prstGeom>
          <a:noFill/>
          <a:ln/>
        </p:spPr>
        <p:txBody>
          <a:bodyPr wrap="square" lIns="0" tIns="0" rIns="0" bIns="0" rtlCol="0" anchor="t"/>
          <a:lstStyle/>
          <a:p>
            <a:pPr indent="0" marL="0">
              <a:buNone/>
            </a:pPr>
            <a:r>
              <a:rPr lang="en-US" sz="1300" dirty="0">
                <a:solidFill>
                  <a:schemeClr val="tx1"/>
                </a:solidFill>
              </a:rPr>
              <a:t>Submitted on-chain by the network. Decodes the owner and calls releaseFunds(owner).</a:t>
            </a:r>
            <a:endParaRPr lang="en-US" sz="1300" dirty="0"/>
          </a:p>
        </p:txBody>
      </p:sp>
      <p:sp>
        <p:nvSpPr>
          <p:cNvPr id="20" name="connector"/>
          <p:cNvSpPr/>
          <p:nvPr/>
        </p:nvSpPr>
        <p:spPr>
          <a:xfrm>
            <a:off x="8796528" y="2834640"/>
            <a:ext cx="237744" cy="0"/>
          </a:xfrm>
          <a:prstGeom prst="line">
            <a:avLst/>
          </a:prstGeom>
          <a:noFill/>
          <a:ln w="25400">
            <a:solidFill>
              <a:schemeClr val="accent3"/>
            </a:solidFill>
            <a:prstDash val="solid"/>
            <a:tailEnd type="triangle"/>
          </a:ln>
        </p:spPr>
      </p:sp>
      <p:sp>
        <p:nvSpPr>
          <p:cNvPr id="21" name="automation step"/>
          <p:cNvSpPr/>
          <p:nvPr/>
        </p:nvSpPr>
        <p:spPr>
          <a:xfrm>
            <a:off x="9052560" y="1371600"/>
            <a:ext cx="2560320" cy="2971800"/>
          </a:xfrm>
          <a:prstGeom prst="roundRect">
            <a:avLst>
              <a:gd name="adj" fmla="val 2857"/>
            </a:avLst>
          </a:prstGeom>
          <a:solidFill>
            <a:schemeClr val="bg2"/>
          </a:solidFill>
          <a:ln/>
        </p:spPr>
      </p:sp>
      <p:sp>
        <p:nvSpPr>
          <p:cNvPr id="22" name="step circle"/>
          <p:cNvSpPr/>
          <p:nvPr/>
        </p:nvSpPr>
        <p:spPr>
          <a:xfrm>
            <a:off x="9326880" y="1600200"/>
            <a:ext cx="640080" cy="640080"/>
          </a:xfrm>
          <a:prstGeom prst="ellipse">
            <a:avLst/>
          </a:prstGeom>
          <a:solidFill>
            <a:schemeClr val="accent4"/>
          </a:solidFill>
          <a:ln/>
        </p:spPr>
      </p:sp>
      <p:pic>
        <p:nvPicPr>
          <p:cNvPr id="23" name="step glyph" descr="preencoded.png">    </p:cNvPr>
          <p:cNvPicPr>
            <a:picLocks noChangeAspect="1"/>
          </p:cNvPicPr>
          <p:nvPr/>
        </p:nvPicPr>
        <p:blipFill>
          <a:blip r:embed="rId4"/>
          <a:stretch>
            <a:fillRect/>
          </a:stretch>
        </p:blipFill>
        <p:spPr>
          <a:xfrm>
            <a:off x="9480499" y="1753819"/>
            <a:ext cx="332842" cy="332842"/>
          </a:xfrm>
          <a:prstGeom prst="rect">
            <a:avLst/>
          </a:prstGeom>
        </p:spPr>
      </p:pic>
      <p:sp>
        <p:nvSpPr>
          <p:cNvPr id="24" name="Text 18"/>
          <p:cNvSpPr txBox="1"/>
          <p:nvPr/>
        </p:nvSpPr>
        <p:spPr>
          <a:xfrm>
            <a:off x="9326880" y="2377440"/>
            <a:ext cx="2194560" cy="36576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releaseFunds()</a:t>
            </a:r>
            <a:endParaRPr lang="en-US" sz="1500" dirty="0"/>
          </a:p>
        </p:txBody>
      </p:sp>
      <p:sp>
        <p:nvSpPr>
          <p:cNvPr id="25" name="Text 19"/>
          <p:cNvSpPr txBox="1"/>
          <p:nvPr/>
        </p:nvSpPr>
        <p:spPr>
          <a:xfrm>
            <a:off x="9326880" y="2788920"/>
            <a:ext cx="2103120" cy="1463040"/>
          </a:xfrm>
          <a:prstGeom prst="rect">
            <a:avLst/>
          </a:prstGeom>
          <a:noFill/>
          <a:ln/>
        </p:spPr>
        <p:txBody>
          <a:bodyPr wrap="square" lIns="0" tIns="0" rIns="0" bIns="0" rtlCol="0" anchor="t"/>
          <a:lstStyle/>
          <a:p>
            <a:pPr indent="0" marL="0">
              <a:buNone/>
            </a:pPr>
            <a:r>
              <a:rPr lang="en-US" sz="1300" dirty="0">
                <a:solidFill>
                  <a:schemeClr val="tx1"/>
                </a:solidFill>
              </a:rPr>
              <a:t>Re-checks the deadline, zeroes amount, sets released, pays the beneficiary, emits Released.</a:t>
            </a:r>
            <a:endParaRPr lang="en-US" sz="1300" dirty="0"/>
          </a:p>
        </p:txBody>
      </p:sp>
      <p:sp>
        <p:nvSpPr>
          <p:cNvPr id="26" name="fallback note"/>
          <p:cNvSpPr/>
          <p:nvPr/>
        </p:nvSpPr>
        <p:spPr>
          <a:xfrm>
            <a:off x="548640" y="4617720"/>
            <a:ext cx="5394960" cy="1463040"/>
          </a:xfrm>
          <a:prstGeom prst="roundRect">
            <a:avLst>
              <a:gd name="adj" fmla="val 5000"/>
            </a:avLst>
          </a:prstGeom>
          <a:solidFill>
            <a:schemeClr val="tx2"/>
          </a:solidFill>
          <a:ln/>
        </p:spPr>
      </p:sp>
      <p:sp>
        <p:nvSpPr>
          <p:cNvPr id="27" name="Text 21"/>
          <p:cNvSpPr txBox="1"/>
          <p:nvPr/>
        </p:nvSpPr>
        <p:spPr>
          <a:xfrm>
            <a:off x="777240" y="4754880"/>
            <a:ext cx="4937760" cy="1188720"/>
          </a:xfrm>
          <a:prstGeom prst="rect">
            <a:avLst/>
          </a:prstGeom>
          <a:noFill/>
          <a:ln/>
        </p:spPr>
        <p:txBody>
          <a:bodyPr wrap="square" lIns="0" tIns="0" rIns="0" bIns="0" rtlCol="0" anchor="t"/>
          <a:lstStyle/>
          <a:p>
            <a:pPr indent="0" marL="0">
              <a:buNone/>
            </a:pPr>
            <a:r>
              <a:rPr lang="en-US" sz="1400" b="1" dirty="0">
                <a:solidFill>
                  <a:schemeClr val="accent2"/>
                </a:solidFill>
              </a:rPr>
              <a:t>Manual fallback</a:t>
            </a:r>
            <a:endParaRPr lang="en-US" sz="1400" dirty="0"/>
          </a:p>
          <a:p>
            <a:pPr indent="0" marL="0">
              <a:buNone/>
            </a:pPr>
            <a:r>
              <a:rPr lang="en-US" sz="1400" dirty="0">
                <a:solidFill>
                  <a:schemeClr val="bg1"/>
                </a:solidFill>
              </a:rPr>
              <a:t>releaseFunds is public, so the beneficiary's "Trigger release" button works even if no upkeep is registered.</a:t>
            </a:r>
            <a:endParaRPr lang="en-US" sz="1400" dirty="0"/>
          </a:p>
        </p:txBody>
      </p:sp>
      <p:sp>
        <p:nvSpPr>
          <p:cNvPr id="28" name="safety note"/>
          <p:cNvSpPr/>
          <p:nvPr/>
        </p:nvSpPr>
        <p:spPr>
          <a:xfrm>
            <a:off x="6217920" y="4617720"/>
            <a:ext cx="5394960" cy="1463040"/>
          </a:xfrm>
          <a:prstGeom prst="roundRect">
            <a:avLst>
              <a:gd name="adj" fmla="val 5000"/>
            </a:avLst>
          </a:prstGeom>
          <a:solidFill>
            <a:schemeClr val="bg2"/>
          </a:solidFill>
          <a:ln/>
        </p:spPr>
      </p:sp>
      <p:sp>
        <p:nvSpPr>
          <p:cNvPr id="29" name="Text 23"/>
          <p:cNvSpPr txBox="1"/>
          <p:nvPr/>
        </p:nvSpPr>
        <p:spPr>
          <a:xfrm>
            <a:off x="6446520" y="4754880"/>
            <a:ext cx="4937760" cy="1188720"/>
          </a:xfrm>
          <a:prstGeom prst="rect">
            <a:avLst/>
          </a:prstGeom>
          <a:noFill/>
          <a:ln/>
        </p:spPr>
        <p:txBody>
          <a:bodyPr wrap="square" lIns="0" tIns="0" rIns="0" bIns="0" rtlCol="0" anchor="t"/>
          <a:lstStyle/>
          <a:p>
            <a:pPr indent="0" marL="0">
              <a:buNone/>
            </a:pPr>
            <a:r>
              <a:rPr lang="en-US" sz="1400" b="1" dirty="0">
                <a:solidFill>
                  <a:schemeClr val="accent1"/>
                </a:solidFill>
              </a:rPr>
              <a:t>Why a permissionless performUpkeep is safe</a:t>
            </a:r>
            <a:endParaRPr lang="en-US" sz="1400" dirty="0"/>
          </a:p>
          <a:p>
            <a:pPr indent="0" marL="0">
              <a:buNone/>
            </a:pPr>
            <a:r>
              <a:rPr lang="en-US" sz="1400" dirty="0">
                <a:solidFill>
                  <a:schemeClr val="tx1"/>
                </a:solidFill>
              </a:rPr>
              <a:t>Any caller can submit any performData, but releaseFunds reverts with NotDue until the deadline, so nobody can release early.</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Events, errors and safety patterns</a:t>
            </a:r>
            <a:endParaRPr lang="en-US" sz="3200" dirty="0"/>
          </a:p>
        </p:txBody>
      </p:sp>
      <p:sp>
        <p:nvSpPr>
          <p:cNvPr id="3" name="Events (indexed)"/>
          <p:cNvSpPr/>
          <p:nvPr/>
        </p:nvSpPr>
        <p:spPr>
          <a:xfrm>
            <a:off x="548640" y="1371600"/>
            <a:ext cx="3474720" cy="4709160"/>
          </a:xfrm>
          <a:prstGeom prst="roundRect">
            <a:avLst>
              <a:gd name="adj" fmla="val 2105"/>
            </a:avLst>
          </a:prstGeom>
          <a:solidFill>
            <a:schemeClr val="bg2"/>
          </a:solidFill>
          <a:ln/>
        </p:spPr>
      </p:sp>
      <p:sp>
        <p:nvSpPr>
          <p:cNvPr id="4" name="Text 2"/>
          <p:cNvSpPr txBox="1"/>
          <p:nvPr/>
        </p:nvSpPr>
        <p:spPr>
          <a:xfrm>
            <a:off x="822960" y="1554480"/>
            <a:ext cx="2926080" cy="411480"/>
          </a:xfrm>
          <a:prstGeom prst="rect">
            <a:avLst/>
          </a:prstGeom>
          <a:noFill/>
          <a:ln/>
        </p:spPr>
        <p:txBody>
          <a:bodyPr wrap="square" lIns="0" tIns="0" rIns="0" bIns="0" rtlCol="0" anchor="t"/>
          <a:lstStyle/>
          <a:p>
            <a:pPr indent="0" marL="0">
              <a:buNone/>
            </a:pPr>
            <a:r>
              <a:rPr lang="en-US" sz="1800" b="1" dirty="0">
                <a:solidFill>
                  <a:schemeClr val="tx2"/>
                </a:solidFill>
              </a:rPr>
              <a:t>Events (indexed)</a:t>
            </a:r>
            <a:endParaRPr lang="en-US" sz="1800" dirty="0"/>
          </a:p>
        </p:txBody>
      </p:sp>
      <p:sp>
        <p:nvSpPr>
          <p:cNvPr id="5" name="Text 3"/>
          <p:cNvSpPr txBox="1"/>
          <p:nvPr/>
        </p:nvSpPr>
        <p:spPr>
          <a:xfrm>
            <a:off x="822960" y="2103120"/>
            <a:ext cx="2971800" cy="384048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VaultRegistered(owner, beneficiary, amount, timeout, cid)</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Heartbeat(owner, at)</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Deposited(owner, amount)</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Released(owner, beneficiary, amount)</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Cancelled(owner, refunded)</a:t>
            </a:r>
            <a:endParaRPr lang="en-US" sz="1250" dirty="0"/>
          </a:p>
        </p:txBody>
      </p:sp>
      <p:sp>
        <p:nvSpPr>
          <p:cNvPr id="6" name="Custom errors"/>
          <p:cNvSpPr/>
          <p:nvPr/>
        </p:nvSpPr>
        <p:spPr>
          <a:xfrm>
            <a:off x="4297680" y="1371600"/>
            <a:ext cx="3474720" cy="4709160"/>
          </a:xfrm>
          <a:prstGeom prst="roundRect">
            <a:avLst>
              <a:gd name="adj" fmla="val 2105"/>
            </a:avLst>
          </a:prstGeom>
          <a:solidFill>
            <a:schemeClr val="bg2"/>
          </a:solidFill>
          <a:ln/>
        </p:spPr>
      </p:sp>
      <p:sp>
        <p:nvSpPr>
          <p:cNvPr id="7" name="Text 5"/>
          <p:cNvSpPr txBox="1"/>
          <p:nvPr/>
        </p:nvSpPr>
        <p:spPr>
          <a:xfrm>
            <a:off x="4572000" y="1554480"/>
            <a:ext cx="2926080" cy="411480"/>
          </a:xfrm>
          <a:prstGeom prst="rect">
            <a:avLst/>
          </a:prstGeom>
          <a:noFill/>
          <a:ln/>
        </p:spPr>
        <p:txBody>
          <a:bodyPr wrap="square" lIns="0" tIns="0" rIns="0" bIns="0" rtlCol="0" anchor="t"/>
          <a:lstStyle/>
          <a:p>
            <a:pPr indent="0" marL="0">
              <a:buNone/>
            </a:pPr>
            <a:r>
              <a:rPr lang="en-US" sz="1800" b="1" dirty="0">
                <a:solidFill>
                  <a:schemeClr val="tx2"/>
                </a:solidFill>
              </a:rPr>
              <a:t>Custom errors</a:t>
            </a:r>
            <a:endParaRPr lang="en-US" sz="1800" dirty="0"/>
          </a:p>
        </p:txBody>
      </p:sp>
      <p:sp>
        <p:nvSpPr>
          <p:cNvPr id="8" name="Text 6"/>
          <p:cNvSpPr txBox="1"/>
          <p:nvPr/>
        </p:nvSpPr>
        <p:spPr>
          <a:xfrm>
            <a:off x="4572000" y="2103120"/>
            <a:ext cx="2971800" cy="384048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VaultExists · NoVault · NotOwner</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Inactive · BadTimeout</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BadBeneficiary · NotDue</a:t>
            </a:r>
            <a:endParaRPr lang="en-US" sz="1250" dirty="0"/>
          </a:p>
          <a:p>
            <a:pPr marL="177800" indent="-177800">
              <a:spcAft>
                <a:spcPts val="1000"/>
              </a:spcAft>
              <a:buSzPct val="100000"/>
              <a:buChar char="•"/>
            </a:pPr>
            <a:r>
              <a:rPr lang="en-US" sz="1250" dirty="0">
                <a:solidFill>
                  <a:schemeClr val="tx1"/>
                </a:solidFill>
                <a:latin typeface="Courier New" pitchFamily="34" charset="0"/>
                <a:ea typeface="Courier New" pitchFamily="34" charset="-122"/>
                <a:cs typeface="Courier New" pitchFamily="34" charset="-120"/>
              </a:rPr>
              <a:t>TransferFailed</a:t>
            </a:r>
            <a:endParaRPr lang="en-US" sz="1250" dirty="0"/>
          </a:p>
        </p:txBody>
      </p:sp>
      <p:sp>
        <p:nvSpPr>
          <p:cNvPr id="9" name="Safety patterns"/>
          <p:cNvSpPr/>
          <p:nvPr/>
        </p:nvSpPr>
        <p:spPr>
          <a:xfrm>
            <a:off x="8046720" y="1371600"/>
            <a:ext cx="3474720" cy="4709160"/>
          </a:xfrm>
          <a:prstGeom prst="roundRect">
            <a:avLst>
              <a:gd name="adj" fmla="val 2105"/>
            </a:avLst>
          </a:prstGeom>
          <a:solidFill>
            <a:schemeClr val="tx2"/>
          </a:solidFill>
          <a:ln/>
        </p:spPr>
      </p:sp>
      <p:sp>
        <p:nvSpPr>
          <p:cNvPr id="10" name="Text 8"/>
          <p:cNvSpPr txBox="1"/>
          <p:nvPr/>
        </p:nvSpPr>
        <p:spPr>
          <a:xfrm>
            <a:off x="8321040" y="1554480"/>
            <a:ext cx="2926080" cy="411480"/>
          </a:xfrm>
          <a:prstGeom prst="rect">
            <a:avLst/>
          </a:prstGeom>
          <a:noFill/>
          <a:ln/>
        </p:spPr>
        <p:txBody>
          <a:bodyPr wrap="square" lIns="0" tIns="0" rIns="0" bIns="0" rtlCol="0" anchor="t"/>
          <a:lstStyle/>
          <a:p>
            <a:pPr indent="0" marL="0">
              <a:buNone/>
            </a:pPr>
            <a:r>
              <a:rPr lang="en-US" sz="1800" b="1" dirty="0">
                <a:solidFill>
                  <a:schemeClr val="accent2"/>
                </a:solidFill>
              </a:rPr>
              <a:t>Safety patterns</a:t>
            </a:r>
            <a:endParaRPr lang="en-US" sz="1800" dirty="0"/>
          </a:p>
        </p:txBody>
      </p:sp>
      <p:sp>
        <p:nvSpPr>
          <p:cNvPr id="11" name="Text 9"/>
          <p:cNvSpPr txBox="1"/>
          <p:nvPr/>
        </p:nvSpPr>
        <p:spPr>
          <a:xfrm>
            <a:off x="8321040" y="2103120"/>
            <a:ext cx="2971800" cy="38404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Checks-effects-interactions: amount zeroed and flags set before the ETH call</a:t>
            </a:r>
            <a:endParaRPr lang="en-US" sz="1400" dirty="0"/>
          </a:p>
          <a:p>
            <a:pPr marL="177800" indent="-177800">
              <a:spcAft>
                <a:spcPts val="1000"/>
              </a:spcAft>
              <a:buSzPct val="100000"/>
              <a:buChar char="•"/>
            </a:pPr>
            <a:r>
              <a:rPr lang="en-US" sz="1400" dirty="0">
                <a:solidFill>
                  <a:schemeClr val="bg1"/>
                </a:solidFill>
              </a:rPr>
              <a:t>Low-level call with explicit revert on failure</a:t>
            </a:r>
            <a:endParaRPr lang="en-US" sz="1400" dirty="0"/>
          </a:p>
          <a:p>
            <a:pPr marL="177800" indent="-177800">
              <a:spcAft>
                <a:spcPts val="1000"/>
              </a:spcAft>
              <a:buSzPct val="100000"/>
              <a:buChar char="•"/>
            </a:pPr>
            <a:r>
              <a:rPr lang="en-US" sz="1400" dirty="0">
                <a:solidFill>
                  <a:schemeClr val="bg1"/>
                </a:solidFill>
              </a:rPr>
              <a:t>No admin, owner or upgrade keys</a:t>
            </a:r>
            <a:endParaRPr lang="en-US" sz="1400" dirty="0"/>
          </a:p>
          <a:p>
            <a:pPr marL="177800" indent="-177800">
              <a:spcAft>
                <a:spcPts val="1000"/>
              </a:spcAft>
              <a:buSzPct val="100000"/>
              <a:buChar char="•"/>
            </a:pPr>
            <a:r>
              <a:rPr lang="en-US" sz="1400" dirty="0">
                <a:solidFill>
                  <a:schemeClr val="bg1"/>
                </a:solidFill>
              </a:rPr>
              <a:t>Custom errors are cheaper than revert strings</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lstStyle/>
          <a:p>
            <a:pPr indent="0" marL="0">
              <a:buNone/>
            </a:pPr>
            <a:r>
              <a:rPr lang="en-US" sz="9600" dirty="0">
                <a:solidFill>
                  <a:schemeClr val="accent2"/>
                </a:solidFill>
                <a:latin typeface="Cambria" pitchFamily="34" charset="0"/>
                <a:ea typeface="Cambria" pitchFamily="34" charset="-122"/>
                <a:cs typeface="Cambria" pitchFamily="34" charset="-120"/>
              </a:rPr>
              <a:t>03</a:t>
            </a: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Cryptography &amp; storage</a:t>
            </a: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1800" dirty="0">
                <a:solidFill>
                  <a:schemeClr val="accent2"/>
                </a:solidFill>
              </a:rPr>
              <a:t>The secret is encrypted before it leaves the tab. IPFS stores the ciphertext, the chain stores the CID, and Supabase stores an index.</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Encryption pipeline (owner side)</a:t>
            </a:r>
            <a:endParaRPr lang="en-US" sz="3200" dirty="0"/>
          </a:p>
        </p:txBody>
      </p:sp>
      <p:sp>
        <p:nvSpPr>
          <p:cNvPr id="3" name="pipeline step"/>
          <p:cNvSpPr/>
          <p:nvPr/>
        </p:nvSpPr>
        <p:spPr>
          <a:xfrm>
            <a:off x="548640" y="1371600"/>
            <a:ext cx="1691640" cy="2240280"/>
          </a:xfrm>
          <a:prstGeom prst="roundRect">
            <a:avLst>
              <a:gd name="adj" fmla="val 4324"/>
            </a:avLst>
          </a:prstGeom>
          <a:solidFill>
            <a:schemeClr val="bg2"/>
          </a:solidFill>
          <a:ln/>
        </p:spPr>
      </p:sp>
      <p:sp>
        <p:nvSpPr>
          <p:cNvPr id="4" name="icon circle"/>
          <p:cNvSpPr/>
          <p:nvPr/>
        </p:nvSpPr>
        <p:spPr>
          <a:xfrm>
            <a:off x="1051560" y="1554480"/>
            <a:ext cx="685800" cy="685800"/>
          </a:xfrm>
          <a:prstGeom prst="ellipse">
            <a:avLst/>
          </a:prstGeom>
          <a:solidFill>
            <a:schemeClr val="accent1"/>
          </a:solidFill>
          <a:ln/>
        </p:spPr>
      </p:sp>
      <p:pic>
        <p:nvPicPr>
          <p:cNvPr id="5" name="icon glyph" descr="preencoded.png">    </p:cNvPr>
          <p:cNvPicPr>
            <a:picLocks noChangeAspect="1"/>
          </p:cNvPicPr>
          <p:nvPr/>
        </p:nvPicPr>
        <p:blipFill>
          <a:blip r:embed="rId1"/>
          <a:stretch>
            <a:fillRect/>
          </a:stretch>
        </p:blipFill>
        <p:spPr>
          <a:xfrm>
            <a:off x="1216152" y="1719072"/>
            <a:ext cx="356616" cy="356616"/>
          </a:xfrm>
          <a:prstGeom prst="rect">
            <a:avLst/>
          </a:prstGeom>
        </p:spPr>
      </p:pic>
      <p:sp>
        <p:nvSpPr>
          <p:cNvPr id="6" name="Text 3"/>
          <p:cNvSpPr txBox="1"/>
          <p:nvPr/>
        </p:nvSpPr>
        <p:spPr>
          <a:xfrm>
            <a:off x="64008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Secret + passphrase</a:t>
            </a:r>
            <a:endParaRPr lang="en-US" sz="1400" dirty="0"/>
          </a:p>
        </p:txBody>
      </p:sp>
      <p:sp>
        <p:nvSpPr>
          <p:cNvPr id="7" name="Text 4"/>
          <p:cNvSpPr txBox="1"/>
          <p:nvPr/>
        </p:nvSpPr>
        <p:spPr>
          <a:xfrm>
            <a:off x="64008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typed in SetupForm</a:t>
            </a:r>
            <a:endParaRPr lang="en-US" sz="1150" dirty="0"/>
          </a:p>
        </p:txBody>
      </p:sp>
      <p:sp>
        <p:nvSpPr>
          <p:cNvPr id="8" name="connector"/>
          <p:cNvSpPr/>
          <p:nvPr/>
        </p:nvSpPr>
        <p:spPr>
          <a:xfrm>
            <a:off x="2249424" y="2487168"/>
            <a:ext cx="164592" cy="0"/>
          </a:xfrm>
          <a:prstGeom prst="line">
            <a:avLst/>
          </a:prstGeom>
          <a:noFill/>
          <a:ln w="25400">
            <a:solidFill>
              <a:schemeClr val="accent1"/>
            </a:solidFill>
            <a:prstDash val="solid"/>
            <a:tailEnd type="triangle"/>
          </a:ln>
        </p:spPr>
      </p:sp>
      <p:sp>
        <p:nvSpPr>
          <p:cNvPr id="9" name="pipeline step"/>
          <p:cNvSpPr/>
          <p:nvPr/>
        </p:nvSpPr>
        <p:spPr>
          <a:xfrm>
            <a:off x="2423160" y="1371600"/>
            <a:ext cx="1691640" cy="2240280"/>
          </a:xfrm>
          <a:prstGeom prst="roundRect">
            <a:avLst>
              <a:gd name="adj" fmla="val 4324"/>
            </a:avLst>
          </a:prstGeom>
          <a:solidFill>
            <a:schemeClr val="bg2"/>
          </a:solidFill>
          <a:ln/>
        </p:spPr>
      </p:sp>
      <p:sp>
        <p:nvSpPr>
          <p:cNvPr id="10" name="icon circle"/>
          <p:cNvSpPr/>
          <p:nvPr/>
        </p:nvSpPr>
        <p:spPr>
          <a:xfrm>
            <a:off x="2926080" y="1554480"/>
            <a:ext cx="685800" cy="685800"/>
          </a:xfrm>
          <a:prstGeom prst="ellipse">
            <a:avLst/>
          </a:prstGeom>
          <a:solidFill>
            <a:schemeClr val="accent1"/>
          </a:solidFill>
          <a:ln/>
        </p:spPr>
      </p:sp>
      <p:pic>
        <p:nvPicPr>
          <p:cNvPr id="11" name="icon glyph" descr="preencoded.png">    </p:cNvPr>
          <p:cNvPicPr>
            <a:picLocks noChangeAspect="1"/>
          </p:cNvPicPr>
          <p:nvPr/>
        </p:nvPicPr>
        <p:blipFill>
          <a:blip r:embed="rId2"/>
          <a:stretch>
            <a:fillRect/>
          </a:stretch>
        </p:blipFill>
        <p:spPr>
          <a:xfrm>
            <a:off x="3090672" y="1719072"/>
            <a:ext cx="356616" cy="356616"/>
          </a:xfrm>
          <a:prstGeom prst="rect">
            <a:avLst/>
          </a:prstGeom>
        </p:spPr>
      </p:pic>
      <p:sp>
        <p:nvSpPr>
          <p:cNvPr id="12" name="Text 8"/>
          <p:cNvSpPr txBox="1"/>
          <p:nvPr/>
        </p:nvSpPr>
        <p:spPr>
          <a:xfrm>
            <a:off x="251460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PBKDF2-SHA256</a:t>
            </a:r>
            <a:endParaRPr lang="en-US" sz="1400" dirty="0"/>
          </a:p>
        </p:txBody>
      </p:sp>
      <p:sp>
        <p:nvSpPr>
          <p:cNvPr id="13" name="Text 9"/>
          <p:cNvSpPr txBox="1"/>
          <p:nvPr/>
        </p:nvSpPr>
        <p:spPr>
          <a:xfrm>
            <a:off x="251460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150,000 iterations, 16-byte random salt</a:t>
            </a:r>
            <a:endParaRPr lang="en-US" sz="1150" dirty="0"/>
          </a:p>
        </p:txBody>
      </p:sp>
      <p:sp>
        <p:nvSpPr>
          <p:cNvPr id="14" name="connector"/>
          <p:cNvSpPr/>
          <p:nvPr/>
        </p:nvSpPr>
        <p:spPr>
          <a:xfrm>
            <a:off x="4123944" y="2487168"/>
            <a:ext cx="164592" cy="0"/>
          </a:xfrm>
          <a:prstGeom prst="line">
            <a:avLst/>
          </a:prstGeom>
          <a:noFill/>
          <a:ln w="25400">
            <a:solidFill>
              <a:schemeClr val="accent1"/>
            </a:solidFill>
            <a:prstDash val="solid"/>
            <a:tailEnd type="triangle"/>
          </a:ln>
        </p:spPr>
      </p:sp>
      <p:sp>
        <p:nvSpPr>
          <p:cNvPr id="15" name="pipeline step"/>
          <p:cNvSpPr/>
          <p:nvPr/>
        </p:nvSpPr>
        <p:spPr>
          <a:xfrm>
            <a:off x="4297680" y="1371600"/>
            <a:ext cx="1691640" cy="2240280"/>
          </a:xfrm>
          <a:prstGeom prst="roundRect">
            <a:avLst>
              <a:gd name="adj" fmla="val 4324"/>
            </a:avLst>
          </a:prstGeom>
          <a:solidFill>
            <a:schemeClr val="bg2"/>
          </a:solidFill>
          <a:ln/>
        </p:spPr>
      </p:sp>
      <p:sp>
        <p:nvSpPr>
          <p:cNvPr id="16" name="icon circle"/>
          <p:cNvSpPr/>
          <p:nvPr/>
        </p:nvSpPr>
        <p:spPr>
          <a:xfrm>
            <a:off x="4800600" y="1554480"/>
            <a:ext cx="685800" cy="685800"/>
          </a:xfrm>
          <a:prstGeom prst="ellipse">
            <a:avLst/>
          </a:prstGeom>
          <a:solidFill>
            <a:schemeClr val="accent1"/>
          </a:solidFill>
          <a:ln/>
        </p:spPr>
      </p:sp>
      <p:pic>
        <p:nvPicPr>
          <p:cNvPr id="17" name="icon glyph" descr="preencoded.png">    </p:cNvPr>
          <p:cNvPicPr>
            <a:picLocks noChangeAspect="1"/>
          </p:cNvPicPr>
          <p:nvPr/>
        </p:nvPicPr>
        <p:blipFill>
          <a:blip r:embed="rId3"/>
          <a:stretch>
            <a:fillRect/>
          </a:stretch>
        </p:blipFill>
        <p:spPr>
          <a:xfrm>
            <a:off x="4965192" y="1719072"/>
            <a:ext cx="356616" cy="356616"/>
          </a:xfrm>
          <a:prstGeom prst="rect">
            <a:avLst/>
          </a:prstGeom>
        </p:spPr>
      </p:pic>
      <p:sp>
        <p:nvSpPr>
          <p:cNvPr id="18" name="Text 13"/>
          <p:cNvSpPr txBox="1"/>
          <p:nvPr/>
        </p:nvSpPr>
        <p:spPr>
          <a:xfrm>
            <a:off x="438912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AES-256-GCM</a:t>
            </a:r>
            <a:endParaRPr lang="en-US" sz="1400" dirty="0"/>
          </a:p>
        </p:txBody>
      </p:sp>
      <p:sp>
        <p:nvSpPr>
          <p:cNvPr id="19" name="Text 14"/>
          <p:cNvSpPr txBox="1"/>
          <p:nvPr/>
        </p:nvSpPr>
        <p:spPr>
          <a:xfrm>
            <a:off x="438912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12-byte random IV, auth tag</a:t>
            </a:r>
            <a:endParaRPr lang="en-US" sz="1150" dirty="0"/>
          </a:p>
        </p:txBody>
      </p:sp>
      <p:sp>
        <p:nvSpPr>
          <p:cNvPr id="20" name="connector"/>
          <p:cNvSpPr/>
          <p:nvPr/>
        </p:nvSpPr>
        <p:spPr>
          <a:xfrm>
            <a:off x="5998464" y="2487168"/>
            <a:ext cx="164592" cy="0"/>
          </a:xfrm>
          <a:prstGeom prst="line">
            <a:avLst/>
          </a:prstGeom>
          <a:noFill/>
          <a:ln w="25400">
            <a:solidFill>
              <a:schemeClr val="accent1"/>
            </a:solidFill>
            <a:prstDash val="solid"/>
            <a:tailEnd type="triangle"/>
          </a:ln>
        </p:spPr>
      </p:sp>
      <p:sp>
        <p:nvSpPr>
          <p:cNvPr id="21" name="pipeline step"/>
          <p:cNvSpPr/>
          <p:nvPr/>
        </p:nvSpPr>
        <p:spPr>
          <a:xfrm>
            <a:off x="6172200" y="1371600"/>
            <a:ext cx="1691640" cy="2240280"/>
          </a:xfrm>
          <a:prstGeom prst="roundRect">
            <a:avLst>
              <a:gd name="adj" fmla="val 4324"/>
            </a:avLst>
          </a:prstGeom>
          <a:solidFill>
            <a:schemeClr val="bg2"/>
          </a:solidFill>
          <a:ln/>
        </p:spPr>
      </p:sp>
      <p:sp>
        <p:nvSpPr>
          <p:cNvPr id="22" name="icon circle"/>
          <p:cNvSpPr/>
          <p:nvPr/>
        </p:nvSpPr>
        <p:spPr>
          <a:xfrm>
            <a:off x="6675120" y="1554480"/>
            <a:ext cx="685800" cy="685800"/>
          </a:xfrm>
          <a:prstGeom prst="ellipse">
            <a:avLst/>
          </a:prstGeom>
          <a:solidFill>
            <a:schemeClr val="accent1"/>
          </a:solidFill>
          <a:ln/>
        </p:spPr>
      </p:sp>
      <p:pic>
        <p:nvPicPr>
          <p:cNvPr id="23" name="icon glyph" descr="preencoded.png">    </p:cNvPr>
          <p:cNvPicPr>
            <a:picLocks noChangeAspect="1"/>
          </p:cNvPicPr>
          <p:nvPr/>
        </p:nvPicPr>
        <p:blipFill>
          <a:blip r:embed="rId4"/>
          <a:stretch>
            <a:fillRect/>
          </a:stretch>
        </p:blipFill>
        <p:spPr>
          <a:xfrm>
            <a:off x="6839712" y="1719072"/>
            <a:ext cx="356616" cy="356616"/>
          </a:xfrm>
          <a:prstGeom prst="rect">
            <a:avLst/>
          </a:prstGeom>
        </p:spPr>
      </p:pic>
      <p:sp>
        <p:nvSpPr>
          <p:cNvPr id="24" name="Text 18"/>
          <p:cNvSpPr txBox="1"/>
          <p:nvPr/>
        </p:nvSpPr>
        <p:spPr>
          <a:xfrm>
            <a:off x="626364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JSON envelope</a:t>
            </a:r>
            <a:endParaRPr lang="en-US" sz="1400" dirty="0"/>
          </a:p>
        </p:txBody>
      </p:sp>
      <p:sp>
        <p:nvSpPr>
          <p:cNvPr id="25" name="Text 19"/>
          <p:cNvSpPr txBox="1"/>
          <p:nvPr/>
        </p:nvSpPr>
        <p:spPr>
          <a:xfrm>
            <a:off x="626364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 v, alg, salt, iv, ct } base64</a:t>
            </a:r>
            <a:endParaRPr lang="en-US" sz="1150" dirty="0"/>
          </a:p>
        </p:txBody>
      </p:sp>
      <p:sp>
        <p:nvSpPr>
          <p:cNvPr id="26" name="connector"/>
          <p:cNvSpPr/>
          <p:nvPr/>
        </p:nvSpPr>
        <p:spPr>
          <a:xfrm>
            <a:off x="7872984" y="2487168"/>
            <a:ext cx="164592" cy="0"/>
          </a:xfrm>
          <a:prstGeom prst="line">
            <a:avLst/>
          </a:prstGeom>
          <a:noFill/>
          <a:ln w="25400">
            <a:solidFill>
              <a:schemeClr val="accent1"/>
            </a:solidFill>
            <a:prstDash val="solid"/>
            <a:tailEnd type="triangle"/>
          </a:ln>
        </p:spPr>
      </p:sp>
      <p:sp>
        <p:nvSpPr>
          <p:cNvPr id="27" name="pipeline step"/>
          <p:cNvSpPr/>
          <p:nvPr/>
        </p:nvSpPr>
        <p:spPr>
          <a:xfrm>
            <a:off x="8046720" y="1371600"/>
            <a:ext cx="1691640" cy="2240280"/>
          </a:xfrm>
          <a:prstGeom prst="roundRect">
            <a:avLst>
              <a:gd name="adj" fmla="val 4324"/>
            </a:avLst>
          </a:prstGeom>
          <a:solidFill>
            <a:schemeClr val="bg2"/>
          </a:solidFill>
          <a:ln/>
        </p:spPr>
      </p:sp>
      <p:sp>
        <p:nvSpPr>
          <p:cNvPr id="28" name="icon circle"/>
          <p:cNvSpPr/>
          <p:nvPr/>
        </p:nvSpPr>
        <p:spPr>
          <a:xfrm>
            <a:off x="8549640" y="1554480"/>
            <a:ext cx="685800" cy="685800"/>
          </a:xfrm>
          <a:prstGeom prst="ellipse">
            <a:avLst/>
          </a:prstGeom>
          <a:solidFill>
            <a:schemeClr val="tx2"/>
          </a:solidFill>
          <a:ln/>
        </p:spPr>
      </p:sp>
      <p:pic>
        <p:nvPicPr>
          <p:cNvPr id="29" name="icon glyph" descr="preencoded.png">    </p:cNvPr>
          <p:cNvPicPr>
            <a:picLocks noChangeAspect="1"/>
          </p:cNvPicPr>
          <p:nvPr/>
        </p:nvPicPr>
        <p:blipFill>
          <a:blip r:embed="rId5"/>
          <a:stretch>
            <a:fillRect/>
          </a:stretch>
        </p:blipFill>
        <p:spPr>
          <a:xfrm>
            <a:off x="8714232" y="1719072"/>
            <a:ext cx="356616" cy="356616"/>
          </a:xfrm>
          <a:prstGeom prst="rect">
            <a:avLst/>
          </a:prstGeom>
        </p:spPr>
      </p:pic>
      <p:sp>
        <p:nvSpPr>
          <p:cNvPr id="30" name="Text 23"/>
          <p:cNvSpPr txBox="1"/>
          <p:nvPr/>
        </p:nvSpPr>
        <p:spPr>
          <a:xfrm>
            <a:off x="813816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Pin to IPFS</a:t>
            </a:r>
            <a:endParaRPr lang="en-US" sz="1400" dirty="0"/>
          </a:p>
        </p:txBody>
      </p:sp>
      <p:sp>
        <p:nvSpPr>
          <p:cNvPr id="31" name="Text 24"/>
          <p:cNvSpPr txBox="1"/>
          <p:nvPr/>
        </p:nvSpPr>
        <p:spPr>
          <a:xfrm>
            <a:off x="813816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Pinata returns the CID</a:t>
            </a:r>
            <a:endParaRPr lang="en-US" sz="1150" dirty="0"/>
          </a:p>
        </p:txBody>
      </p:sp>
      <p:sp>
        <p:nvSpPr>
          <p:cNvPr id="32" name="connector"/>
          <p:cNvSpPr/>
          <p:nvPr/>
        </p:nvSpPr>
        <p:spPr>
          <a:xfrm>
            <a:off x="9747504" y="2487168"/>
            <a:ext cx="164592" cy="0"/>
          </a:xfrm>
          <a:prstGeom prst="line">
            <a:avLst/>
          </a:prstGeom>
          <a:noFill/>
          <a:ln w="25400">
            <a:solidFill>
              <a:schemeClr val="accent1"/>
            </a:solidFill>
            <a:prstDash val="solid"/>
            <a:tailEnd type="triangle"/>
          </a:ln>
        </p:spPr>
      </p:sp>
      <p:sp>
        <p:nvSpPr>
          <p:cNvPr id="33" name="pipeline step"/>
          <p:cNvSpPr/>
          <p:nvPr/>
        </p:nvSpPr>
        <p:spPr>
          <a:xfrm>
            <a:off x="9921240" y="1371600"/>
            <a:ext cx="1691640" cy="2240280"/>
          </a:xfrm>
          <a:prstGeom prst="roundRect">
            <a:avLst>
              <a:gd name="adj" fmla="val 4324"/>
            </a:avLst>
          </a:prstGeom>
          <a:solidFill>
            <a:schemeClr val="bg2"/>
          </a:solidFill>
          <a:ln/>
        </p:spPr>
      </p:sp>
      <p:sp>
        <p:nvSpPr>
          <p:cNvPr id="34" name="icon circle"/>
          <p:cNvSpPr/>
          <p:nvPr/>
        </p:nvSpPr>
        <p:spPr>
          <a:xfrm>
            <a:off x="10424160" y="1554480"/>
            <a:ext cx="685800" cy="685800"/>
          </a:xfrm>
          <a:prstGeom prst="ellipse">
            <a:avLst/>
          </a:prstGeom>
          <a:solidFill>
            <a:schemeClr val="tx2"/>
          </a:solidFill>
          <a:ln/>
        </p:spPr>
      </p:sp>
      <p:pic>
        <p:nvPicPr>
          <p:cNvPr id="35" name="icon glyph" descr="preencoded.png">    </p:cNvPr>
          <p:cNvPicPr>
            <a:picLocks noChangeAspect="1"/>
          </p:cNvPicPr>
          <p:nvPr/>
        </p:nvPicPr>
        <p:blipFill>
          <a:blip r:embed="rId6"/>
          <a:stretch>
            <a:fillRect/>
          </a:stretch>
        </p:blipFill>
        <p:spPr>
          <a:xfrm>
            <a:off x="10588752" y="1719072"/>
            <a:ext cx="356616" cy="356616"/>
          </a:xfrm>
          <a:prstGeom prst="rect">
            <a:avLst/>
          </a:prstGeom>
        </p:spPr>
      </p:pic>
      <p:sp>
        <p:nvSpPr>
          <p:cNvPr id="36" name="Text 28"/>
          <p:cNvSpPr txBox="1"/>
          <p:nvPr/>
        </p:nvSpPr>
        <p:spPr>
          <a:xfrm>
            <a:off x="10012680" y="2377440"/>
            <a:ext cx="1508760" cy="411480"/>
          </a:xfrm>
          <a:prstGeom prst="rect">
            <a:avLst/>
          </a:prstGeom>
          <a:noFill/>
          <a:ln/>
        </p:spPr>
        <p:txBody>
          <a:bodyPr wrap="square" lIns="0" tIns="0" rIns="0" bIns="0" rtlCol="0" anchor="t"/>
          <a:lstStyle/>
          <a:p>
            <a:pPr algn="ctr" indent="0" marL="0">
              <a:buNone/>
            </a:pPr>
            <a:r>
              <a:rPr lang="en-US" sz="1400" b="1" dirty="0">
                <a:solidFill>
                  <a:schemeClr val="tx2"/>
                </a:solidFill>
              </a:rPr>
              <a:t>register()</a:t>
            </a:r>
            <a:endParaRPr lang="en-US" sz="1400" dirty="0"/>
          </a:p>
        </p:txBody>
      </p:sp>
      <p:sp>
        <p:nvSpPr>
          <p:cNvPr id="37" name="Text 29"/>
          <p:cNvSpPr txBox="1"/>
          <p:nvPr/>
        </p:nvSpPr>
        <p:spPr>
          <a:xfrm>
            <a:off x="10012680" y="2788920"/>
            <a:ext cx="1508760" cy="731520"/>
          </a:xfrm>
          <a:prstGeom prst="rect">
            <a:avLst/>
          </a:prstGeom>
          <a:noFill/>
          <a:ln/>
        </p:spPr>
        <p:txBody>
          <a:bodyPr wrap="square" lIns="0" tIns="0" rIns="0" bIns="0" rtlCol="0" anchor="t"/>
          <a:lstStyle/>
          <a:p>
            <a:pPr algn="ctr" indent="0" marL="0">
              <a:buNone/>
            </a:pPr>
            <a:r>
              <a:rPr lang="en-US" sz="1150" dirty="0">
                <a:solidFill>
                  <a:schemeClr val="tx1"/>
                </a:solidFill>
              </a:rPr>
              <a:t>CID + ETH on-chain</a:t>
            </a:r>
            <a:endParaRPr lang="en-US" sz="1150" dirty="0"/>
          </a:p>
        </p:txBody>
      </p:sp>
      <p:sp>
        <p:nvSpPr>
          <p:cNvPr id="38" name="Text 30"/>
          <p:cNvSpPr txBox="1"/>
          <p:nvPr/>
        </p:nvSpPr>
        <p:spPr>
          <a:xfrm>
            <a:off x="548640" y="3931920"/>
            <a:ext cx="237744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150k</a:t>
            </a:r>
            <a:endParaRPr lang="en-US" sz="4400" dirty="0"/>
          </a:p>
        </p:txBody>
      </p:sp>
      <p:sp>
        <p:nvSpPr>
          <p:cNvPr id="39" name="Text 31"/>
          <p:cNvSpPr txBox="1"/>
          <p:nvPr/>
        </p:nvSpPr>
        <p:spPr>
          <a:xfrm>
            <a:off x="548640" y="4663440"/>
            <a:ext cx="2377440" cy="457200"/>
          </a:xfrm>
          <a:prstGeom prst="rect">
            <a:avLst/>
          </a:prstGeom>
          <a:noFill/>
          <a:ln/>
        </p:spPr>
        <p:txBody>
          <a:bodyPr wrap="square" lIns="0" tIns="0" rIns="0" bIns="0" rtlCol="0" anchor="t"/>
          <a:lstStyle/>
          <a:p>
            <a:pPr indent="0" marL="0">
              <a:buNone/>
            </a:pPr>
            <a:r>
              <a:rPr lang="en-US" sz="1200" dirty="0">
                <a:solidFill>
                  <a:schemeClr val="accent6"/>
                </a:solidFill>
              </a:rPr>
              <a:t>PBKDF2 iterations</a:t>
            </a:r>
            <a:endParaRPr lang="en-US" sz="1200" dirty="0"/>
          </a:p>
        </p:txBody>
      </p:sp>
      <p:sp>
        <p:nvSpPr>
          <p:cNvPr id="40" name="Text 32"/>
          <p:cNvSpPr txBox="1"/>
          <p:nvPr/>
        </p:nvSpPr>
        <p:spPr>
          <a:xfrm>
            <a:off x="2743200" y="3931920"/>
            <a:ext cx="237744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256-bit</a:t>
            </a:r>
            <a:endParaRPr lang="en-US" sz="4400" dirty="0"/>
          </a:p>
        </p:txBody>
      </p:sp>
      <p:sp>
        <p:nvSpPr>
          <p:cNvPr id="41" name="Text 33"/>
          <p:cNvSpPr txBox="1"/>
          <p:nvPr/>
        </p:nvSpPr>
        <p:spPr>
          <a:xfrm>
            <a:off x="2743200" y="4663440"/>
            <a:ext cx="2377440" cy="457200"/>
          </a:xfrm>
          <a:prstGeom prst="rect">
            <a:avLst/>
          </a:prstGeom>
          <a:noFill/>
          <a:ln/>
        </p:spPr>
        <p:txBody>
          <a:bodyPr wrap="square" lIns="0" tIns="0" rIns="0" bIns="0" rtlCol="0" anchor="t"/>
          <a:lstStyle/>
          <a:p>
            <a:pPr indent="0" marL="0">
              <a:buNone/>
            </a:pPr>
            <a:r>
              <a:rPr lang="en-US" sz="1200" dirty="0">
                <a:solidFill>
                  <a:schemeClr val="accent6"/>
                </a:solidFill>
              </a:rPr>
              <a:t>AES-GCM key</a:t>
            </a:r>
            <a:endParaRPr lang="en-US" sz="1200" dirty="0"/>
          </a:p>
        </p:txBody>
      </p:sp>
      <p:sp>
        <p:nvSpPr>
          <p:cNvPr id="42" name="Text 34"/>
          <p:cNvSpPr txBox="1"/>
          <p:nvPr/>
        </p:nvSpPr>
        <p:spPr>
          <a:xfrm>
            <a:off x="4937760" y="3931920"/>
            <a:ext cx="237744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96-bit</a:t>
            </a:r>
            <a:endParaRPr lang="en-US" sz="4400" dirty="0"/>
          </a:p>
        </p:txBody>
      </p:sp>
      <p:sp>
        <p:nvSpPr>
          <p:cNvPr id="43" name="Text 35"/>
          <p:cNvSpPr txBox="1"/>
          <p:nvPr/>
        </p:nvSpPr>
        <p:spPr>
          <a:xfrm>
            <a:off x="4937760" y="4663440"/>
            <a:ext cx="2377440" cy="457200"/>
          </a:xfrm>
          <a:prstGeom prst="rect">
            <a:avLst/>
          </a:prstGeom>
          <a:noFill/>
          <a:ln/>
        </p:spPr>
        <p:txBody>
          <a:bodyPr wrap="square" lIns="0" tIns="0" rIns="0" bIns="0" rtlCol="0" anchor="t"/>
          <a:lstStyle/>
          <a:p>
            <a:pPr indent="0" marL="0">
              <a:buNone/>
            </a:pPr>
            <a:r>
              <a:rPr lang="en-US" sz="1200" dirty="0">
                <a:solidFill>
                  <a:schemeClr val="accent6"/>
                </a:solidFill>
              </a:rPr>
              <a:t>random IV per secret</a:t>
            </a:r>
            <a:endParaRPr lang="en-US" sz="1200" dirty="0"/>
          </a:p>
        </p:txBody>
      </p:sp>
      <p:sp>
        <p:nvSpPr>
          <p:cNvPr id="44" name="envelope code"/>
          <p:cNvSpPr/>
          <p:nvPr/>
        </p:nvSpPr>
        <p:spPr>
          <a:xfrm>
            <a:off x="7315200" y="3886200"/>
            <a:ext cx="4297680" cy="2194560"/>
          </a:xfrm>
          <a:prstGeom prst="roundRect">
            <a:avLst>
              <a:gd name="adj" fmla="val 3333"/>
            </a:avLst>
          </a:prstGeom>
          <a:solidFill>
            <a:schemeClr val="tx2"/>
          </a:solidFill>
          <a:ln/>
        </p:spPr>
      </p:sp>
      <p:sp>
        <p:nvSpPr>
          <p:cNvPr id="45" name="Text 37"/>
          <p:cNvSpPr txBox="1"/>
          <p:nvPr/>
        </p:nvSpPr>
        <p:spPr>
          <a:xfrm>
            <a:off x="7543800" y="4023360"/>
            <a:ext cx="3931920" cy="1920240"/>
          </a:xfrm>
          <a:prstGeom prst="rect">
            <a:avLst/>
          </a:prstGeom>
          <a:noFill/>
          <a:ln/>
        </p:spPr>
        <p:txBody>
          <a:bodyPr wrap="square" lIns="0" tIns="0" rIns="0" bIns="0" rtlCol="0" anchor="t"/>
          <a:lstStyle/>
          <a:p>
            <a:pPr indent="0" marL="0">
              <a:buNone/>
            </a:pPr>
            <a:r>
              <a:rPr lang="en-US" sz="1250" dirty="0">
                <a:solidFill>
                  <a:schemeClr val="bg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"v": 1,</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"alg": "AES-GCM+PBKDF2",</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"salt": "&lt;base64 16 B&gt;",</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"iv": "&lt;base64 12 B&gt;",</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"ct": "&lt;base64 ciphertext+tag&gt;"</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a:t>
            </a:r>
            <a:endParaRPr lang="en-US" sz="1250" dirty="0"/>
          </a:p>
        </p:txBody>
      </p:sp>
      <p:sp>
        <p:nvSpPr>
          <p:cNvPr id="46" name="Text 38"/>
          <p:cNvSpPr txBox="1"/>
          <p:nvPr/>
        </p:nvSpPr>
        <p:spPr>
          <a:xfrm>
            <a:off x="548640" y="5577840"/>
            <a:ext cx="6583680" cy="320040"/>
          </a:xfrm>
          <a:prstGeom prst="rect">
            <a:avLst/>
          </a:prstGeom>
          <a:noFill/>
          <a:ln/>
        </p:spPr>
        <p:txBody>
          <a:bodyPr wrap="square" lIns="0" tIns="0" rIns="0" bIns="0" rtlCol="0" anchor="t"/>
          <a:lstStyle/>
          <a:p>
            <a:pPr indent="0" marL="0">
              <a:buNone/>
            </a:pPr>
            <a:r>
              <a:rPr lang="en-US" sz="1100" i="1" dirty="0">
                <a:solidFill>
                  <a:schemeClr val="accent6"/>
                </a:solidFill>
              </a:rPr>
              <a:t>Source: src/lib/crypto-utils.ts (encryptSecret / decryptSecret).</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Decryption pipeline (beneficiary side)</a:t>
            </a:r>
            <a:endParaRPr lang="en-US" sz="3200" dirty="0"/>
          </a:p>
        </p:txBody>
      </p:sp>
      <p:sp>
        <p:nvSpPr>
          <p:cNvPr id="3" name="step number"/>
          <p:cNvSpPr/>
          <p:nvPr/>
        </p:nvSpPr>
        <p:spPr>
          <a:xfrm>
            <a:off x="548640" y="1417320"/>
            <a:ext cx="594360" cy="594360"/>
          </a:xfrm>
          <a:prstGeom prst="ellipse">
            <a:avLst/>
          </a:prstGeom>
          <a:solidFill>
            <a:schemeClr val="accent1"/>
          </a:solidFill>
          <a:ln/>
        </p:spPr>
      </p:sp>
      <p:sp>
        <p:nvSpPr>
          <p:cNvPr id="4" name="Text 2"/>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71600" y="1371600"/>
            <a:ext cx="2286000" cy="685800"/>
          </a:xfrm>
          <a:prstGeom prst="rect">
            <a:avLst/>
          </a:prstGeom>
          <a:noFill/>
          <a:ln/>
        </p:spPr>
        <p:txBody>
          <a:bodyPr wrap="square" lIns="0" tIns="0" rIns="0" bIns="0" rtlCol="0" anchor="ctr"/>
          <a:lstStyle/>
          <a:p>
            <a:pPr indent="0" marL="0">
              <a:buNone/>
            </a:pPr>
            <a:r>
              <a:rPr lang="en-US" sz="1600" b="1" dirty="0">
                <a:solidFill>
                  <a:schemeClr val="tx2"/>
                </a:solidFill>
              </a:rPr>
              <a:t>Read CID</a:t>
            </a:r>
            <a:endParaRPr lang="en-US" sz="1600" dirty="0"/>
          </a:p>
        </p:txBody>
      </p:sp>
      <p:sp>
        <p:nvSpPr>
          <p:cNvPr id="6" name="Text 4"/>
          <p:cNvSpPr txBox="1"/>
          <p:nvPr/>
        </p:nvSpPr>
        <p:spPr>
          <a:xfrm>
            <a:off x="3657600" y="1371600"/>
            <a:ext cx="3566160" cy="685800"/>
          </a:xfrm>
          <a:prstGeom prst="rect">
            <a:avLst/>
          </a:prstGeom>
          <a:noFill/>
          <a:ln/>
        </p:spPr>
        <p:txBody>
          <a:bodyPr wrap="square" lIns="0" tIns="0" rIns="0" bIns="0" rtlCol="0" anchor="ctr"/>
          <a:lstStyle/>
          <a:p>
            <a:pPr indent="0" marL="0">
              <a:buNone/>
            </a:pPr>
            <a:r>
              <a:rPr lang="en-US" sz="1300" dirty="0">
                <a:solidFill>
                  <a:schemeClr val="tx1"/>
                </a:solidFill>
              </a:rPr>
              <a:t>From the Supabase vault row, also stored on-chain in getVault()</a:t>
            </a:r>
            <a:endParaRPr lang="en-US" sz="1300" dirty="0"/>
          </a:p>
        </p:txBody>
      </p:sp>
      <p:sp>
        <p:nvSpPr>
          <p:cNvPr id="7" name="step number"/>
          <p:cNvSpPr/>
          <p:nvPr/>
        </p:nvSpPr>
        <p:spPr>
          <a:xfrm>
            <a:off x="548640" y="2331720"/>
            <a:ext cx="594360" cy="594360"/>
          </a:xfrm>
          <a:prstGeom prst="ellipse">
            <a:avLst/>
          </a:prstGeom>
          <a:solidFill>
            <a:schemeClr val="accent1"/>
          </a:solidFill>
          <a:ln/>
        </p:spPr>
      </p:sp>
      <p:sp>
        <p:nvSpPr>
          <p:cNvPr id="8" name="Text 6"/>
          <p:cNvSpPr txBox="1"/>
          <p:nvPr/>
        </p:nvSpPr>
        <p:spPr>
          <a:xfrm>
            <a:off x="548640" y="23317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71600" y="2286000"/>
            <a:ext cx="2286000" cy="685800"/>
          </a:xfrm>
          <a:prstGeom prst="rect">
            <a:avLst/>
          </a:prstGeom>
          <a:noFill/>
          <a:ln/>
        </p:spPr>
        <p:txBody>
          <a:bodyPr wrap="square" lIns="0" tIns="0" rIns="0" bIns="0" rtlCol="0" anchor="ctr"/>
          <a:lstStyle/>
          <a:p>
            <a:pPr indent="0" marL="0">
              <a:buNone/>
            </a:pPr>
            <a:r>
              <a:rPr lang="en-US" sz="1600" b="1" dirty="0">
                <a:solidFill>
                  <a:schemeClr val="tx2"/>
                </a:solidFill>
              </a:rPr>
              <a:t>Fetch ciphertext</a:t>
            </a:r>
            <a:endParaRPr lang="en-US" sz="1600" dirty="0"/>
          </a:p>
        </p:txBody>
      </p:sp>
      <p:sp>
        <p:nvSpPr>
          <p:cNvPr id="10" name="Text 8"/>
          <p:cNvSpPr txBox="1"/>
          <p:nvPr/>
        </p:nvSpPr>
        <p:spPr>
          <a:xfrm>
            <a:off x="3657600" y="2286000"/>
            <a:ext cx="3566160" cy="685800"/>
          </a:xfrm>
          <a:prstGeom prst="rect">
            <a:avLst/>
          </a:prstGeom>
          <a:noFill/>
          <a:ln/>
        </p:spPr>
        <p:txBody>
          <a:bodyPr wrap="square" lIns="0" tIns="0" rIns="0" bIns="0" rtlCol="0" anchor="ctr"/>
          <a:lstStyle/>
          <a:p>
            <a:pPr indent="0" marL="0">
              <a:buNone/>
            </a:pPr>
            <a:r>
              <a:rPr lang="en-US" sz="1300" dirty="0">
                <a:solidFill>
                  <a:schemeClr val="tx1"/>
                </a:solidFill>
              </a:rPr>
              <a:t>GET gateway.pinata.cloud/ipfs/&lt;cid&gt;; CID format checked with zod</a:t>
            </a:r>
            <a:endParaRPr lang="en-US" sz="1300" dirty="0"/>
          </a:p>
        </p:txBody>
      </p:sp>
      <p:sp>
        <p:nvSpPr>
          <p:cNvPr id="11" name="step number"/>
          <p:cNvSpPr/>
          <p:nvPr/>
        </p:nvSpPr>
        <p:spPr>
          <a:xfrm>
            <a:off x="548640" y="3246120"/>
            <a:ext cx="594360" cy="594360"/>
          </a:xfrm>
          <a:prstGeom prst="ellipse">
            <a:avLst/>
          </a:prstGeom>
          <a:solidFill>
            <a:schemeClr val="accent1"/>
          </a:solidFill>
          <a:ln/>
        </p:spPr>
      </p:sp>
      <p:sp>
        <p:nvSpPr>
          <p:cNvPr id="12" name="Text 10"/>
          <p:cNvSpPr txBox="1"/>
          <p:nvPr/>
        </p:nvSpPr>
        <p:spPr>
          <a:xfrm>
            <a:off x="548640" y="32461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371600" y="3200400"/>
            <a:ext cx="2286000" cy="685800"/>
          </a:xfrm>
          <a:prstGeom prst="rect">
            <a:avLst/>
          </a:prstGeom>
          <a:noFill/>
          <a:ln/>
        </p:spPr>
        <p:txBody>
          <a:bodyPr wrap="square" lIns="0" tIns="0" rIns="0" bIns="0" rtlCol="0" anchor="ctr"/>
          <a:lstStyle/>
          <a:p>
            <a:pPr indent="0" marL="0">
              <a:buNone/>
            </a:pPr>
            <a:r>
              <a:rPr lang="en-US" sz="1600" b="1" dirty="0">
                <a:solidFill>
                  <a:schemeClr val="tx2"/>
                </a:solidFill>
              </a:rPr>
              <a:t>Validate envelope</a:t>
            </a:r>
            <a:endParaRPr lang="en-US" sz="1600" dirty="0"/>
          </a:p>
        </p:txBody>
      </p:sp>
      <p:sp>
        <p:nvSpPr>
          <p:cNvPr id="14" name="Text 12"/>
          <p:cNvSpPr txBox="1"/>
          <p:nvPr/>
        </p:nvSpPr>
        <p:spPr>
          <a:xfrm>
            <a:off x="3657600" y="3200400"/>
            <a:ext cx="3566160" cy="685800"/>
          </a:xfrm>
          <a:prstGeom prst="rect">
            <a:avLst/>
          </a:prstGeom>
          <a:noFill/>
          <a:ln/>
        </p:spPr>
        <p:txBody>
          <a:bodyPr wrap="square" lIns="0" tIns="0" rIns="0" bIns="0" rtlCol="0" anchor="ctr"/>
          <a:lstStyle/>
          <a:p>
            <a:pPr indent="0" marL="0">
              <a:buNone/>
            </a:pPr>
            <a:r>
              <a:rPr lang="en-US" sz="1300" dirty="0">
                <a:solidFill>
                  <a:schemeClr val="tx1"/>
                </a:solidFill>
              </a:rPr>
              <a:t>zod schema: v = 1, alg literal, size limits on salt, iv, ct</a:t>
            </a:r>
            <a:endParaRPr lang="en-US" sz="1300" dirty="0"/>
          </a:p>
        </p:txBody>
      </p:sp>
      <p:sp>
        <p:nvSpPr>
          <p:cNvPr id="15" name="step number"/>
          <p:cNvSpPr/>
          <p:nvPr/>
        </p:nvSpPr>
        <p:spPr>
          <a:xfrm>
            <a:off x="548640" y="4160520"/>
            <a:ext cx="594360" cy="594360"/>
          </a:xfrm>
          <a:prstGeom prst="ellipse">
            <a:avLst/>
          </a:prstGeom>
          <a:solidFill>
            <a:schemeClr val="accent1"/>
          </a:solidFill>
          <a:ln/>
        </p:spPr>
      </p:sp>
      <p:sp>
        <p:nvSpPr>
          <p:cNvPr id="16" name="Text 14"/>
          <p:cNvSpPr txBox="1"/>
          <p:nvPr/>
        </p:nvSpPr>
        <p:spPr>
          <a:xfrm>
            <a:off x="548640" y="41605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371600" y="4114800"/>
            <a:ext cx="2286000" cy="685800"/>
          </a:xfrm>
          <a:prstGeom prst="rect">
            <a:avLst/>
          </a:prstGeom>
          <a:noFill/>
          <a:ln/>
        </p:spPr>
        <p:txBody>
          <a:bodyPr wrap="square" lIns="0" tIns="0" rIns="0" bIns="0" rtlCol="0" anchor="ctr"/>
          <a:lstStyle/>
          <a:p>
            <a:pPr indent="0" marL="0">
              <a:buNone/>
            </a:pPr>
            <a:r>
              <a:rPr lang="en-US" sz="1600" b="1" dirty="0">
                <a:solidFill>
                  <a:schemeClr val="tx2"/>
                </a:solidFill>
              </a:rPr>
              <a:t>Derive key</a:t>
            </a:r>
            <a:endParaRPr lang="en-US" sz="1600" dirty="0"/>
          </a:p>
        </p:txBody>
      </p:sp>
      <p:sp>
        <p:nvSpPr>
          <p:cNvPr id="18" name="Text 16"/>
          <p:cNvSpPr txBox="1"/>
          <p:nvPr/>
        </p:nvSpPr>
        <p:spPr>
          <a:xfrm>
            <a:off x="3657600" y="4114800"/>
            <a:ext cx="3566160" cy="685800"/>
          </a:xfrm>
          <a:prstGeom prst="rect">
            <a:avLst/>
          </a:prstGeom>
          <a:noFill/>
          <a:ln/>
        </p:spPr>
        <p:txBody>
          <a:bodyPr wrap="square" lIns="0" tIns="0" rIns="0" bIns="0" rtlCol="0" anchor="ctr"/>
          <a:lstStyle/>
          <a:p>
            <a:pPr indent="0" marL="0">
              <a:buNone/>
            </a:pPr>
            <a:r>
              <a:rPr lang="en-US" sz="1300" dirty="0">
                <a:solidFill>
                  <a:schemeClr val="tx1"/>
                </a:solidFill>
              </a:rPr>
              <a:t>PBKDF2 with the stored salt and the passphrase shared out-of-band</a:t>
            </a:r>
            <a:endParaRPr lang="en-US" sz="1300" dirty="0"/>
          </a:p>
        </p:txBody>
      </p:sp>
      <p:sp>
        <p:nvSpPr>
          <p:cNvPr id="19" name="step number"/>
          <p:cNvSpPr/>
          <p:nvPr/>
        </p:nvSpPr>
        <p:spPr>
          <a:xfrm>
            <a:off x="548640" y="5074920"/>
            <a:ext cx="594360" cy="594360"/>
          </a:xfrm>
          <a:prstGeom prst="ellipse">
            <a:avLst/>
          </a:prstGeom>
          <a:solidFill>
            <a:schemeClr val="accent1"/>
          </a:solidFill>
          <a:ln/>
        </p:spPr>
      </p:sp>
      <p:sp>
        <p:nvSpPr>
          <p:cNvPr id="20" name="Text 18"/>
          <p:cNvSpPr txBox="1"/>
          <p:nvPr/>
        </p:nvSpPr>
        <p:spPr>
          <a:xfrm>
            <a:off x="548640" y="50749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1371600" y="5029200"/>
            <a:ext cx="2286000" cy="685800"/>
          </a:xfrm>
          <a:prstGeom prst="rect">
            <a:avLst/>
          </a:prstGeom>
          <a:noFill/>
          <a:ln/>
        </p:spPr>
        <p:txBody>
          <a:bodyPr wrap="square" lIns="0" tIns="0" rIns="0" bIns="0" rtlCol="0" anchor="ctr"/>
          <a:lstStyle/>
          <a:p>
            <a:pPr indent="0" marL="0">
              <a:buNone/>
            </a:pPr>
            <a:r>
              <a:rPr lang="en-US" sz="1600" b="1" dirty="0">
                <a:solidFill>
                  <a:schemeClr val="tx2"/>
                </a:solidFill>
              </a:rPr>
              <a:t>Decrypt + verify</a:t>
            </a:r>
            <a:endParaRPr lang="en-US" sz="1600" dirty="0"/>
          </a:p>
        </p:txBody>
      </p:sp>
      <p:sp>
        <p:nvSpPr>
          <p:cNvPr id="22" name="Text 20"/>
          <p:cNvSpPr txBox="1"/>
          <p:nvPr/>
        </p:nvSpPr>
        <p:spPr>
          <a:xfrm>
            <a:off x="3657600" y="5029200"/>
            <a:ext cx="3566160" cy="685800"/>
          </a:xfrm>
          <a:prstGeom prst="rect">
            <a:avLst/>
          </a:prstGeom>
          <a:noFill/>
          <a:ln/>
        </p:spPr>
        <p:txBody>
          <a:bodyPr wrap="square" lIns="0" tIns="0" rIns="0" bIns="0" rtlCol="0" anchor="ctr"/>
          <a:lstStyle/>
          <a:p>
            <a:pPr indent="0" marL="0">
              <a:buNone/>
            </a:pPr>
            <a:r>
              <a:rPr lang="en-US" sz="1300" dirty="0">
                <a:solidFill>
                  <a:schemeClr val="tx1"/>
                </a:solidFill>
              </a:rPr>
              <a:t>AES-GCM fails loudly on a wrong passphrase or tampered bytes</a:t>
            </a:r>
            <a:endParaRPr lang="en-US" sz="1300" dirty="0"/>
          </a:p>
        </p:txBody>
      </p:sp>
      <p:sp>
        <p:nvSpPr>
          <p:cNvPr id="23" name="integrity card"/>
          <p:cNvSpPr/>
          <p:nvPr/>
        </p:nvSpPr>
        <p:spPr>
          <a:xfrm>
            <a:off x="7589520" y="1371600"/>
            <a:ext cx="4023360" cy="4343400"/>
          </a:xfrm>
          <a:prstGeom prst="roundRect">
            <a:avLst>
              <a:gd name="adj" fmla="val 1818"/>
            </a:avLst>
          </a:prstGeom>
          <a:solidFill>
            <a:schemeClr val="bg2"/>
          </a:solidFill>
          <a:ln/>
        </p:spPr>
      </p:sp>
      <p:sp>
        <p:nvSpPr>
          <p:cNvPr id="24" name="icon circle"/>
          <p:cNvSpPr/>
          <p:nvPr/>
        </p:nvSpPr>
        <p:spPr>
          <a:xfrm>
            <a:off x="7863840" y="1645920"/>
            <a:ext cx="640080" cy="640080"/>
          </a:xfrm>
          <a:prstGeom prst="ellipse">
            <a:avLst/>
          </a:prstGeom>
          <a:solidFill>
            <a:schemeClr val="accent4"/>
          </a:solidFill>
          <a:ln/>
        </p:spPr>
      </p:sp>
      <p:pic>
        <p:nvPicPr>
          <p:cNvPr id="25" name="icon glyph" descr="preencoded.png">    </p:cNvPr>
          <p:cNvPicPr>
            <a:picLocks noChangeAspect="1"/>
          </p:cNvPicPr>
          <p:nvPr/>
        </p:nvPicPr>
        <p:blipFill>
          <a:blip r:embed="rId1"/>
          <a:stretch>
            <a:fillRect/>
          </a:stretch>
        </p:blipFill>
        <p:spPr>
          <a:xfrm>
            <a:off x="8017459" y="1799539"/>
            <a:ext cx="332842" cy="332842"/>
          </a:xfrm>
          <a:prstGeom prst="rect">
            <a:avLst/>
          </a:prstGeom>
        </p:spPr>
      </p:pic>
      <p:sp>
        <p:nvSpPr>
          <p:cNvPr id="26" name="Text 23"/>
          <p:cNvSpPr txBox="1"/>
          <p:nvPr/>
        </p:nvSpPr>
        <p:spPr>
          <a:xfrm>
            <a:off x="7863840" y="2468880"/>
            <a:ext cx="3566160" cy="411480"/>
          </a:xfrm>
          <a:prstGeom prst="rect">
            <a:avLst/>
          </a:prstGeom>
          <a:noFill/>
          <a:ln/>
        </p:spPr>
        <p:txBody>
          <a:bodyPr wrap="square" lIns="0" tIns="0" rIns="0" bIns="0" rtlCol="0" anchor="t"/>
          <a:lstStyle/>
          <a:p>
            <a:pPr indent="0" marL="0">
              <a:buNone/>
            </a:pPr>
            <a:r>
              <a:rPr lang="en-US" sz="1800" b="1" dirty="0">
                <a:solidFill>
                  <a:schemeClr val="tx2"/>
                </a:solidFill>
              </a:rPr>
              <a:t>Authenticated encryption</a:t>
            </a:r>
            <a:endParaRPr lang="en-US" sz="1800" dirty="0"/>
          </a:p>
        </p:txBody>
      </p:sp>
      <p:sp>
        <p:nvSpPr>
          <p:cNvPr id="27" name="Text 24"/>
          <p:cNvSpPr txBox="1"/>
          <p:nvPr/>
        </p:nvSpPr>
        <p:spPr>
          <a:xfrm>
            <a:off x="7863840" y="2971800"/>
            <a:ext cx="356616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GCM's 128-bit tag means a wrong passphrase cannot silently return garbage.</a:t>
            </a:r>
            <a:endParaRPr lang="en-US" sz="1300" dirty="0"/>
          </a:p>
          <a:p>
            <a:pPr marL="177800" indent="-177800">
              <a:spcAft>
                <a:spcPts val="600"/>
              </a:spcAft>
              <a:buSzPct val="100000"/>
              <a:buChar char="•"/>
            </a:pPr>
            <a:r>
              <a:rPr lang="en-US" sz="1300" dirty="0">
                <a:solidFill>
                  <a:schemeClr val="tx1"/>
                </a:solidFill>
              </a:rPr>
              <a:t>Any change to salt, IV or ciphertext on IPFS is detected.</a:t>
            </a:r>
            <a:endParaRPr lang="en-US" sz="1300" dirty="0"/>
          </a:p>
          <a:p>
            <a:pPr marL="177800" indent="-177800">
              <a:spcAft>
                <a:spcPts val="600"/>
              </a:spcAft>
              <a:buSzPct val="100000"/>
              <a:buChar char="•"/>
            </a:pPr>
            <a:r>
              <a:rPr lang="en-US" sz="1300" dirty="0">
                <a:solidFill>
                  <a:schemeClr val="tx1"/>
                </a:solidFill>
              </a:rPr>
              <a:t>The UI shows one error for both cases, so it leaks nothing about which failed.</a:t>
            </a:r>
            <a:endParaRPr lang="en-US" sz="1300" dirty="0"/>
          </a:p>
          <a:p>
            <a:pPr marL="177800" indent="-177800">
              <a:spcAft>
                <a:spcPts val="600"/>
              </a:spcAft>
              <a:buSzPct val="100000"/>
              <a:buChar char="•"/>
            </a:pPr>
            <a:r>
              <a:rPr lang="en-US" sz="1300" dirty="0">
                <a:solidFill>
                  <a:schemeClr val="tx1"/>
                </a:solidFill>
              </a:rPr>
              <a:t>Plaintext is rendered only in the tab and never sent anywhere.</a:t>
            </a:r>
            <a:endParaRPr lang="en-US" sz="13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Off-chain index: Supabase schema</a:t>
            </a:r>
            <a:endParaRPr lang="en-US" sz="3200" dirty="0"/>
          </a:p>
        </p:txBody>
      </p:sp>
      <p:sp>
        <p:nvSpPr>
          <p:cNvPr id="3" name="table profiles"/>
          <p:cNvSpPr/>
          <p:nvPr/>
        </p:nvSpPr>
        <p:spPr>
          <a:xfrm>
            <a:off x="548640" y="1371600"/>
            <a:ext cx="2331720" cy="2176272"/>
          </a:xfrm>
          <a:prstGeom prst="roundRect">
            <a:avLst>
              <a:gd name="adj" fmla="val 3361"/>
            </a:avLst>
          </a:prstGeom>
          <a:solidFill>
            <a:schemeClr val="bg1"/>
          </a:solidFill>
          <a:ln w="12700">
            <a:solidFill>
              <a:schemeClr val="accent1"/>
            </a:solidFill>
            <a:prstDash val="solid"/>
          </a:ln>
        </p:spPr>
      </p:sp>
      <p:sp>
        <p:nvSpPr>
          <p:cNvPr id="4" name="table header"/>
          <p:cNvSpPr/>
          <p:nvPr/>
        </p:nvSpPr>
        <p:spPr>
          <a:xfrm>
            <a:off x="557784" y="1380744"/>
            <a:ext cx="2313432" cy="457200"/>
          </a:xfrm>
          <a:prstGeom prst="rect">
            <a:avLst/>
          </a:prstGeom>
          <a:solidFill>
            <a:schemeClr val="tx2"/>
          </a:solidFill>
          <a:ln/>
        </p:spPr>
      </p:sp>
      <p:sp>
        <p:nvSpPr>
          <p:cNvPr id="5" name="Text 3"/>
          <p:cNvSpPr txBox="1"/>
          <p:nvPr/>
        </p:nvSpPr>
        <p:spPr>
          <a:xfrm>
            <a:off x="685800" y="1380744"/>
            <a:ext cx="2103120" cy="45720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profiles</a:t>
            </a:r>
            <a:endParaRPr lang="en-US" sz="1400" dirty="0"/>
          </a:p>
        </p:txBody>
      </p:sp>
      <p:sp>
        <p:nvSpPr>
          <p:cNvPr id="6" name="Text 4"/>
          <p:cNvSpPr txBox="1"/>
          <p:nvPr/>
        </p:nvSpPr>
        <p:spPr>
          <a:xfrm>
            <a:off x="685800" y="1920240"/>
            <a:ext cx="2103120" cy="1645920"/>
          </a:xfrm>
          <a:prstGeom prst="rect">
            <a:avLst/>
          </a:prstGeom>
          <a:noFill/>
          <a:ln/>
        </p:spPr>
        <p:txBody>
          <a:bodyPr wrap="square" lIns="0" tIns="0" rIns="0" bIns="0" rtlCol="0" anchor="t"/>
          <a:lstStyle/>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id  (auth user)</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email</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display_name</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wallet_address</a:t>
            </a:r>
            <a:endParaRPr lang="en-US" sz="1100" dirty="0"/>
          </a:p>
        </p:txBody>
      </p:sp>
      <p:sp>
        <p:nvSpPr>
          <p:cNvPr id="7" name="table user_roles"/>
          <p:cNvSpPr/>
          <p:nvPr/>
        </p:nvSpPr>
        <p:spPr>
          <a:xfrm>
            <a:off x="3063240" y="1371600"/>
            <a:ext cx="2331720" cy="1408176"/>
          </a:xfrm>
          <a:prstGeom prst="roundRect">
            <a:avLst>
              <a:gd name="adj" fmla="val 5195"/>
            </a:avLst>
          </a:prstGeom>
          <a:solidFill>
            <a:schemeClr val="bg1"/>
          </a:solidFill>
          <a:ln w="12700">
            <a:solidFill>
              <a:schemeClr val="accent1"/>
            </a:solidFill>
            <a:prstDash val="solid"/>
          </a:ln>
        </p:spPr>
      </p:sp>
      <p:sp>
        <p:nvSpPr>
          <p:cNvPr id="8" name="table header"/>
          <p:cNvSpPr/>
          <p:nvPr/>
        </p:nvSpPr>
        <p:spPr>
          <a:xfrm>
            <a:off x="3072384" y="1380744"/>
            <a:ext cx="2313432" cy="457200"/>
          </a:xfrm>
          <a:prstGeom prst="rect">
            <a:avLst/>
          </a:prstGeom>
          <a:solidFill>
            <a:schemeClr val="tx2"/>
          </a:solidFill>
          <a:ln/>
        </p:spPr>
      </p:sp>
      <p:sp>
        <p:nvSpPr>
          <p:cNvPr id="9" name="Text 7"/>
          <p:cNvSpPr txBox="1"/>
          <p:nvPr/>
        </p:nvSpPr>
        <p:spPr>
          <a:xfrm>
            <a:off x="3200400" y="1380744"/>
            <a:ext cx="2103120" cy="45720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user_roles</a:t>
            </a:r>
            <a:endParaRPr lang="en-US" sz="1400" dirty="0"/>
          </a:p>
        </p:txBody>
      </p:sp>
      <p:sp>
        <p:nvSpPr>
          <p:cNvPr id="10" name="Text 8"/>
          <p:cNvSpPr txBox="1"/>
          <p:nvPr/>
        </p:nvSpPr>
        <p:spPr>
          <a:xfrm>
            <a:off x="3200400" y="1920240"/>
            <a:ext cx="2103120" cy="822960"/>
          </a:xfrm>
          <a:prstGeom prst="rect">
            <a:avLst/>
          </a:prstGeom>
          <a:noFill/>
          <a:ln/>
        </p:spPr>
        <p:txBody>
          <a:bodyPr wrap="square" lIns="0" tIns="0" rIns="0" bIns="0" rtlCol="0" anchor="t"/>
          <a:lstStyle/>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user_id</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role: owner | beneficiary</a:t>
            </a:r>
            <a:endParaRPr lang="en-US" sz="1100" dirty="0"/>
          </a:p>
        </p:txBody>
      </p:sp>
      <p:sp>
        <p:nvSpPr>
          <p:cNvPr id="11" name="table vaults"/>
          <p:cNvSpPr/>
          <p:nvPr/>
        </p:nvSpPr>
        <p:spPr>
          <a:xfrm>
            <a:off x="5577840" y="1371600"/>
            <a:ext cx="2331720" cy="2944368"/>
          </a:xfrm>
          <a:prstGeom prst="roundRect">
            <a:avLst>
              <a:gd name="adj" fmla="val 3137"/>
            </a:avLst>
          </a:prstGeom>
          <a:solidFill>
            <a:schemeClr val="bg1"/>
          </a:solidFill>
          <a:ln w="12700">
            <a:solidFill>
              <a:schemeClr val="accent1"/>
            </a:solidFill>
            <a:prstDash val="solid"/>
          </a:ln>
        </p:spPr>
      </p:sp>
      <p:sp>
        <p:nvSpPr>
          <p:cNvPr id="12" name="table header"/>
          <p:cNvSpPr/>
          <p:nvPr/>
        </p:nvSpPr>
        <p:spPr>
          <a:xfrm>
            <a:off x="5586984" y="1380744"/>
            <a:ext cx="2313432" cy="457200"/>
          </a:xfrm>
          <a:prstGeom prst="rect">
            <a:avLst/>
          </a:prstGeom>
          <a:solidFill>
            <a:schemeClr val="tx2"/>
          </a:solidFill>
          <a:ln/>
        </p:spPr>
      </p:sp>
      <p:sp>
        <p:nvSpPr>
          <p:cNvPr id="13" name="Text 11"/>
          <p:cNvSpPr txBox="1"/>
          <p:nvPr/>
        </p:nvSpPr>
        <p:spPr>
          <a:xfrm>
            <a:off x="5715000" y="1380744"/>
            <a:ext cx="2103120" cy="45720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vaults</a:t>
            </a:r>
            <a:endParaRPr lang="en-US" sz="1400" dirty="0"/>
          </a:p>
        </p:txBody>
      </p:sp>
      <p:sp>
        <p:nvSpPr>
          <p:cNvPr id="14" name="Text 12"/>
          <p:cNvSpPr txBox="1"/>
          <p:nvPr/>
        </p:nvSpPr>
        <p:spPr>
          <a:xfrm>
            <a:off x="5715000" y="1920240"/>
            <a:ext cx="2103120" cy="2468880"/>
          </a:xfrm>
          <a:prstGeom prst="rect">
            <a:avLst/>
          </a:prstGeom>
          <a:noFill/>
          <a:ln/>
        </p:spPr>
        <p:txBody>
          <a:bodyPr wrap="square" lIns="0" tIns="0" rIns="0" bIns="0" rtlCol="0" anchor="t"/>
          <a:lstStyle/>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owner_id · owner_address</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beneficiary_address</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contract_address · chain_id</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ipfs_cid · timeout_seconds</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deposit_wei · tx_hash</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status · created_at</a:t>
            </a:r>
            <a:endParaRPr lang="en-US" sz="1100" dirty="0"/>
          </a:p>
        </p:txBody>
      </p:sp>
      <p:sp>
        <p:nvSpPr>
          <p:cNvPr id="15" name="why supabase"/>
          <p:cNvSpPr/>
          <p:nvPr/>
        </p:nvSpPr>
        <p:spPr>
          <a:xfrm>
            <a:off x="8183880" y="1371600"/>
            <a:ext cx="3429000" cy="4709160"/>
          </a:xfrm>
          <a:prstGeom prst="roundRect">
            <a:avLst>
              <a:gd name="adj" fmla="val 2133"/>
            </a:avLst>
          </a:prstGeom>
          <a:solidFill>
            <a:schemeClr val="tx2"/>
          </a:solidFill>
          <a:ln/>
        </p:spPr>
      </p:sp>
      <p:sp>
        <p:nvSpPr>
          <p:cNvPr id="16" name="Text 14"/>
          <p:cNvSpPr txBox="1"/>
          <p:nvPr/>
        </p:nvSpPr>
        <p:spPr>
          <a:xfrm>
            <a:off x="8458200" y="1554480"/>
            <a:ext cx="2926080" cy="411480"/>
          </a:xfrm>
          <a:prstGeom prst="rect">
            <a:avLst/>
          </a:prstGeom>
          <a:noFill/>
          <a:ln/>
        </p:spPr>
        <p:txBody>
          <a:bodyPr wrap="square" lIns="0" tIns="0" rIns="0" bIns="0" rtlCol="0" anchor="t"/>
          <a:lstStyle/>
          <a:p>
            <a:pPr indent="0" marL="0">
              <a:buNone/>
            </a:pPr>
            <a:r>
              <a:rPr lang="en-US" sz="1800" b="1" dirty="0">
                <a:solidFill>
                  <a:schemeClr val="accent2"/>
                </a:solidFill>
              </a:rPr>
              <a:t>Why an off-chain index?</a:t>
            </a:r>
            <a:endParaRPr lang="en-US" sz="1800" dirty="0"/>
          </a:p>
        </p:txBody>
      </p:sp>
      <p:sp>
        <p:nvSpPr>
          <p:cNvPr id="17" name="Text 15"/>
          <p:cNvSpPr txBox="1"/>
          <p:nvPr/>
        </p:nvSpPr>
        <p:spPr>
          <a:xfrm>
            <a:off x="8458200" y="2057400"/>
            <a:ext cx="2926080" cy="38404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The contract maps owner → vault only. It has no beneficiary → vaults lookup.</a:t>
            </a:r>
            <a:endParaRPr lang="en-US" sz="1400" dirty="0"/>
          </a:p>
          <a:p>
            <a:pPr marL="177800" indent="-177800">
              <a:spcAft>
                <a:spcPts val="1000"/>
              </a:spcAft>
              <a:buSzPct val="100000"/>
              <a:buChar char="•"/>
            </a:pPr>
            <a:r>
              <a:rPr lang="en-US" sz="1400" dirty="0">
                <a:solidFill>
                  <a:schemeClr val="bg1"/>
                </a:solidFill>
              </a:rPr>
              <a:t>BeneficiaryPanel queries vaults with ilike(beneficiary_address) to find what is addressed to the connected wallet.</a:t>
            </a:r>
            <a:endParaRPr lang="en-US" sz="1400" dirty="0"/>
          </a:p>
          <a:p>
            <a:pPr marL="177800" indent="-177800">
              <a:spcAft>
                <a:spcPts val="1000"/>
              </a:spcAft>
              <a:buSzPct val="100000"/>
              <a:buChar char="•"/>
            </a:pPr>
            <a:r>
              <a:rPr lang="en-US" sz="1400" dirty="0">
                <a:solidFill>
                  <a:schemeClr val="bg1"/>
                </a:solidFill>
              </a:rPr>
              <a:t>The chain stays the source of truth: every card re-reads getVault() every 10 s.</a:t>
            </a:r>
            <a:endParaRPr lang="en-US" sz="1400" dirty="0"/>
          </a:p>
        </p:txBody>
      </p:sp>
      <p:sp>
        <p:nvSpPr>
          <p:cNvPr id="18" name="index flow"/>
          <p:cNvSpPr/>
          <p:nvPr/>
        </p:nvSpPr>
        <p:spPr>
          <a:xfrm>
            <a:off x="548640" y="4572000"/>
            <a:ext cx="7360920" cy="1508760"/>
          </a:xfrm>
          <a:prstGeom prst="roundRect">
            <a:avLst>
              <a:gd name="adj" fmla="val 4848"/>
            </a:avLst>
          </a:prstGeom>
          <a:solidFill>
            <a:schemeClr val="bg2"/>
          </a:solidFill>
          <a:ln/>
        </p:spPr>
      </p:sp>
      <p:sp>
        <p:nvSpPr>
          <p:cNvPr id="19" name="Text 17"/>
          <p:cNvSpPr txBox="1"/>
          <p:nvPr/>
        </p:nvSpPr>
        <p:spPr>
          <a:xfrm>
            <a:off x="777240" y="4663440"/>
            <a:ext cx="6858000" cy="365760"/>
          </a:xfrm>
          <a:prstGeom prst="rect">
            <a:avLst/>
          </a:prstGeom>
          <a:noFill/>
          <a:ln/>
        </p:spPr>
        <p:txBody>
          <a:bodyPr wrap="square" lIns="0" tIns="0" rIns="0" bIns="0" rtlCol="0" anchor="t"/>
          <a:lstStyle/>
          <a:p>
            <a:pPr indent="0" marL="0">
              <a:buNone/>
            </a:pPr>
            <a:r>
              <a:rPr lang="en-US" sz="1500" b="1" dirty="0">
                <a:solidFill>
                  <a:schemeClr val="tx2"/>
                </a:solidFill>
              </a:rPr>
              <a:t>How the index is used</a:t>
            </a:r>
            <a:endParaRPr lang="en-US" sz="1500" dirty="0"/>
          </a:p>
        </p:txBody>
      </p:sp>
      <p:sp>
        <p:nvSpPr>
          <p:cNvPr id="20" name="Text 18"/>
          <p:cNvSpPr txBox="1"/>
          <p:nvPr/>
        </p:nvSpPr>
        <p:spPr>
          <a:xfrm>
            <a:off x="777240" y="5074920"/>
            <a:ext cx="2057400" cy="868680"/>
          </a:xfrm>
          <a:prstGeom prst="rect">
            <a:avLst/>
          </a:prstGeom>
          <a:noFill/>
          <a:ln/>
        </p:spPr>
        <p:txBody>
          <a:bodyPr wrap="square" lIns="0" tIns="0" rIns="0" bIns="0" rtlCol="0" anchor="ctr"/>
          <a:lstStyle/>
          <a:p>
            <a:pPr indent="0" marL="0">
              <a:buNone/>
            </a:pPr>
            <a:r>
              <a:rPr lang="en-US" sz="1250" dirty="0">
                <a:solidFill>
                  <a:schemeClr val="tx1"/>
                </a:solidFill>
              </a:rPr>
              <a:t>SetupForm inserts a row after register() confirms</a:t>
            </a:r>
            <a:endParaRPr lang="en-US" sz="1250" dirty="0"/>
          </a:p>
        </p:txBody>
      </p:sp>
      <p:sp>
        <p:nvSpPr>
          <p:cNvPr id="21" name="connector"/>
          <p:cNvSpPr/>
          <p:nvPr/>
        </p:nvSpPr>
        <p:spPr>
          <a:xfrm>
            <a:off x="2834640" y="5504688"/>
            <a:ext cx="274320" cy="0"/>
          </a:xfrm>
          <a:prstGeom prst="line">
            <a:avLst/>
          </a:prstGeom>
          <a:noFill/>
          <a:ln w="25400">
            <a:solidFill>
              <a:schemeClr val="accent1"/>
            </a:solidFill>
            <a:prstDash val="solid"/>
            <a:tailEnd type="triangle"/>
          </a:ln>
        </p:spPr>
      </p:sp>
      <p:sp>
        <p:nvSpPr>
          <p:cNvPr id="22" name="Text 20"/>
          <p:cNvSpPr txBox="1"/>
          <p:nvPr/>
        </p:nvSpPr>
        <p:spPr>
          <a:xfrm>
            <a:off x="3154680" y="5074920"/>
            <a:ext cx="2057400" cy="868680"/>
          </a:xfrm>
          <a:prstGeom prst="rect">
            <a:avLst/>
          </a:prstGeom>
          <a:noFill/>
          <a:ln/>
        </p:spPr>
        <p:txBody>
          <a:bodyPr wrap="square" lIns="0" tIns="0" rIns="0" bIns="0" rtlCol="0" anchor="ctr"/>
          <a:lstStyle/>
          <a:p>
            <a:pPr indent="0" marL="0">
              <a:buNone/>
            </a:pPr>
            <a:r>
              <a:rPr lang="en-US" sz="1250" dirty="0">
                <a:solidFill>
                  <a:schemeClr val="tx1"/>
                </a:solidFill>
              </a:rPr>
              <a:t>BeneficiaryPanel finds rows for the connected wallet</a:t>
            </a:r>
            <a:endParaRPr lang="en-US" sz="1250" dirty="0"/>
          </a:p>
        </p:txBody>
      </p:sp>
      <p:sp>
        <p:nvSpPr>
          <p:cNvPr id="23" name="connector"/>
          <p:cNvSpPr/>
          <p:nvPr/>
        </p:nvSpPr>
        <p:spPr>
          <a:xfrm>
            <a:off x="5212080" y="5504688"/>
            <a:ext cx="274320" cy="0"/>
          </a:xfrm>
          <a:prstGeom prst="line">
            <a:avLst/>
          </a:prstGeom>
          <a:noFill/>
          <a:ln w="25400">
            <a:solidFill>
              <a:schemeClr val="accent1"/>
            </a:solidFill>
            <a:prstDash val="solid"/>
            <a:tailEnd type="triangle"/>
          </a:ln>
        </p:spPr>
      </p:sp>
      <p:sp>
        <p:nvSpPr>
          <p:cNvPr id="24" name="Text 22"/>
          <p:cNvSpPr txBox="1"/>
          <p:nvPr/>
        </p:nvSpPr>
        <p:spPr>
          <a:xfrm>
            <a:off x="5532120" y="5074920"/>
            <a:ext cx="2057400" cy="868680"/>
          </a:xfrm>
          <a:prstGeom prst="rect">
            <a:avLst/>
          </a:prstGeom>
          <a:noFill/>
          <a:ln/>
        </p:spPr>
        <p:txBody>
          <a:bodyPr wrap="square" lIns="0" tIns="0" rIns="0" bIns="0" rtlCol="0" anchor="ctr"/>
          <a:lstStyle/>
          <a:p>
            <a:pPr indent="0" marL="0">
              <a:buNone/>
            </a:pPr>
            <a:r>
              <a:rPr lang="en-US" sz="1250" dirty="0">
                <a:solidFill>
                  <a:schemeClr val="tx1"/>
                </a:solidFill>
              </a:rPr>
              <a:t>Each VaultCard re-reads getVault() on-chain</a:t>
            </a:r>
            <a:endParaRPr lang="en-US" sz="125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lstStyle/>
          <a:p>
            <a:pPr indent="0" marL="0">
              <a:buNone/>
            </a:pPr>
            <a:r>
              <a:rPr lang="en-US" sz="9600" dirty="0">
                <a:solidFill>
                  <a:schemeClr val="accent2"/>
                </a:solidFill>
                <a:latin typeface="Cambria" pitchFamily="34" charset="0"/>
                <a:ea typeface="Cambria" pitchFamily="34" charset="-122"/>
                <a:cs typeface="Cambria" pitchFamily="34" charset="-120"/>
              </a:rPr>
              <a:t>04</a:t>
            </a: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User journeys</a:t>
            </a: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1800" dirty="0">
                <a:solidFill>
                  <a:schemeClr val="accent2"/>
                </a:solidFill>
              </a:rPr>
              <a:t>Screen by screen: landing, sign-in, arming a vault, heartbeats, release, and the beneficiary decrypting.</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Landing page</a:t>
            </a:r>
            <a:endParaRPr lang="en-US" sz="3200" dirty="0"/>
          </a:p>
        </p:txBody>
      </p:sp>
      <p:sp>
        <p:nvSpPr>
          <p:cNvPr id="3" name="screenshot frame"/>
          <p:cNvSpPr/>
          <p:nvPr/>
        </p:nvSpPr>
        <p:spPr>
          <a:xfrm>
            <a:off x="512064" y="1289304"/>
            <a:ext cx="7022592" cy="441655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landing.png" descr="Route /  ·  Hero, StackStrip and HowItWorks components">    </p:cNvPr>
          <p:cNvPicPr>
            <a:picLocks noChangeAspect="1"/>
          </p:cNvPicPr>
          <p:nvPr/>
        </p:nvPicPr>
        <p:blipFill>
          <a:blip r:embed="rId1"/>
          <a:stretch>
            <a:fillRect/>
          </a:stretch>
        </p:blipFill>
        <p:spPr>
          <a:xfrm>
            <a:off x="548640" y="1325880"/>
            <a:ext cx="6949440" cy="4343400"/>
          </a:xfrm>
          <a:prstGeom prst="rect">
            <a:avLst/>
          </a:prstGeom>
        </p:spPr>
      </p:pic>
      <p:sp>
        <p:nvSpPr>
          <p:cNvPr id="5" name="Text 2"/>
          <p:cNvSpPr txBox="1"/>
          <p:nvPr/>
        </p:nvSpPr>
        <p:spPr>
          <a:xfrm>
            <a:off x="548640" y="5760720"/>
            <a:ext cx="6949440" cy="274320"/>
          </a:xfrm>
          <a:prstGeom prst="rect">
            <a:avLst/>
          </a:prstGeom>
          <a:noFill/>
          <a:ln/>
        </p:spPr>
        <p:txBody>
          <a:bodyPr wrap="square" lIns="0" tIns="0" rIns="0" bIns="0" rtlCol="0" anchor="t"/>
          <a:lstStyle/>
          <a:p>
            <a:pPr indent="0" marL="0">
              <a:buNone/>
            </a:pPr>
            <a:r>
              <a:rPr lang="en-US" sz="1000" i="1" dirty="0">
                <a:solidFill>
                  <a:schemeClr val="accent6"/>
                </a:solidFill>
              </a:rPr>
              <a:t>Route /  ·  Hero, StackStrip and HowItWorks components</a:t>
            </a:r>
            <a:endParaRPr lang="en-US" sz="1000" dirty="0"/>
          </a:p>
        </p:txBody>
      </p:sp>
      <p:sp>
        <p:nvSpPr>
          <p:cNvPr id="6" name="Text 3"/>
          <p:cNvSpPr txBox="1"/>
          <p:nvPr/>
        </p:nvSpPr>
        <p:spPr>
          <a:xfrm>
            <a:off x="7955280" y="1371600"/>
            <a:ext cx="3657600" cy="2743200"/>
          </a:xfrm>
          <a:prstGeom prst="rect">
            <a:avLst/>
          </a:prstGeom>
          <a:noFill/>
          <a:ln/>
        </p:spPr>
        <p:txBody>
          <a:bodyPr wrap="square" lIns="0" tIns="0" rIns="0" bIns="0" rtlCol="0" anchor="t"/>
          <a:lstStyle/>
          <a:p>
            <a:pPr marL="177800" indent="-177800">
              <a:spcAft>
                <a:spcPts val="1200"/>
              </a:spcAft>
              <a:buSzPct val="100000"/>
              <a:buChar char="•"/>
            </a:pPr>
            <a:r>
              <a:rPr lang="en-US" sz="1400" b="1" dirty="0">
                <a:solidFill>
                  <a:schemeClr val="accent1"/>
                </a:solidFill>
              </a:rPr>
              <a:t>Hero </a:t>
            </a:r>
            <a:pPr indent="0" marL="0">
              <a:buNone/>
            </a:pPr>
            <a:r>
              <a:rPr lang="en-US" sz="1400" dirty="0">
                <a:solidFill>
                  <a:schemeClr val="tx1"/>
                </a:solidFill>
              </a:rPr>
              <a:t>pitches the product with an animated hourglass and contract snippet.</a:t>
            </a:r>
            <a:endParaRPr lang="en-US" sz="1400" dirty="0"/>
          </a:p>
          <a:p>
            <a:pPr marL="177800" indent="-177800">
              <a:spcAft>
                <a:spcPts val="1200"/>
              </a:spcAft>
              <a:buSzPct val="100000"/>
              <a:buChar char="•"/>
            </a:pPr>
            <a:r>
              <a:rPr lang="en-US" sz="1400" b="1" dirty="0">
                <a:solidFill>
                  <a:schemeClr val="accent1"/>
                </a:solidFill>
              </a:rPr>
              <a:t>Lifecycle strip </a:t>
            </a:r>
            <a:pPr indent="0" marL="0">
              <a:buNone/>
            </a:pPr>
            <a:r>
              <a:rPr lang="en-US" sz="1400" dirty="0">
                <a:solidFill>
                  <a:schemeClr val="tx1"/>
                </a:solidFill>
              </a:rPr>
              <a:t>explains the five states: Register, Heartbeat, Silence, Anyone calls, Released.</a:t>
            </a:r>
            <a:endParaRPr lang="en-US" sz="1400" dirty="0"/>
          </a:p>
          <a:p>
            <a:pPr marL="177800" indent="-177800">
              <a:spcAft>
                <a:spcPts val="1200"/>
              </a:spcAft>
              <a:buSzPct val="100000"/>
              <a:buChar char="•"/>
            </a:pPr>
            <a:r>
              <a:rPr lang="en-US" sz="1400" b="1" dirty="0">
                <a:solidFill>
                  <a:schemeClr val="accent1"/>
                </a:solidFill>
              </a:rPr>
              <a:t>Calls to action </a:t>
            </a:r>
            <a:pPr indent="0" marL="0">
              <a:buNone/>
            </a:pPr>
            <a:r>
              <a:rPr lang="en-US" sz="1400" dirty="0">
                <a:solidFill>
                  <a:schemeClr val="tx1"/>
                </a:solidFill>
              </a:rPr>
              <a:t>route to /auth, then to the protected /app.</a:t>
            </a:r>
            <a:endParaRPr lang="en-US" sz="1400" dirty="0"/>
          </a:p>
        </p:txBody>
      </p:sp>
      <p:sp>
        <p:nvSpPr>
          <p:cNvPr id="7" name="screenshot frame"/>
          <p:cNvSpPr/>
          <p:nvPr/>
        </p:nvSpPr>
        <p:spPr>
          <a:xfrm>
            <a:off x="7918704" y="4306824"/>
            <a:ext cx="3730752" cy="103008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8" name="screenshot lifecycle.png" descr="Lifecycle section further down the page">    </p:cNvPr>
          <p:cNvPicPr>
            <a:picLocks noChangeAspect="1"/>
          </p:cNvPicPr>
          <p:nvPr/>
        </p:nvPicPr>
        <p:blipFill>
          <a:blip r:embed="rId2"/>
          <a:stretch>
            <a:fillRect/>
          </a:stretch>
        </p:blipFill>
        <p:spPr>
          <a:xfrm>
            <a:off x="7955280" y="4343400"/>
            <a:ext cx="3657600" cy="956930"/>
          </a:xfrm>
          <a:prstGeom prst="rect">
            <a:avLst/>
          </a:prstGeom>
        </p:spPr>
      </p:pic>
      <p:sp>
        <p:nvSpPr>
          <p:cNvPr id="9" name="Text 5"/>
          <p:cNvSpPr txBox="1"/>
          <p:nvPr/>
        </p:nvSpPr>
        <p:spPr>
          <a:xfrm>
            <a:off x="7955280" y="5391770"/>
            <a:ext cx="3657600" cy="274320"/>
          </a:xfrm>
          <a:prstGeom prst="rect">
            <a:avLst/>
          </a:prstGeom>
          <a:noFill/>
          <a:ln/>
        </p:spPr>
        <p:txBody>
          <a:bodyPr wrap="square" lIns="0" tIns="0" rIns="0" bIns="0" rtlCol="0" anchor="t"/>
          <a:lstStyle/>
          <a:p>
            <a:pPr indent="0" marL="0">
              <a:buNone/>
            </a:pPr>
            <a:r>
              <a:rPr lang="en-US" sz="1000" i="1" dirty="0">
                <a:solidFill>
                  <a:schemeClr val="accent6"/>
                </a:solidFill>
              </a:rPr>
              <a:t>Lifecycle section further down the page</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Sign-in, route guard and wallet linking</a:t>
            </a:r>
            <a:endParaRPr lang="en-US" sz="3200" dirty="0"/>
          </a:p>
        </p:txBody>
      </p:sp>
      <p:sp>
        <p:nvSpPr>
          <p:cNvPr id="3" name="screenshot frame"/>
          <p:cNvSpPr/>
          <p:nvPr/>
        </p:nvSpPr>
        <p:spPr>
          <a:xfrm>
            <a:off x="512064" y="1289304"/>
            <a:ext cx="4005072" cy="4467651"/>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auth.png" descr="Route /auth">    </p:cNvPr>
          <p:cNvPicPr>
            <a:picLocks noChangeAspect="1"/>
          </p:cNvPicPr>
          <p:nvPr/>
        </p:nvPicPr>
        <p:blipFill>
          <a:blip r:embed="rId1"/>
          <a:stretch>
            <a:fillRect/>
          </a:stretch>
        </p:blipFill>
        <p:spPr>
          <a:xfrm>
            <a:off x="548640" y="1325880"/>
            <a:ext cx="3931920" cy="4394499"/>
          </a:xfrm>
          <a:prstGeom prst="rect">
            <a:avLst/>
          </a:prstGeom>
        </p:spPr>
      </p:pic>
      <p:sp>
        <p:nvSpPr>
          <p:cNvPr id="5" name="Text 2"/>
          <p:cNvSpPr txBox="1"/>
          <p:nvPr/>
        </p:nvSpPr>
        <p:spPr>
          <a:xfrm>
            <a:off x="548640" y="5811819"/>
            <a:ext cx="3931920" cy="274320"/>
          </a:xfrm>
          <a:prstGeom prst="rect">
            <a:avLst/>
          </a:prstGeom>
          <a:noFill/>
          <a:ln/>
        </p:spPr>
        <p:txBody>
          <a:bodyPr wrap="square" lIns="0" tIns="0" rIns="0" bIns="0" rtlCol="0" anchor="t"/>
          <a:lstStyle/>
          <a:p>
            <a:pPr indent="0" marL="0">
              <a:buNone/>
            </a:pPr>
            <a:r>
              <a:rPr lang="en-US" sz="1000" i="1" dirty="0">
                <a:solidFill>
                  <a:schemeClr val="accent6"/>
                </a:solidFill>
              </a:rPr>
              <a:t>Route /auth</a:t>
            </a:r>
            <a:endParaRPr lang="en-US" sz="1000" dirty="0"/>
          </a:p>
        </p:txBody>
      </p:sp>
      <p:sp>
        <p:nvSpPr>
          <p:cNvPr id="6" name="icon circle"/>
          <p:cNvSpPr/>
          <p:nvPr/>
        </p:nvSpPr>
        <p:spPr>
          <a:xfrm>
            <a:off x="5120640" y="1371600"/>
            <a:ext cx="594360" cy="594360"/>
          </a:xfrm>
          <a:prstGeom prst="ellipse">
            <a:avLst/>
          </a:prstGeom>
          <a:solidFill>
            <a:schemeClr val="accent1"/>
          </a:solidFill>
          <a:ln/>
        </p:spPr>
      </p:sp>
      <p:pic>
        <p:nvPicPr>
          <p:cNvPr id="7" name="icon glyph" descr="preencoded.png">    </p:cNvPr>
          <p:cNvPicPr>
            <a:picLocks noChangeAspect="1"/>
          </p:cNvPicPr>
          <p:nvPr/>
        </p:nvPicPr>
        <p:blipFill>
          <a:blip r:embed="rId2"/>
          <a:stretch>
            <a:fillRect/>
          </a:stretch>
        </p:blipFill>
        <p:spPr>
          <a:xfrm>
            <a:off x="5263286" y="1514246"/>
            <a:ext cx="309067" cy="309067"/>
          </a:xfrm>
          <a:prstGeom prst="rect">
            <a:avLst/>
          </a:prstGeom>
        </p:spPr>
      </p:pic>
      <p:sp>
        <p:nvSpPr>
          <p:cNvPr id="8" name="Text 4"/>
          <p:cNvSpPr txBox="1"/>
          <p:nvPr/>
        </p:nvSpPr>
        <p:spPr>
          <a:xfrm>
            <a:off x="5943600" y="1371600"/>
            <a:ext cx="5669280" cy="347472"/>
          </a:xfrm>
          <a:prstGeom prst="rect">
            <a:avLst/>
          </a:prstGeom>
          <a:noFill/>
          <a:ln/>
        </p:spPr>
        <p:txBody>
          <a:bodyPr wrap="square" lIns="0" tIns="0" rIns="0" bIns="0" rtlCol="0" anchor="t"/>
          <a:lstStyle/>
          <a:p>
            <a:pPr indent="0" marL="0">
              <a:buNone/>
            </a:pPr>
            <a:r>
              <a:rPr lang="en-US" sz="1700" b="1" dirty="0">
                <a:solidFill>
                  <a:schemeClr val="tx2"/>
                </a:solidFill>
              </a:rPr>
              <a:t>Supabase Auth</a:t>
            </a:r>
            <a:endParaRPr lang="en-US" sz="1700" dirty="0"/>
          </a:p>
        </p:txBody>
      </p:sp>
      <p:sp>
        <p:nvSpPr>
          <p:cNvPr id="9" name="Text 5"/>
          <p:cNvSpPr txBox="1"/>
          <p:nvPr/>
        </p:nvSpPr>
        <p:spPr>
          <a:xfrm>
            <a:off x="5943600" y="1737360"/>
            <a:ext cx="5669280" cy="640080"/>
          </a:xfrm>
          <a:prstGeom prst="rect">
            <a:avLst/>
          </a:prstGeom>
          <a:noFill/>
          <a:ln/>
        </p:spPr>
        <p:txBody>
          <a:bodyPr wrap="square" lIns="0" tIns="0" rIns="0" bIns="0" rtlCol="0" anchor="t"/>
          <a:lstStyle/>
          <a:p>
            <a:pPr indent="0" marL="0">
              <a:buNone/>
            </a:pPr>
            <a:r>
              <a:rPr lang="en-US" sz="1400" dirty="0">
                <a:solidFill>
                  <a:schemeClr val="tx1"/>
                </a:solidFill>
              </a:rPr>
              <a:t>Email/password via signInWithPassword / signUp, or Google OAuth.</a:t>
            </a:r>
            <a:endParaRPr lang="en-US" sz="1400" dirty="0"/>
          </a:p>
        </p:txBody>
      </p:sp>
      <p:sp>
        <p:nvSpPr>
          <p:cNvPr id="10" name="icon circle"/>
          <p:cNvSpPr/>
          <p:nvPr/>
        </p:nvSpPr>
        <p:spPr>
          <a:xfrm>
            <a:off x="5120640" y="2487168"/>
            <a:ext cx="594360" cy="594360"/>
          </a:xfrm>
          <a:prstGeom prst="ellipse">
            <a:avLst/>
          </a:prstGeom>
          <a:solidFill>
            <a:schemeClr val="accent1"/>
          </a:solidFill>
          <a:ln/>
        </p:spPr>
      </p:sp>
      <p:pic>
        <p:nvPicPr>
          <p:cNvPr id="11" name="icon glyph" descr="preencoded.png">    </p:cNvPr>
          <p:cNvPicPr>
            <a:picLocks noChangeAspect="1"/>
          </p:cNvPicPr>
          <p:nvPr/>
        </p:nvPicPr>
        <p:blipFill>
          <a:blip r:embed="rId3"/>
          <a:stretch>
            <a:fillRect/>
          </a:stretch>
        </p:blipFill>
        <p:spPr>
          <a:xfrm>
            <a:off x="5263286" y="2629814"/>
            <a:ext cx="309067" cy="309067"/>
          </a:xfrm>
          <a:prstGeom prst="rect">
            <a:avLst/>
          </a:prstGeom>
        </p:spPr>
      </p:pic>
      <p:sp>
        <p:nvSpPr>
          <p:cNvPr id="12" name="Text 7"/>
          <p:cNvSpPr txBox="1"/>
          <p:nvPr/>
        </p:nvSpPr>
        <p:spPr>
          <a:xfrm>
            <a:off x="5943600" y="2487168"/>
            <a:ext cx="5669280" cy="347472"/>
          </a:xfrm>
          <a:prstGeom prst="rect">
            <a:avLst/>
          </a:prstGeom>
          <a:noFill/>
          <a:ln/>
        </p:spPr>
        <p:txBody>
          <a:bodyPr wrap="square" lIns="0" tIns="0" rIns="0" bIns="0" rtlCol="0" anchor="t"/>
          <a:lstStyle/>
          <a:p>
            <a:pPr indent="0" marL="0">
              <a:buNone/>
            </a:pPr>
            <a:r>
              <a:rPr lang="en-US" sz="1700" b="1" dirty="0">
                <a:solidFill>
                  <a:schemeClr val="tx2"/>
                </a:solidFill>
              </a:rPr>
              <a:t>Route guard</a:t>
            </a:r>
            <a:endParaRPr lang="en-US" sz="1700" dirty="0"/>
          </a:p>
        </p:txBody>
      </p:sp>
      <p:sp>
        <p:nvSpPr>
          <p:cNvPr id="13" name="Text 8"/>
          <p:cNvSpPr txBox="1"/>
          <p:nvPr/>
        </p:nvSpPr>
        <p:spPr>
          <a:xfrm>
            <a:off x="5943600" y="2852928"/>
            <a:ext cx="5669280" cy="640080"/>
          </a:xfrm>
          <a:prstGeom prst="rect">
            <a:avLst/>
          </a:prstGeom>
          <a:noFill/>
          <a:ln/>
        </p:spPr>
        <p:txBody>
          <a:bodyPr wrap="square" lIns="0" tIns="0" rIns="0" bIns="0" rtlCol="0" anchor="t"/>
          <a:lstStyle/>
          <a:p>
            <a:pPr indent="0" marL="0">
              <a:buNone/>
            </a:pPr>
            <a:r>
              <a:rPr lang="en-US" sz="1400" dirty="0">
                <a:solidFill>
                  <a:schemeClr val="tx1"/>
                </a:solidFill>
              </a:rPr>
              <a:t>/_authenticated runs beforeLoad → supabase.auth.getUser(); no user redirects to /auth.</a:t>
            </a:r>
            <a:endParaRPr lang="en-US" sz="1400" dirty="0"/>
          </a:p>
        </p:txBody>
      </p:sp>
      <p:sp>
        <p:nvSpPr>
          <p:cNvPr id="14" name="icon circle"/>
          <p:cNvSpPr/>
          <p:nvPr/>
        </p:nvSpPr>
        <p:spPr>
          <a:xfrm>
            <a:off x="5120640" y="3602736"/>
            <a:ext cx="594360" cy="594360"/>
          </a:xfrm>
          <a:prstGeom prst="ellipse">
            <a:avLst/>
          </a:prstGeom>
          <a:solidFill>
            <a:schemeClr val="accent1"/>
          </a:solidFill>
          <a:ln/>
        </p:spPr>
      </p:sp>
      <p:pic>
        <p:nvPicPr>
          <p:cNvPr id="15" name="icon glyph" descr="preencoded.png">    </p:cNvPr>
          <p:cNvPicPr>
            <a:picLocks noChangeAspect="1"/>
          </p:cNvPicPr>
          <p:nvPr/>
        </p:nvPicPr>
        <p:blipFill>
          <a:blip r:embed="rId4"/>
          <a:stretch>
            <a:fillRect/>
          </a:stretch>
        </p:blipFill>
        <p:spPr>
          <a:xfrm>
            <a:off x="5263286" y="3745382"/>
            <a:ext cx="309067" cy="309067"/>
          </a:xfrm>
          <a:prstGeom prst="rect">
            <a:avLst/>
          </a:prstGeom>
        </p:spPr>
      </p:pic>
      <p:sp>
        <p:nvSpPr>
          <p:cNvPr id="16" name="Text 10"/>
          <p:cNvSpPr txBox="1"/>
          <p:nvPr/>
        </p:nvSpPr>
        <p:spPr>
          <a:xfrm>
            <a:off x="5943600" y="3602736"/>
            <a:ext cx="5669280" cy="347472"/>
          </a:xfrm>
          <a:prstGeom prst="rect">
            <a:avLst/>
          </a:prstGeom>
          <a:noFill/>
          <a:ln/>
        </p:spPr>
        <p:txBody>
          <a:bodyPr wrap="square" lIns="0" tIns="0" rIns="0" bIns="0" rtlCol="0" anchor="t"/>
          <a:lstStyle/>
          <a:p>
            <a:pPr indent="0" marL="0">
              <a:buNone/>
            </a:pPr>
            <a:r>
              <a:rPr lang="en-US" sz="1700" b="1" dirty="0">
                <a:solidFill>
                  <a:schemeClr val="tx2"/>
                </a:solidFill>
              </a:rPr>
              <a:t>Connect MetaMask</a:t>
            </a:r>
            <a:endParaRPr lang="en-US" sz="1700" dirty="0"/>
          </a:p>
        </p:txBody>
      </p:sp>
      <p:sp>
        <p:nvSpPr>
          <p:cNvPr id="17" name="Text 11"/>
          <p:cNvSpPr txBox="1"/>
          <p:nvPr/>
        </p:nvSpPr>
        <p:spPr>
          <a:xfrm>
            <a:off x="5943600" y="3968496"/>
            <a:ext cx="5669280" cy="640080"/>
          </a:xfrm>
          <a:prstGeom prst="rect">
            <a:avLst/>
          </a:prstGeom>
          <a:noFill/>
          <a:ln/>
        </p:spPr>
        <p:txBody>
          <a:bodyPr wrap="square" lIns="0" tIns="0" rIns="0" bIns="0" rtlCol="0" anchor="t"/>
          <a:lstStyle/>
          <a:p>
            <a:pPr indent="0" marL="0">
              <a:buNone/>
            </a:pPr>
            <a:r>
              <a:rPr lang="en-US" sz="1400" dirty="0">
                <a:solidFill>
                  <a:schemeClr val="tx1"/>
                </a:solidFill>
              </a:rPr>
              <a:t>eth_requestAccounts; account and chain changes are tracked live.</a:t>
            </a:r>
            <a:endParaRPr lang="en-US" sz="1400" dirty="0"/>
          </a:p>
        </p:txBody>
      </p:sp>
      <p:sp>
        <p:nvSpPr>
          <p:cNvPr id="18" name="icon circle"/>
          <p:cNvSpPr/>
          <p:nvPr/>
        </p:nvSpPr>
        <p:spPr>
          <a:xfrm>
            <a:off x="5120640" y="4718304"/>
            <a:ext cx="594360" cy="594360"/>
          </a:xfrm>
          <a:prstGeom prst="ellipse">
            <a:avLst/>
          </a:prstGeom>
          <a:solidFill>
            <a:schemeClr val="accent1"/>
          </a:solidFill>
          <a:ln/>
        </p:spPr>
      </p:sp>
      <p:pic>
        <p:nvPicPr>
          <p:cNvPr id="19" name="icon glyph" descr="preencoded.png">    </p:cNvPr>
          <p:cNvPicPr>
            <a:picLocks noChangeAspect="1"/>
          </p:cNvPicPr>
          <p:nvPr/>
        </p:nvPicPr>
        <p:blipFill>
          <a:blip r:embed="rId5"/>
          <a:stretch>
            <a:fillRect/>
          </a:stretch>
        </p:blipFill>
        <p:spPr>
          <a:xfrm>
            <a:off x="5263286" y="4860950"/>
            <a:ext cx="309067" cy="309067"/>
          </a:xfrm>
          <a:prstGeom prst="rect">
            <a:avLst/>
          </a:prstGeom>
        </p:spPr>
      </p:pic>
      <p:sp>
        <p:nvSpPr>
          <p:cNvPr id="20" name="Text 13"/>
          <p:cNvSpPr txBox="1"/>
          <p:nvPr/>
        </p:nvSpPr>
        <p:spPr>
          <a:xfrm>
            <a:off x="5943600" y="4718304"/>
            <a:ext cx="5669280" cy="347472"/>
          </a:xfrm>
          <a:prstGeom prst="rect">
            <a:avLst/>
          </a:prstGeom>
          <a:noFill/>
          <a:ln/>
        </p:spPr>
        <p:txBody>
          <a:bodyPr wrap="square" lIns="0" tIns="0" rIns="0" bIns="0" rtlCol="0" anchor="t"/>
          <a:lstStyle/>
          <a:p>
            <a:pPr indent="0" marL="0">
              <a:buNone/>
            </a:pPr>
            <a:r>
              <a:rPr lang="en-US" sz="1700" b="1" dirty="0">
                <a:solidFill>
                  <a:schemeClr val="tx2"/>
                </a:solidFill>
              </a:rPr>
              <a:t>Link wallet</a:t>
            </a:r>
            <a:endParaRPr lang="en-US" sz="1700" dirty="0"/>
          </a:p>
        </p:txBody>
      </p:sp>
      <p:sp>
        <p:nvSpPr>
          <p:cNvPr id="21" name="Text 14"/>
          <p:cNvSpPr txBox="1"/>
          <p:nvPr/>
        </p:nvSpPr>
        <p:spPr>
          <a:xfrm>
            <a:off x="5943600" y="5084064"/>
            <a:ext cx="5669280" cy="640080"/>
          </a:xfrm>
          <a:prstGeom prst="rect">
            <a:avLst/>
          </a:prstGeom>
          <a:noFill/>
          <a:ln/>
        </p:spPr>
        <p:txBody>
          <a:bodyPr wrap="square" lIns="0" tIns="0" rIns="0" bIns="0" rtlCol="0" anchor="t"/>
          <a:lstStyle/>
          <a:p>
            <a:pPr indent="0" marL="0">
              <a:buNone/>
            </a:pPr>
            <a:r>
              <a:rPr lang="en-US" sz="1400" dirty="0">
                <a:solidFill>
                  <a:schemeClr val="tx1"/>
                </a:solidFill>
              </a:rPr>
              <a:t>Address saved to profiles.wallet_address; wrong chain shows a Switch button.</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Pointing the app at a deployment</a:t>
            </a:r>
            <a:endParaRPr lang="en-US" sz="3200" dirty="0"/>
          </a:p>
        </p:txBody>
      </p:sp>
      <p:sp>
        <p:nvSpPr>
          <p:cNvPr id="3" name="screenshot frame"/>
          <p:cNvSpPr/>
          <p:nvPr/>
        </p:nvSpPr>
        <p:spPr>
          <a:xfrm>
            <a:off x="512064" y="1289304"/>
            <a:ext cx="6839712" cy="4371908"/>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contract_settings.png" descr="Owner view before a contract address is set">    </p:cNvPr>
          <p:cNvPicPr>
            <a:picLocks noChangeAspect="1"/>
          </p:cNvPicPr>
          <p:nvPr/>
        </p:nvPicPr>
        <p:blipFill>
          <a:blip r:embed="rId1"/>
          <a:stretch>
            <a:fillRect/>
          </a:stretch>
        </p:blipFill>
        <p:spPr>
          <a:xfrm>
            <a:off x="548640" y="1325880"/>
            <a:ext cx="6766560" cy="4298756"/>
          </a:xfrm>
          <a:prstGeom prst="rect">
            <a:avLst/>
          </a:prstGeom>
        </p:spPr>
      </p:pic>
      <p:sp>
        <p:nvSpPr>
          <p:cNvPr id="5" name="Text 2"/>
          <p:cNvSpPr txBox="1"/>
          <p:nvPr/>
        </p:nvSpPr>
        <p:spPr>
          <a:xfrm>
            <a:off x="548640" y="5716076"/>
            <a:ext cx="6766560" cy="274320"/>
          </a:xfrm>
          <a:prstGeom prst="rect">
            <a:avLst/>
          </a:prstGeom>
          <a:noFill/>
          <a:ln/>
        </p:spPr>
        <p:txBody>
          <a:bodyPr wrap="square" lIns="0" tIns="0" rIns="0" bIns="0" rtlCol="0" anchor="t"/>
          <a:lstStyle/>
          <a:p>
            <a:pPr indent="0" marL="0">
              <a:buNone/>
            </a:pPr>
            <a:r>
              <a:rPr lang="en-US" sz="1000" i="1" dirty="0">
                <a:solidFill>
                  <a:schemeClr val="accent6"/>
                </a:solidFill>
              </a:rPr>
              <a:t>Owner view before a contract address is set</a:t>
            </a:r>
            <a:endParaRPr lang="en-US" sz="1000" dirty="0"/>
          </a:p>
        </p:txBody>
      </p:sp>
      <p:sp>
        <p:nvSpPr>
          <p:cNvPr id="6" name="Text 3"/>
          <p:cNvSpPr txBox="1"/>
          <p:nvPr/>
        </p:nvSpPr>
        <p:spPr>
          <a:xfrm>
            <a:off x="7772400" y="1371600"/>
            <a:ext cx="3840480" cy="438912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chemeClr val="tx1"/>
                </a:solidFill>
              </a:rPr>
              <a:t>Address comes from VITE_VAULT_CONTRACT_ADDRESS or is pasted here by the owner.</a:t>
            </a:r>
            <a:endParaRPr lang="en-US" sz="1500" dirty="0"/>
          </a:p>
          <a:p>
            <a:pPr marL="177800" indent="-177800">
              <a:spcAft>
                <a:spcPts val="1200"/>
              </a:spcAft>
              <a:buSzPct val="100000"/>
              <a:buChar char="•"/>
            </a:pPr>
            <a:r>
              <a:rPr lang="en-US" sz="1500" dirty="0">
                <a:solidFill>
                  <a:schemeClr val="tx1"/>
                </a:solidFill>
              </a:rPr>
              <a:t>Saved to localStorage, so one static build can target any DeadMansSwitch deployment.</a:t>
            </a:r>
            <a:endParaRPr lang="en-US" sz="1500" dirty="0"/>
          </a:p>
          <a:p>
            <a:pPr marL="177800" indent="-177800">
              <a:spcAft>
                <a:spcPts val="1200"/>
              </a:spcAft>
              <a:buSzPct val="100000"/>
              <a:buChar char="•"/>
            </a:pPr>
            <a:r>
              <a:rPr lang="en-US" sz="1500" dirty="0">
                <a:solidFill>
                  <a:schemeClr val="tx1"/>
                </a:solidFill>
              </a:rPr>
              <a:t>Supported networks: Sepolia (default, chain 11155111), Base Sepolia, Base, Ethereum.</a:t>
            </a:r>
            <a:endParaRPr lang="en-US" sz="1500" dirty="0"/>
          </a:p>
          <a:p>
            <a:pPr marL="177800" indent="-177800">
              <a:spcAft>
                <a:spcPts val="1200"/>
              </a:spcAft>
              <a:buSzPct val="100000"/>
              <a:buChar char="•"/>
            </a:pPr>
            <a:r>
              <a:rPr lang="en-US" sz="1500" dirty="0">
                <a:solidFill>
                  <a:schemeClr val="tx1"/>
                </a:solidFill>
              </a:rPr>
              <a:t>Explorer links for each transaction are built from the chosen network.</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Owner arms a vault</a:t>
            </a:r>
            <a:endParaRPr lang="en-US" sz="3200" dirty="0"/>
          </a:p>
        </p:txBody>
      </p:sp>
      <p:sp>
        <p:nvSpPr>
          <p:cNvPr id="3" name="screenshot frame"/>
          <p:cNvSpPr/>
          <p:nvPr/>
        </p:nvSpPr>
        <p:spPr>
          <a:xfrm>
            <a:off x="512064" y="1289304"/>
            <a:ext cx="6839712" cy="4397344"/>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setup.png" descr="SetupForm with demo data">    </p:cNvPr>
          <p:cNvPicPr>
            <a:picLocks noChangeAspect="1"/>
          </p:cNvPicPr>
          <p:nvPr/>
        </p:nvPicPr>
        <p:blipFill>
          <a:blip r:embed="rId1"/>
          <a:stretch>
            <a:fillRect/>
          </a:stretch>
        </p:blipFill>
        <p:spPr>
          <a:xfrm>
            <a:off x="548640" y="1325880"/>
            <a:ext cx="6766560" cy="4324192"/>
          </a:xfrm>
          <a:prstGeom prst="rect">
            <a:avLst/>
          </a:prstGeom>
        </p:spPr>
      </p:pic>
      <p:sp>
        <p:nvSpPr>
          <p:cNvPr id="5" name="Text 2"/>
          <p:cNvSpPr txBox="1"/>
          <p:nvPr/>
        </p:nvSpPr>
        <p:spPr>
          <a:xfrm>
            <a:off x="548640" y="5741512"/>
            <a:ext cx="6766560" cy="274320"/>
          </a:xfrm>
          <a:prstGeom prst="rect">
            <a:avLst/>
          </a:prstGeom>
          <a:noFill/>
          <a:ln/>
        </p:spPr>
        <p:txBody>
          <a:bodyPr wrap="square" lIns="0" tIns="0" rIns="0" bIns="0" rtlCol="0" anchor="t"/>
          <a:lstStyle/>
          <a:p>
            <a:pPr indent="0" marL="0">
              <a:buNone/>
            </a:pPr>
            <a:r>
              <a:rPr lang="en-US" sz="1000" i="1" dirty="0">
                <a:solidFill>
                  <a:schemeClr val="accent6"/>
                </a:solidFill>
              </a:rPr>
              <a:t>SetupForm with demo data</a:t>
            </a:r>
            <a:endParaRPr lang="en-US" sz="1000" dirty="0"/>
          </a:p>
        </p:txBody>
      </p:sp>
      <p:sp>
        <p:nvSpPr>
          <p:cNvPr id="6" name="Text 3"/>
          <p:cNvSpPr txBox="1"/>
          <p:nvPr/>
        </p:nvSpPr>
        <p:spPr>
          <a:xfrm>
            <a:off x="7772400" y="1371600"/>
            <a:ext cx="3840480" cy="365760"/>
          </a:xfrm>
          <a:prstGeom prst="rect">
            <a:avLst/>
          </a:prstGeom>
          <a:noFill/>
          <a:ln/>
        </p:spPr>
        <p:txBody>
          <a:bodyPr wrap="square" lIns="0" tIns="0" rIns="0" bIns="0" rtlCol="0" anchor="t"/>
          <a:lstStyle/>
          <a:p>
            <a:pPr indent="0" marL="0">
              <a:buNone/>
            </a:pPr>
            <a:r>
              <a:rPr lang="en-US" sz="1700" b="1" dirty="0">
                <a:solidFill>
                  <a:schemeClr val="tx2"/>
                </a:solidFill>
              </a:rPr>
              <a:t>Button progress states</a:t>
            </a:r>
            <a:endParaRPr lang="en-US" sz="1700" dirty="0"/>
          </a:p>
        </p:txBody>
      </p:sp>
      <p:sp>
        <p:nvSpPr>
          <p:cNvPr id="7" name="arm step"/>
          <p:cNvSpPr/>
          <p:nvPr/>
        </p:nvSpPr>
        <p:spPr>
          <a:xfrm>
            <a:off x="7772400" y="1874520"/>
            <a:ext cx="411480" cy="411480"/>
          </a:xfrm>
          <a:prstGeom prst="ellipse">
            <a:avLst/>
          </a:prstGeom>
          <a:solidFill>
            <a:schemeClr val="accent1"/>
          </a:solidFill>
          <a:ln/>
        </p:spPr>
      </p:sp>
      <p:sp>
        <p:nvSpPr>
          <p:cNvPr id="8" name="Text 5"/>
          <p:cNvSpPr txBox="1"/>
          <p:nvPr/>
        </p:nvSpPr>
        <p:spPr>
          <a:xfrm>
            <a:off x="7772400" y="18745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8321040" y="1847088"/>
            <a:ext cx="3291840" cy="731520"/>
          </a:xfrm>
          <a:prstGeom prst="rect">
            <a:avLst/>
          </a:prstGeom>
          <a:noFill/>
          <a:ln/>
        </p:spPr>
        <p:txBody>
          <a:bodyPr wrap="square" lIns="0" tIns="0" rIns="0" bIns="0" rtlCol="0" anchor="t"/>
          <a:lstStyle/>
          <a:p>
            <a:pPr indent="0" marL="0">
              <a:buNone/>
            </a:pPr>
            <a:r>
              <a:rPr lang="en-US" sz="1300" dirty="0">
                <a:solidFill>
                  <a:schemeClr val="tx1"/>
                </a:solidFill>
              </a:rPr>
              <a:t>Encrypting locally… (AES-256-GCM)</a:t>
            </a:r>
            <a:endParaRPr lang="en-US" sz="1300" dirty="0"/>
          </a:p>
        </p:txBody>
      </p:sp>
      <p:sp>
        <p:nvSpPr>
          <p:cNvPr id="10" name="arm step"/>
          <p:cNvSpPr/>
          <p:nvPr/>
        </p:nvSpPr>
        <p:spPr>
          <a:xfrm>
            <a:off x="7772400" y="2651760"/>
            <a:ext cx="411480" cy="411480"/>
          </a:xfrm>
          <a:prstGeom prst="ellipse">
            <a:avLst/>
          </a:prstGeom>
          <a:solidFill>
            <a:schemeClr val="accent1"/>
          </a:solidFill>
          <a:ln/>
        </p:spPr>
      </p:sp>
      <p:sp>
        <p:nvSpPr>
          <p:cNvPr id="11" name="Text 8"/>
          <p:cNvSpPr txBox="1"/>
          <p:nvPr/>
        </p:nvSpPr>
        <p:spPr>
          <a:xfrm>
            <a:off x="7772400" y="265176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8321040" y="2624328"/>
            <a:ext cx="3291840" cy="731520"/>
          </a:xfrm>
          <a:prstGeom prst="rect">
            <a:avLst/>
          </a:prstGeom>
          <a:noFill/>
          <a:ln/>
        </p:spPr>
        <p:txBody>
          <a:bodyPr wrap="square" lIns="0" tIns="0" rIns="0" bIns="0" rtlCol="0" anchor="t"/>
          <a:lstStyle/>
          <a:p>
            <a:pPr indent="0" marL="0">
              <a:buNone/>
            </a:pPr>
            <a:r>
              <a:rPr lang="en-US" sz="1300" dirty="0">
                <a:solidFill>
                  <a:schemeClr val="tx1"/>
                </a:solidFill>
              </a:rPr>
              <a:t>Pinning ciphertext to IPFS…</a:t>
            </a:r>
            <a:endParaRPr lang="en-US" sz="1300" dirty="0"/>
          </a:p>
        </p:txBody>
      </p:sp>
      <p:sp>
        <p:nvSpPr>
          <p:cNvPr id="13" name="arm step"/>
          <p:cNvSpPr/>
          <p:nvPr/>
        </p:nvSpPr>
        <p:spPr>
          <a:xfrm>
            <a:off x="7772400" y="3429000"/>
            <a:ext cx="411480" cy="411480"/>
          </a:xfrm>
          <a:prstGeom prst="ellipse">
            <a:avLst/>
          </a:prstGeom>
          <a:solidFill>
            <a:schemeClr val="accent1"/>
          </a:solidFill>
          <a:ln/>
        </p:spPr>
      </p:sp>
      <p:sp>
        <p:nvSpPr>
          <p:cNvPr id="14" name="Text 11"/>
          <p:cNvSpPr txBox="1"/>
          <p:nvPr/>
        </p:nvSpPr>
        <p:spPr>
          <a:xfrm>
            <a:off x="7772400" y="34290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8321040" y="3401568"/>
            <a:ext cx="3291840" cy="731520"/>
          </a:xfrm>
          <a:prstGeom prst="rect">
            <a:avLst/>
          </a:prstGeom>
          <a:noFill/>
          <a:ln/>
        </p:spPr>
        <p:txBody>
          <a:bodyPr wrap="square" lIns="0" tIns="0" rIns="0" bIns="0" rtlCol="0" anchor="t"/>
          <a:lstStyle/>
          <a:p>
            <a:pPr indent="0" marL="0">
              <a:buNone/>
            </a:pPr>
            <a:r>
              <a:rPr lang="en-US" sz="1300" dirty="0">
                <a:solidFill>
                  <a:schemeClr val="tx1"/>
                </a:solidFill>
              </a:rPr>
              <a:t>Confirm the transaction in MetaMask… register(beneficiary, timeout, cid) with the deposit</a:t>
            </a:r>
            <a:endParaRPr lang="en-US" sz="1300" dirty="0"/>
          </a:p>
        </p:txBody>
      </p:sp>
      <p:sp>
        <p:nvSpPr>
          <p:cNvPr id="16" name="arm step"/>
          <p:cNvSpPr/>
          <p:nvPr/>
        </p:nvSpPr>
        <p:spPr>
          <a:xfrm>
            <a:off x="7772400" y="4206240"/>
            <a:ext cx="411480" cy="411480"/>
          </a:xfrm>
          <a:prstGeom prst="ellipse">
            <a:avLst/>
          </a:prstGeom>
          <a:solidFill>
            <a:schemeClr val="accent1"/>
          </a:solidFill>
          <a:ln/>
        </p:spPr>
      </p:sp>
      <p:sp>
        <p:nvSpPr>
          <p:cNvPr id="17" name="Text 14"/>
          <p:cNvSpPr txBox="1"/>
          <p:nvPr/>
        </p:nvSpPr>
        <p:spPr>
          <a:xfrm>
            <a:off x="7772400" y="42062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5"/>
          <p:cNvSpPr txBox="1"/>
          <p:nvPr/>
        </p:nvSpPr>
        <p:spPr>
          <a:xfrm>
            <a:off x="8321040" y="4178808"/>
            <a:ext cx="3291840" cy="731520"/>
          </a:xfrm>
          <a:prstGeom prst="rect">
            <a:avLst/>
          </a:prstGeom>
          <a:noFill/>
          <a:ln/>
        </p:spPr>
        <p:txBody>
          <a:bodyPr wrap="square" lIns="0" tIns="0" rIns="0" bIns="0" rtlCol="0" anchor="t"/>
          <a:lstStyle/>
          <a:p>
            <a:pPr indent="0" marL="0">
              <a:buNone/>
            </a:pPr>
            <a:r>
              <a:rPr lang="en-US" sz="1300" dirty="0">
                <a:solidFill>
                  <a:schemeClr val="tx1"/>
                </a:solidFill>
              </a:rPr>
              <a:t>Saving vault record… (Supabase vaults row)</a:t>
            </a:r>
            <a:endParaRPr lang="en-US" sz="1300" dirty="0"/>
          </a:p>
        </p:txBody>
      </p:sp>
      <p:sp>
        <p:nvSpPr>
          <p:cNvPr id="19" name="arm step"/>
          <p:cNvSpPr/>
          <p:nvPr/>
        </p:nvSpPr>
        <p:spPr>
          <a:xfrm>
            <a:off x="7772400" y="4983480"/>
            <a:ext cx="411480" cy="411480"/>
          </a:xfrm>
          <a:prstGeom prst="ellipse">
            <a:avLst/>
          </a:prstGeom>
          <a:solidFill>
            <a:schemeClr val="accent1"/>
          </a:solidFill>
          <a:ln/>
        </p:spPr>
      </p:sp>
      <p:sp>
        <p:nvSpPr>
          <p:cNvPr id="20" name="Text 17"/>
          <p:cNvSpPr txBox="1"/>
          <p:nvPr/>
        </p:nvSpPr>
        <p:spPr>
          <a:xfrm>
            <a:off x="7772400" y="498348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8"/>
          <p:cNvSpPr txBox="1"/>
          <p:nvPr/>
        </p:nvSpPr>
        <p:spPr>
          <a:xfrm>
            <a:off x="8321040" y="4956048"/>
            <a:ext cx="3291840" cy="731520"/>
          </a:xfrm>
          <a:prstGeom prst="rect">
            <a:avLst/>
          </a:prstGeom>
          <a:noFill/>
          <a:ln/>
        </p:spPr>
        <p:txBody>
          <a:bodyPr wrap="square" lIns="0" tIns="0" rIns="0" bIns="0" rtlCol="0" anchor="t"/>
          <a:lstStyle/>
          <a:p>
            <a:pPr indent="0" marL="0">
              <a:buNone/>
            </a:pPr>
            <a:r>
              <a:rPr lang="en-US" sz="1300" dirty="0">
                <a:solidFill>
                  <a:schemeClr val="tx1"/>
                </a:solidFill>
              </a:rPr>
              <a:t>Toast: “Vault armed on-chain”; secret and passphrase cleared from state</a:t>
            </a:r>
            <a:endParaRPr lang="en-US" sz="1300" dirty="0"/>
          </a:p>
        </p:txBody>
      </p:sp>
      <p:sp>
        <p:nvSpPr>
          <p:cNvPr id="22" name="Text 19"/>
          <p:cNvSpPr txBox="1"/>
          <p:nvPr/>
        </p:nvSpPr>
        <p:spPr>
          <a:xfrm>
            <a:off x="7772400" y="5806440"/>
            <a:ext cx="3840480" cy="365760"/>
          </a:xfrm>
          <a:prstGeom prst="rect">
            <a:avLst/>
          </a:prstGeom>
          <a:noFill/>
          <a:ln/>
        </p:spPr>
        <p:txBody>
          <a:bodyPr wrap="square" lIns="0" tIns="0" rIns="0" bIns="0" rtlCol="0" anchor="t"/>
          <a:lstStyle/>
          <a:p>
            <a:pPr indent="0" marL="0">
              <a:buNone/>
            </a:pPr>
            <a:r>
              <a:rPr lang="en-US" sz="1100" i="1" dirty="0">
                <a:solidFill>
                  <a:schemeClr val="accent6"/>
                </a:solidFill>
              </a:rPr>
              <a:t>Validation: passphrase ≥ 6 chars, valid beneficiary ≠ owner, interval ≥ 1 min.</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Sequence: arming a vault end to end</a:t>
            </a:r>
            <a:endParaRPr lang="en-US" sz="3200" dirty="0"/>
          </a:p>
        </p:txBody>
      </p:sp>
      <p:sp>
        <p:nvSpPr>
          <p:cNvPr id="3" name="lane Owner"/>
          <p:cNvSpPr/>
          <p:nvPr/>
        </p:nvSpPr>
        <p:spPr>
          <a:xfrm>
            <a:off x="228600" y="1280160"/>
            <a:ext cx="1554480" cy="457200"/>
          </a:xfrm>
          <a:prstGeom prst="roundRect">
            <a:avLst>
              <a:gd name="adj" fmla="val 16000"/>
            </a:avLst>
          </a:prstGeom>
          <a:solidFill>
            <a:schemeClr val="bg2"/>
          </a:solidFill>
          <a:ln/>
        </p:spPr>
      </p:sp>
      <p:sp>
        <p:nvSpPr>
          <p:cNvPr id="4" name="Text 2"/>
          <p:cNvSpPr txBox="1"/>
          <p:nvPr/>
        </p:nvSpPr>
        <p:spPr>
          <a:xfrm>
            <a:off x="228600" y="1280160"/>
            <a:ext cx="1554480" cy="457200"/>
          </a:xfrm>
          <a:prstGeom prst="rect">
            <a:avLst/>
          </a:prstGeom>
          <a:noFill/>
          <a:ln/>
        </p:spPr>
        <p:txBody>
          <a:bodyPr wrap="square" lIns="0" tIns="0" rIns="0" bIns="0" rtlCol="0" anchor="ctr"/>
          <a:lstStyle/>
          <a:p>
            <a:pPr algn="ctr" indent="0" marL="0">
              <a:buNone/>
            </a:pPr>
            <a:r>
              <a:rPr lang="en-US" sz="1300" b="1" dirty="0">
                <a:solidFill>
                  <a:schemeClr val="tx2"/>
                </a:solidFill>
              </a:rPr>
              <a:t>Owner</a:t>
            </a:r>
            <a:endParaRPr lang="en-US" sz="1300" dirty="0"/>
          </a:p>
        </p:txBody>
      </p:sp>
      <p:sp>
        <p:nvSpPr>
          <p:cNvPr id="5" name="lifeline"/>
          <p:cNvSpPr/>
          <p:nvPr/>
        </p:nvSpPr>
        <p:spPr>
          <a:xfrm>
            <a:off x="1005840" y="1737360"/>
            <a:ext cx="0" cy="4434840"/>
          </a:xfrm>
          <a:prstGeom prst="line">
            <a:avLst/>
          </a:prstGeom>
          <a:noFill/>
          <a:ln w="9525">
            <a:solidFill>
              <a:schemeClr val="accent6"/>
            </a:solidFill>
            <a:prstDash val="dash"/>
          </a:ln>
        </p:spPr>
      </p:sp>
      <p:sp>
        <p:nvSpPr>
          <p:cNvPr id="6" name="lane Browser"/>
          <p:cNvSpPr/>
          <p:nvPr/>
        </p:nvSpPr>
        <p:spPr>
          <a:xfrm>
            <a:off x="2240280" y="1280160"/>
            <a:ext cx="1554480" cy="457200"/>
          </a:xfrm>
          <a:prstGeom prst="roundRect">
            <a:avLst>
              <a:gd name="adj" fmla="val 16000"/>
            </a:avLst>
          </a:prstGeom>
          <a:solidFill>
            <a:schemeClr val="bg2"/>
          </a:solidFill>
          <a:ln/>
        </p:spPr>
      </p:sp>
      <p:sp>
        <p:nvSpPr>
          <p:cNvPr id="7" name="Text 5"/>
          <p:cNvSpPr txBox="1"/>
          <p:nvPr/>
        </p:nvSpPr>
        <p:spPr>
          <a:xfrm>
            <a:off x="2240280" y="1280160"/>
            <a:ext cx="1554480" cy="457200"/>
          </a:xfrm>
          <a:prstGeom prst="rect">
            <a:avLst/>
          </a:prstGeom>
          <a:noFill/>
          <a:ln/>
        </p:spPr>
        <p:txBody>
          <a:bodyPr wrap="square" lIns="0" tIns="0" rIns="0" bIns="0" rtlCol="0" anchor="ctr"/>
          <a:lstStyle/>
          <a:p>
            <a:pPr algn="ctr" indent="0" marL="0">
              <a:buNone/>
            </a:pPr>
            <a:r>
              <a:rPr lang="en-US" sz="1300" b="1" dirty="0">
                <a:solidFill>
                  <a:schemeClr val="tx2"/>
                </a:solidFill>
              </a:rPr>
              <a:t>Browser</a:t>
            </a:r>
            <a:endParaRPr lang="en-US" sz="1300" dirty="0"/>
          </a:p>
        </p:txBody>
      </p:sp>
      <p:sp>
        <p:nvSpPr>
          <p:cNvPr id="8" name="lifeline"/>
          <p:cNvSpPr/>
          <p:nvPr/>
        </p:nvSpPr>
        <p:spPr>
          <a:xfrm>
            <a:off x="3017520" y="1737360"/>
            <a:ext cx="0" cy="4434840"/>
          </a:xfrm>
          <a:prstGeom prst="line">
            <a:avLst/>
          </a:prstGeom>
          <a:noFill/>
          <a:ln w="9525">
            <a:solidFill>
              <a:schemeClr val="accent6"/>
            </a:solidFill>
            <a:prstDash val="dash"/>
          </a:ln>
        </p:spPr>
      </p:sp>
      <p:sp>
        <p:nvSpPr>
          <p:cNvPr id="9" name="lane Pinata IPFS"/>
          <p:cNvSpPr/>
          <p:nvPr/>
        </p:nvSpPr>
        <p:spPr>
          <a:xfrm>
            <a:off x="4251960" y="1280160"/>
            <a:ext cx="1554480" cy="457200"/>
          </a:xfrm>
          <a:prstGeom prst="roundRect">
            <a:avLst>
              <a:gd name="adj" fmla="val 16000"/>
            </a:avLst>
          </a:prstGeom>
          <a:solidFill>
            <a:schemeClr val="bg2"/>
          </a:solidFill>
          <a:ln/>
        </p:spPr>
      </p:sp>
      <p:sp>
        <p:nvSpPr>
          <p:cNvPr id="10" name="Text 8"/>
          <p:cNvSpPr txBox="1"/>
          <p:nvPr/>
        </p:nvSpPr>
        <p:spPr>
          <a:xfrm>
            <a:off x="4251960" y="1280160"/>
            <a:ext cx="1554480" cy="457200"/>
          </a:xfrm>
          <a:prstGeom prst="rect">
            <a:avLst/>
          </a:prstGeom>
          <a:noFill/>
          <a:ln/>
        </p:spPr>
        <p:txBody>
          <a:bodyPr wrap="square" lIns="0" tIns="0" rIns="0" bIns="0" rtlCol="0" anchor="ctr"/>
          <a:lstStyle/>
          <a:p>
            <a:pPr algn="ctr" indent="0" marL="0">
              <a:buNone/>
            </a:pPr>
            <a:r>
              <a:rPr lang="en-US" sz="1300" b="1" dirty="0">
                <a:solidFill>
                  <a:schemeClr val="tx2"/>
                </a:solidFill>
              </a:rPr>
              <a:t>Pinata IPFS</a:t>
            </a:r>
            <a:endParaRPr lang="en-US" sz="1300" dirty="0"/>
          </a:p>
        </p:txBody>
      </p:sp>
      <p:sp>
        <p:nvSpPr>
          <p:cNvPr id="11" name="lifeline"/>
          <p:cNvSpPr/>
          <p:nvPr/>
        </p:nvSpPr>
        <p:spPr>
          <a:xfrm>
            <a:off x="5029200" y="1737360"/>
            <a:ext cx="0" cy="4434840"/>
          </a:xfrm>
          <a:prstGeom prst="line">
            <a:avLst/>
          </a:prstGeom>
          <a:noFill/>
          <a:ln w="9525">
            <a:solidFill>
              <a:schemeClr val="accent6"/>
            </a:solidFill>
            <a:prstDash val="dash"/>
          </a:ln>
        </p:spPr>
      </p:sp>
      <p:sp>
        <p:nvSpPr>
          <p:cNvPr id="12" name="lane MetaMask"/>
          <p:cNvSpPr/>
          <p:nvPr/>
        </p:nvSpPr>
        <p:spPr>
          <a:xfrm>
            <a:off x="6263640" y="1280160"/>
            <a:ext cx="1554480" cy="457200"/>
          </a:xfrm>
          <a:prstGeom prst="roundRect">
            <a:avLst>
              <a:gd name="adj" fmla="val 16000"/>
            </a:avLst>
          </a:prstGeom>
          <a:solidFill>
            <a:schemeClr val="bg2"/>
          </a:solidFill>
          <a:ln/>
        </p:spPr>
      </p:sp>
      <p:sp>
        <p:nvSpPr>
          <p:cNvPr id="13" name="Text 11"/>
          <p:cNvSpPr txBox="1"/>
          <p:nvPr/>
        </p:nvSpPr>
        <p:spPr>
          <a:xfrm>
            <a:off x="6263640" y="1280160"/>
            <a:ext cx="1554480" cy="457200"/>
          </a:xfrm>
          <a:prstGeom prst="rect">
            <a:avLst/>
          </a:prstGeom>
          <a:noFill/>
          <a:ln/>
        </p:spPr>
        <p:txBody>
          <a:bodyPr wrap="square" lIns="0" tIns="0" rIns="0" bIns="0" rtlCol="0" anchor="ctr"/>
          <a:lstStyle/>
          <a:p>
            <a:pPr algn="ctr" indent="0" marL="0">
              <a:buNone/>
            </a:pPr>
            <a:r>
              <a:rPr lang="en-US" sz="1300" b="1" dirty="0">
                <a:solidFill>
                  <a:schemeClr val="tx2"/>
                </a:solidFill>
              </a:rPr>
              <a:t>MetaMask</a:t>
            </a:r>
            <a:endParaRPr lang="en-US" sz="1300" dirty="0"/>
          </a:p>
        </p:txBody>
      </p:sp>
      <p:sp>
        <p:nvSpPr>
          <p:cNvPr id="14" name="lifeline"/>
          <p:cNvSpPr/>
          <p:nvPr/>
        </p:nvSpPr>
        <p:spPr>
          <a:xfrm>
            <a:off x="7040880" y="1737360"/>
            <a:ext cx="0" cy="4434840"/>
          </a:xfrm>
          <a:prstGeom prst="line">
            <a:avLst/>
          </a:prstGeom>
          <a:noFill/>
          <a:ln w="9525">
            <a:solidFill>
              <a:schemeClr val="accent6"/>
            </a:solidFill>
            <a:prstDash val="dash"/>
          </a:ln>
        </p:spPr>
      </p:sp>
      <p:sp>
        <p:nvSpPr>
          <p:cNvPr id="15" name="lane Contract"/>
          <p:cNvSpPr/>
          <p:nvPr/>
        </p:nvSpPr>
        <p:spPr>
          <a:xfrm>
            <a:off x="8275320" y="1280160"/>
            <a:ext cx="1554480" cy="457200"/>
          </a:xfrm>
          <a:prstGeom prst="roundRect">
            <a:avLst>
              <a:gd name="adj" fmla="val 16000"/>
            </a:avLst>
          </a:prstGeom>
          <a:solidFill>
            <a:schemeClr val="tx2"/>
          </a:solidFill>
          <a:ln/>
        </p:spPr>
      </p:sp>
      <p:sp>
        <p:nvSpPr>
          <p:cNvPr id="16" name="Text 14"/>
          <p:cNvSpPr txBox="1"/>
          <p:nvPr/>
        </p:nvSpPr>
        <p:spPr>
          <a:xfrm>
            <a:off x="8275320" y="128016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Contract</a:t>
            </a:r>
            <a:endParaRPr lang="en-US" sz="1300" dirty="0"/>
          </a:p>
        </p:txBody>
      </p:sp>
      <p:sp>
        <p:nvSpPr>
          <p:cNvPr id="17" name="lifeline"/>
          <p:cNvSpPr/>
          <p:nvPr/>
        </p:nvSpPr>
        <p:spPr>
          <a:xfrm>
            <a:off x="9052560" y="1737360"/>
            <a:ext cx="0" cy="4434840"/>
          </a:xfrm>
          <a:prstGeom prst="line">
            <a:avLst/>
          </a:prstGeom>
          <a:noFill/>
          <a:ln w="9525">
            <a:solidFill>
              <a:schemeClr val="accent6"/>
            </a:solidFill>
            <a:prstDash val="dash"/>
          </a:ln>
        </p:spPr>
      </p:sp>
      <p:sp>
        <p:nvSpPr>
          <p:cNvPr id="18" name="lane Supabase"/>
          <p:cNvSpPr/>
          <p:nvPr/>
        </p:nvSpPr>
        <p:spPr>
          <a:xfrm>
            <a:off x="10287000" y="1280160"/>
            <a:ext cx="1554480" cy="457200"/>
          </a:xfrm>
          <a:prstGeom prst="roundRect">
            <a:avLst>
              <a:gd name="adj" fmla="val 16000"/>
            </a:avLst>
          </a:prstGeom>
          <a:solidFill>
            <a:schemeClr val="bg2"/>
          </a:solidFill>
          <a:ln/>
        </p:spPr>
      </p:sp>
      <p:sp>
        <p:nvSpPr>
          <p:cNvPr id="19" name="Text 17"/>
          <p:cNvSpPr txBox="1"/>
          <p:nvPr/>
        </p:nvSpPr>
        <p:spPr>
          <a:xfrm>
            <a:off x="10287000" y="1280160"/>
            <a:ext cx="1554480" cy="457200"/>
          </a:xfrm>
          <a:prstGeom prst="rect">
            <a:avLst/>
          </a:prstGeom>
          <a:noFill/>
          <a:ln/>
        </p:spPr>
        <p:txBody>
          <a:bodyPr wrap="square" lIns="0" tIns="0" rIns="0" bIns="0" rtlCol="0" anchor="ctr"/>
          <a:lstStyle/>
          <a:p>
            <a:pPr algn="ctr" indent="0" marL="0">
              <a:buNone/>
            </a:pPr>
            <a:r>
              <a:rPr lang="en-US" sz="1300" b="1" dirty="0">
                <a:solidFill>
                  <a:schemeClr val="tx2"/>
                </a:solidFill>
              </a:rPr>
              <a:t>Supabase</a:t>
            </a:r>
            <a:endParaRPr lang="en-US" sz="1300" dirty="0"/>
          </a:p>
        </p:txBody>
      </p:sp>
      <p:sp>
        <p:nvSpPr>
          <p:cNvPr id="20" name="lifeline"/>
          <p:cNvSpPr/>
          <p:nvPr/>
        </p:nvSpPr>
        <p:spPr>
          <a:xfrm>
            <a:off x="11064240" y="1737360"/>
            <a:ext cx="0" cy="4434840"/>
          </a:xfrm>
          <a:prstGeom prst="line">
            <a:avLst/>
          </a:prstGeom>
          <a:noFill/>
          <a:ln w="9525">
            <a:solidFill>
              <a:schemeClr val="accent6"/>
            </a:solidFill>
            <a:prstDash val="dash"/>
          </a:ln>
        </p:spPr>
      </p:sp>
      <p:sp>
        <p:nvSpPr>
          <p:cNvPr id="21" name="connector"/>
          <p:cNvSpPr/>
          <p:nvPr/>
        </p:nvSpPr>
        <p:spPr>
          <a:xfrm>
            <a:off x="1005840" y="2130552"/>
            <a:ext cx="2011680" cy="0"/>
          </a:xfrm>
          <a:prstGeom prst="line">
            <a:avLst/>
          </a:prstGeom>
          <a:noFill/>
          <a:ln w="19050">
            <a:solidFill>
              <a:schemeClr val="accent1"/>
            </a:solidFill>
            <a:prstDash val="solid"/>
            <a:tailEnd type="triangle"/>
          </a:ln>
        </p:spPr>
      </p:sp>
      <p:sp>
        <p:nvSpPr>
          <p:cNvPr id="22" name="Text 20"/>
          <p:cNvSpPr txBox="1"/>
          <p:nvPr/>
        </p:nvSpPr>
        <p:spPr>
          <a:xfrm>
            <a:off x="1051560" y="1856232"/>
            <a:ext cx="1920240" cy="256032"/>
          </a:xfrm>
          <a:prstGeom prst="rect">
            <a:avLst/>
          </a:prstGeom>
          <a:noFill/>
          <a:ln/>
        </p:spPr>
        <p:txBody>
          <a:bodyPr wrap="square" lIns="0" tIns="0" rIns="0" bIns="0" rtlCol="0" anchor="t"/>
          <a:lstStyle/>
          <a:p>
            <a:pPr algn="ctr" indent="0" marL="0">
              <a:buNone/>
            </a:pPr>
            <a:r>
              <a:rPr lang="en-US" sz="1100" dirty="0">
                <a:solidFill>
                  <a:schemeClr val="tx1"/>
                </a:solidFill>
              </a:rPr>
              <a:t>secret + vault settings</a:t>
            </a:r>
            <a:endParaRPr lang="en-US" sz="1100" dirty="0"/>
          </a:p>
        </p:txBody>
      </p:sp>
      <p:sp>
        <p:nvSpPr>
          <p:cNvPr id="23" name="self call"/>
          <p:cNvSpPr/>
          <p:nvPr/>
        </p:nvSpPr>
        <p:spPr>
          <a:xfrm>
            <a:off x="3108960" y="2386584"/>
            <a:ext cx="2743200" cy="365760"/>
          </a:xfrm>
          <a:prstGeom prst="roundRect">
            <a:avLst>
              <a:gd name="adj" fmla="val 20000"/>
            </a:avLst>
          </a:prstGeom>
          <a:solidFill>
            <a:schemeClr val="bg2"/>
          </a:solidFill>
          <a:ln/>
        </p:spPr>
      </p:sp>
      <p:sp>
        <p:nvSpPr>
          <p:cNvPr id="24" name="Text 22"/>
          <p:cNvSpPr txBox="1"/>
          <p:nvPr/>
        </p:nvSpPr>
        <p:spPr>
          <a:xfrm>
            <a:off x="3200400" y="2386584"/>
            <a:ext cx="2606040" cy="365760"/>
          </a:xfrm>
          <a:prstGeom prst="rect">
            <a:avLst/>
          </a:prstGeom>
          <a:noFill/>
          <a:ln/>
        </p:spPr>
        <p:txBody>
          <a:bodyPr wrap="square" lIns="0" tIns="0" rIns="0" bIns="0" rtlCol="0" anchor="ctr"/>
          <a:lstStyle/>
          <a:p>
            <a:pPr indent="0" marL="0">
              <a:buNone/>
            </a:pPr>
            <a:r>
              <a:rPr lang="en-US" sz="1100" b="1" dirty="0">
                <a:solidFill>
                  <a:schemeClr val="accent1"/>
                </a:solidFill>
              </a:rPr>
              <a:t>encryptSecret(): PBKDF2 → AES-GCM</a:t>
            </a:r>
            <a:endParaRPr lang="en-US" sz="1100" dirty="0"/>
          </a:p>
        </p:txBody>
      </p:sp>
      <p:sp>
        <p:nvSpPr>
          <p:cNvPr id="25" name="connector"/>
          <p:cNvSpPr/>
          <p:nvPr/>
        </p:nvSpPr>
        <p:spPr>
          <a:xfrm>
            <a:off x="3017520" y="3154680"/>
            <a:ext cx="2011680" cy="0"/>
          </a:xfrm>
          <a:prstGeom prst="line">
            <a:avLst/>
          </a:prstGeom>
          <a:noFill/>
          <a:ln w="19050">
            <a:solidFill>
              <a:schemeClr val="accent1"/>
            </a:solidFill>
            <a:prstDash val="solid"/>
            <a:tailEnd type="triangle"/>
          </a:ln>
        </p:spPr>
      </p:sp>
      <p:sp>
        <p:nvSpPr>
          <p:cNvPr id="26" name="Text 24"/>
          <p:cNvSpPr txBox="1"/>
          <p:nvPr/>
        </p:nvSpPr>
        <p:spPr>
          <a:xfrm>
            <a:off x="3063240" y="2880360"/>
            <a:ext cx="1920240" cy="256032"/>
          </a:xfrm>
          <a:prstGeom prst="rect">
            <a:avLst/>
          </a:prstGeom>
          <a:noFill/>
          <a:ln/>
        </p:spPr>
        <p:txBody>
          <a:bodyPr wrap="square" lIns="0" tIns="0" rIns="0" bIns="0" rtlCol="0" anchor="t"/>
          <a:lstStyle/>
          <a:p>
            <a:pPr algn="ctr" indent="0" marL="0">
              <a:buNone/>
            </a:pPr>
            <a:r>
              <a:rPr lang="en-US" sz="1100" dirty="0">
                <a:solidFill>
                  <a:schemeClr val="tx1"/>
                </a:solidFill>
              </a:rPr>
              <a:t>pinJSONToIPFS(envelope)</a:t>
            </a:r>
            <a:endParaRPr lang="en-US" sz="1100" dirty="0"/>
          </a:p>
        </p:txBody>
      </p:sp>
      <p:sp>
        <p:nvSpPr>
          <p:cNvPr id="27" name="connector"/>
          <p:cNvSpPr/>
          <p:nvPr/>
        </p:nvSpPr>
        <p:spPr>
          <a:xfrm flipH="1">
            <a:off x="3017520" y="3666744"/>
            <a:ext cx="2011680" cy="0"/>
          </a:xfrm>
          <a:prstGeom prst="line">
            <a:avLst/>
          </a:prstGeom>
          <a:noFill/>
          <a:ln w="19050">
            <a:solidFill>
              <a:schemeClr val="accent6"/>
            </a:solidFill>
            <a:prstDash val="dash"/>
            <a:tailEnd type="triangle"/>
          </a:ln>
        </p:spPr>
      </p:sp>
      <p:sp>
        <p:nvSpPr>
          <p:cNvPr id="28" name="Text 26"/>
          <p:cNvSpPr txBox="1"/>
          <p:nvPr/>
        </p:nvSpPr>
        <p:spPr>
          <a:xfrm>
            <a:off x="3063240" y="3392424"/>
            <a:ext cx="1920240" cy="256032"/>
          </a:xfrm>
          <a:prstGeom prst="rect">
            <a:avLst/>
          </a:prstGeom>
          <a:noFill/>
          <a:ln/>
        </p:spPr>
        <p:txBody>
          <a:bodyPr wrap="square" lIns="0" tIns="0" rIns="0" bIns="0" rtlCol="0" anchor="t"/>
          <a:lstStyle/>
          <a:p>
            <a:pPr algn="ctr" indent="0" marL="0">
              <a:buNone/>
            </a:pPr>
            <a:r>
              <a:rPr lang="en-US" sz="1100" dirty="0">
                <a:solidFill>
                  <a:schemeClr val="accent6"/>
                </a:solidFill>
              </a:rPr>
              <a:t>IpfsHash (CID)</a:t>
            </a:r>
            <a:endParaRPr lang="en-US" sz="1100" dirty="0"/>
          </a:p>
        </p:txBody>
      </p:sp>
      <p:sp>
        <p:nvSpPr>
          <p:cNvPr id="29" name="connector"/>
          <p:cNvSpPr/>
          <p:nvPr/>
        </p:nvSpPr>
        <p:spPr>
          <a:xfrm>
            <a:off x="3017520" y="4178808"/>
            <a:ext cx="4023360" cy="0"/>
          </a:xfrm>
          <a:prstGeom prst="line">
            <a:avLst/>
          </a:prstGeom>
          <a:noFill/>
          <a:ln w="19050">
            <a:solidFill>
              <a:schemeClr val="accent1"/>
            </a:solidFill>
            <a:prstDash val="solid"/>
            <a:tailEnd type="triangle"/>
          </a:ln>
        </p:spPr>
      </p:sp>
      <p:sp>
        <p:nvSpPr>
          <p:cNvPr id="30" name="Text 28"/>
          <p:cNvSpPr txBox="1"/>
          <p:nvPr/>
        </p:nvSpPr>
        <p:spPr>
          <a:xfrm>
            <a:off x="3063240" y="3904488"/>
            <a:ext cx="3931920" cy="256032"/>
          </a:xfrm>
          <a:prstGeom prst="rect">
            <a:avLst/>
          </a:prstGeom>
          <a:noFill/>
          <a:ln/>
        </p:spPr>
        <p:txBody>
          <a:bodyPr wrap="square" lIns="0" tIns="0" rIns="0" bIns="0" rtlCol="0" anchor="t"/>
          <a:lstStyle/>
          <a:p>
            <a:pPr algn="ctr" indent="0" marL="0">
              <a:buNone/>
            </a:pPr>
            <a:r>
              <a:rPr lang="en-US" sz="1100" dirty="0">
                <a:solidFill>
                  <a:schemeClr val="tx1"/>
                </a:solidFill>
              </a:rPr>
              <a:t>register(beneficiary, timeout, cid) + value</a:t>
            </a:r>
            <a:endParaRPr lang="en-US" sz="1100" dirty="0"/>
          </a:p>
        </p:txBody>
      </p:sp>
      <p:sp>
        <p:nvSpPr>
          <p:cNvPr id="31" name="connector"/>
          <p:cNvSpPr/>
          <p:nvPr/>
        </p:nvSpPr>
        <p:spPr>
          <a:xfrm>
            <a:off x="7040880" y="4690872"/>
            <a:ext cx="2011680" cy="0"/>
          </a:xfrm>
          <a:prstGeom prst="line">
            <a:avLst/>
          </a:prstGeom>
          <a:noFill/>
          <a:ln w="19050">
            <a:solidFill>
              <a:schemeClr val="accent1"/>
            </a:solidFill>
            <a:prstDash val="solid"/>
            <a:tailEnd type="triangle"/>
          </a:ln>
        </p:spPr>
      </p:sp>
      <p:sp>
        <p:nvSpPr>
          <p:cNvPr id="32" name="Text 30"/>
          <p:cNvSpPr txBox="1"/>
          <p:nvPr/>
        </p:nvSpPr>
        <p:spPr>
          <a:xfrm>
            <a:off x="7086600" y="4416552"/>
            <a:ext cx="1920240" cy="256032"/>
          </a:xfrm>
          <a:prstGeom prst="rect">
            <a:avLst/>
          </a:prstGeom>
          <a:noFill/>
          <a:ln/>
        </p:spPr>
        <p:txBody>
          <a:bodyPr wrap="square" lIns="0" tIns="0" rIns="0" bIns="0" rtlCol="0" anchor="t"/>
          <a:lstStyle/>
          <a:p>
            <a:pPr algn="ctr" indent="0" marL="0">
              <a:buNone/>
            </a:pPr>
            <a:r>
              <a:rPr lang="en-US" sz="1100" dirty="0">
                <a:solidFill>
                  <a:schemeClr val="tx1"/>
                </a:solidFill>
              </a:rPr>
              <a:t>signed transaction</a:t>
            </a:r>
            <a:endParaRPr lang="en-US" sz="1100" dirty="0"/>
          </a:p>
        </p:txBody>
      </p:sp>
      <p:sp>
        <p:nvSpPr>
          <p:cNvPr id="33" name="connector"/>
          <p:cNvSpPr/>
          <p:nvPr/>
        </p:nvSpPr>
        <p:spPr>
          <a:xfrm flipH="1">
            <a:off x="7040880" y="5202936"/>
            <a:ext cx="2011680" cy="0"/>
          </a:xfrm>
          <a:prstGeom prst="line">
            <a:avLst/>
          </a:prstGeom>
          <a:noFill/>
          <a:ln w="19050">
            <a:solidFill>
              <a:schemeClr val="accent6"/>
            </a:solidFill>
            <a:prstDash val="dash"/>
            <a:tailEnd type="triangle"/>
          </a:ln>
        </p:spPr>
      </p:sp>
      <p:sp>
        <p:nvSpPr>
          <p:cNvPr id="34" name="Text 32"/>
          <p:cNvSpPr txBox="1"/>
          <p:nvPr/>
        </p:nvSpPr>
        <p:spPr>
          <a:xfrm>
            <a:off x="7086600" y="4928616"/>
            <a:ext cx="1920240" cy="256032"/>
          </a:xfrm>
          <a:prstGeom prst="rect">
            <a:avLst/>
          </a:prstGeom>
          <a:noFill/>
          <a:ln/>
        </p:spPr>
        <p:txBody>
          <a:bodyPr wrap="square" lIns="0" tIns="0" rIns="0" bIns="0" rtlCol="0" anchor="t"/>
          <a:lstStyle/>
          <a:p>
            <a:pPr algn="ctr" indent="0" marL="0">
              <a:buNone/>
            </a:pPr>
            <a:r>
              <a:rPr lang="en-US" sz="1100" dirty="0">
                <a:solidFill>
                  <a:schemeClr val="accent6"/>
                </a:solidFill>
              </a:rPr>
              <a:t>VaultRegistered event, receipt</a:t>
            </a:r>
            <a:endParaRPr lang="en-US" sz="1100" dirty="0"/>
          </a:p>
        </p:txBody>
      </p:sp>
      <p:sp>
        <p:nvSpPr>
          <p:cNvPr id="35" name="connector"/>
          <p:cNvSpPr/>
          <p:nvPr/>
        </p:nvSpPr>
        <p:spPr>
          <a:xfrm>
            <a:off x="3017520" y="5715000"/>
            <a:ext cx="8046720" cy="0"/>
          </a:xfrm>
          <a:prstGeom prst="line">
            <a:avLst/>
          </a:prstGeom>
          <a:noFill/>
          <a:ln w="19050">
            <a:solidFill>
              <a:schemeClr val="accent1"/>
            </a:solidFill>
            <a:prstDash val="solid"/>
            <a:tailEnd type="triangle"/>
          </a:ln>
        </p:spPr>
      </p:sp>
      <p:sp>
        <p:nvSpPr>
          <p:cNvPr id="36" name="Text 34"/>
          <p:cNvSpPr txBox="1"/>
          <p:nvPr/>
        </p:nvSpPr>
        <p:spPr>
          <a:xfrm>
            <a:off x="3063240" y="5440680"/>
            <a:ext cx="7955280" cy="256032"/>
          </a:xfrm>
          <a:prstGeom prst="rect">
            <a:avLst/>
          </a:prstGeom>
          <a:noFill/>
          <a:ln/>
        </p:spPr>
        <p:txBody>
          <a:bodyPr wrap="square" lIns="0" tIns="0" rIns="0" bIns="0" rtlCol="0" anchor="t"/>
          <a:lstStyle/>
          <a:p>
            <a:pPr algn="ctr" indent="0" marL="0">
              <a:buNone/>
            </a:pPr>
            <a:r>
              <a:rPr lang="en-US" sz="1100" dirty="0">
                <a:solidFill>
                  <a:schemeClr val="tx1"/>
                </a:solidFill>
              </a:rPr>
              <a:t>insert vaults row (status: armed)</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Owner dashboard: heartbeat and countdown</a:t>
            </a:r>
            <a:endParaRPr lang="en-US" sz="3200" dirty="0"/>
          </a:p>
        </p:txBody>
      </p:sp>
      <p:sp>
        <p:nvSpPr>
          <p:cNvPr id="3" name="screenshot frame"/>
          <p:cNvSpPr/>
          <p:nvPr/>
        </p:nvSpPr>
        <p:spPr>
          <a:xfrm>
            <a:off x="512064" y="1289304"/>
            <a:ext cx="7296912" cy="4390310"/>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dashboard.png" descr="Dashboard with an armed vault">    </p:cNvPr>
          <p:cNvPicPr>
            <a:picLocks noChangeAspect="1"/>
          </p:cNvPicPr>
          <p:nvPr/>
        </p:nvPicPr>
        <p:blipFill>
          <a:blip r:embed="rId1"/>
          <a:stretch>
            <a:fillRect/>
          </a:stretch>
        </p:blipFill>
        <p:spPr>
          <a:xfrm>
            <a:off x="548640" y="1325880"/>
            <a:ext cx="7223760" cy="4317158"/>
          </a:xfrm>
          <a:prstGeom prst="rect">
            <a:avLst/>
          </a:prstGeom>
        </p:spPr>
      </p:pic>
      <p:sp>
        <p:nvSpPr>
          <p:cNvPr id="5" name="Text 2"/>
          <p:cNvSpPr txBox="1"/>
          <p:nvPr/>
        </p:nvSpPr>
        <p:spPr>
          <a:xfrm>
            <a:off x="548640" y="5734478"/>
            <a:ext cx="7223760" cy="274320"/>
          </a:xfrm>
          <a:prstGeom prst="rect">
            <a:avLst/>
          </a:prstGeom>
          <a:noFill/>
          <a:ln/>
        </p:spPr>
        <p:txBody>
          <a:bodyPr wrap="square" lIns="0" tIns="0" rIns="0" bIns="0" rtlCol="0" anchor="t"/>
          <a:lstStyle/>
          <a:p>
            <a:pPr indent="0" marL="0">
              <a:buNone/>
            </a:pPr>
            <a:r>
              <a:rPr lang="en-US" sz="1000" i="1" dirty="0">
                <a:solidFill>
                  <a:schemeClr val="accent6"/>
                </a:solidFill>
              </a:rPr>
              <a:t>Dashboard with an armed vault</a:t>
            </a:r>
            <a:endParaRPr lang="en-US" sz="1000" dirty="0"/>
          </a:p>
        </p:txBody>
      </p:sp>
      <p:sp>
        <p:nvSpPr>
          <p:cNvPr id="6" name="icon circle"/>
          <p:cNvSpPr/>
          <p:nvPr/>
        </p:nvSpPr>
        <p:spPr>
          <a:xfrm>
            <a:off x="8138160" y="1371600"/>
            <a:ext cx="548640" cy="548640"/>
          </a:xfrm>
          <a:prstGeom prst="ellipse">
            <a:avLst/>
          </a:prstGeom>
          <a:solidFill>
            <a:schemeClr val="accent1"/>
          </a:solidFill>
          <a:ln/>
        </p:spPr>
      </p:sp>
      <p:pic>
        <p:nvPicPr>
          <p:cNvPr id="7" name="icon glyph" descr="preencoded.png">    </p:cNvPr>
          <p:cNvPicPr>
            <a:picLocks noChangeAspect="1"/>
          </p:cNvPicPr>
          <p:nvPr/>
        </p:nvPicPr>
        <p:blipFill>
          <a:blip r:embed="rId2"/>
          <a:stretch>
            <a:fillRect/>
          </a:stretch>
        </p:blipFill>
        <p:spPr>
          <a:xfrm>
            <a:off x="8269834" y="1503274"/>
            <a:ext cx="285293" cy="285293"/>
          </a:xfrm>
          <a:prstGeom prst="rect">
            <a:avLst/>
          </a:prstGeom>
        </p:spPr>
      </p:pic>
      <p:sp>
        <p:nvSpPr>
          <p:cNvPr id="8" name="Text 4"/>
          <p:cNvSpPr txBox="1"/>
          <p:nvPr/>
        </p:nvSpPr>
        <p:spPr>
          <a:xfrm>
            <a:off x="8823960" y="1371600"/>
            <a:ext cx="2788920" cy="347472"/>
          </a:xfrm>
          <a:prstGeom prst="rect">
            <a:avLst/>
          </a:prstGeom>
          <a:noFill/>
          <a:ln/>
        </p:spPr>
        <p:txBody>
          <a:bodyPr wrap="square" lIns="0" tIns="0" rIns="0" bIns="0" rtlCol="0" anchor="t"/>
          <a:lstStyle/>
          <a:p>
            <a:pPr indent="0" marL="0">
              <a:buNone/>
            </a:pPr>
            <a:r>
              <a:rPr lang="en-US" sz="1600" b="1" dirty="0">
                <a:solidFill>
                  <a:schemeClr val="tx2"/>
                </a:solidFill>
              </a:rPr>
              <a:t>“I am alive”</a:t>
            </a:r>
            <a:endParaRPr lang="en-US" sz="1600" dirty="0"/>
          </a:p>
        </p:txBody>
      </p:sp>
      <p:sp>
        <p:nvSpPr>
          <p:cNvPr id="9" name="Text 5"/>
          <p:cNvSpPr txBox="1"/>
          <p:nvPr/>
        </p:nvSpPr>
        <p:spPr>
          <a:xfrm>
            <a:off x="8823960" y="1737360"/>
            <a:ext cx="2788920" cy="685800"/>
          </a:xfrm>
          <a:prstGeom prst="rect">
            <a:avLst/>
          </a:prstGeom>
          <a:noFill/>
          <a:ln/>
        </p:spPr>
        <p:txBody>
          <a:bodyPr wrap="square" lIns="0" tIns="0" rIns="0" bIns="0" rtlCol="0" anchor="t"/>
          <a:lstStyle/>
          <a:p>
            <a:pPr indent="0" marL="0">
              <a:buNone/>
            </a:pPr>
            <a:r>
              <a:rPr lang="en-US" sz="1300" dirty="0">
                <a:solidFill>
                  <a:schemeClr val="tx1"/>
                </a:solidFill>
              </a:rPr>
              <a:t>Sends ping(); lastPing resets to the block timestamp.</a:t>
            </a:r>
            <a:endParaRPr lang="en-US" sz="1300" dirty="0"/>
          </a:p>
        </p:txBody>
      </p:sp>
      <p:sp>
        <p:nvSpPr>
          <p:cNvPr id="10" name="icon circle"/>
          <p:cNvSpPr/>
          <p:nvPr/>
        </p:nvSpPr>
        <p:spPr>
          <a:xfrm>
            <a:off x="8138160" y="2468880"/>
            <a:ext cx="548640" cy="548640"/>
          </a:xfrm>
          <a:prstGeom prst="ellipse">
            <a:avLst/>
          </a:prstGeom>
          <a:solidFill>
            <a:schemeClr val="accent1"/>
          </a:solidFill>
          <a:ln/>
        </p:spPr>
      </p:sp>
      <p:pic>
        <p:nvPicPr>
          <p:cNvPr id="11" name="icon glyph" descr="preencoded.png">    </p:cNvPr>
          <p:cNvPicPr>
            <a:picLocks noChangeAspect="1"/>
          </p:cNvPicPr>
          <p:nvPr/>
        </p:nvPicPr>
        <p:blipFill>
          <a:blip r:embed="rId3"/>
          <a:stretch>
            <a:fillRect/>
          </a:stretch>
        </p:blipFill>
        <p:spPr>
          <a:xfrm>
            <a:off x="8269834" y="2600554"/>
            <a:ext cx="285293" cy="285293"/>
          </a:xfrm>
          <a:prstGeom prst="rect">
            <a:avLst/>
          </a:prstGeom>
        </p:spPr>
      </p:pic>
      <p:sp>
        <p:nvSpPr>
          <p:cNvPr id="12" name="Text 7"/>
          <p:cNvSpPr txBox="1"/>
          <p:nvPr/>
        </p:nvSpPr>
        <p:spPr>
          <a:xfrm>
            <a:off x="8823960" y="2468880"/>
            <a:ext cx="2788920" cy="347472"/>
          </a:xfrm>
          <a:prstGeom prst="rect">
            <a:avLst/>
          </a:prstGeom>
          <a:noFill/>
          <a:ln/>
        </p:spPr>
        <p:txBody>
          <a:bodyPr wrap="square" lIns="0" tIns="0" rIns="0" bIns="0" rtlCol="0" anchor="t"/>
          <a:lstStyle/>
          <a:p>
            <a:pPr indent="0" marL="0">
              <a:buNone/>
            </a:pPr>
            <a:r>
              <a:rPr lang="en-US" sz="1600" b="1" dirty="0">
                <a:solidFill>
                  <a:schemeClr val="tx2"/>
                </a:solidFill>
              </a:rPr>
              <a:t>Countdown</a:t>
            </a:r>
            <a:endParaRPr lang="en-US" sz="1600" dirty="0"/>
          </a:p>
        </p:txBody>
      </p:sp>
      <p:sp>
        <p:nvSpPr>
          <p:cNvPr id="13" name="Text 8"/>
          <p:cNvSpPr txBox="1"/>
          <p:nvPr/>
        </p:nvSpPr>
        <p:spPr>
          <a:xfrm>
            <a:off x="8823960" y="2834640"/>
            <a:ext cx="2788920" cy="685800"/>
          </a:xfrm>
          <a:prstGeom prst="rect">
            <a:avLst/>
          </a:prstGeom>
          <a:noFill/>
          <a:ln/>
        </p:spPr>
        <p:txBody>
          <a:bodyPr wrap="square" lIns="0" tIns="0" rIns="0" bIns="0" rtlCol="0" anchor="t"/>
          <a:lstStyle/>
          <a:p>
            <a:pPr indent="0" marL="0">
              <a:buNone/>
            </a:pPr>
            <a:r>
              <a:rPr lang="en-US" sz="1300" dirty="0">
                <a:solidFill>
                  <a:schemeClr val="tx1"/>
                </a:solidFill>
              </a:rPr>
              <a:t>Deadline = lastPing + timeout, read from getVault().</a:t>
            </a:r>
            <a:endParaRPr lang="en-US" sz="1300" dirty="0"/>
          </a:p>
        </p:txBody>
      </p:sp>
      <p:sp>
        <p:nvSpPr>
          <p:cNvPr id="14" name="icon circle"/>
          <p:cNvSpPr/>
          <p:nvPr/>
        </p:nvSpPr>
        <p:spPr>
          <a:xfrm>
            <a:off x="8138160" y="3566160"/>
            <a:ext cx="548640" cy="548640"/>
          </a:xfrm>
          <a:prstGeom prst="ellipse">
            <a:avLst/>
          </a:prstGeom>
          <a:solidFill>
            <a:schemeClr val="accent1"/>
          </a:solidFill>
          <a:ln/>
        </p:spPr>
      </p:sp>
      <p:pic>
        <p:nvPicPr>
          <p:cNvPr id="15" name="icon glyph" descr="preencoded.png">    </p:cNvPr>
          <p:cNvPicPr>
            <a:picLocks noChangeAspect="1"/>
          </p:cNvPicPr>
          <p:nvPr/>
        </p:nvPicPr>
        <p:blipFill>
          <a:blip r:embed="rId4"/>
          <a:stretch>
            <a:fillRect/>
          </a:stretch>
        </p:blipFill>
        <p:spPr>
          <a:xfrm>
            <a:off x="8269834" y="3697834"/>
            <a:ext cx="285293" cy="285293"/>
          </a:xfrm>
          <a:prstGeom prst="rect">
            <a:avLst/>
          </a:prstGeom>
        </p:spPr>
      </p:pic>
      <p:sp>
        <p:nvSpPr>
          <p:cNvPr id="16" name="Text 10"/>
          <p:cNvSpPr txBox="1"/>
          <p:nvPr/>
        </p:nvSpPr>
        <p:spPr>
          <a:xfrm>
            <a:off x="8823960" y="3566160"/>
            <a:ext cx="2788920" cy="347472"/>
          </a:xfrm>
          <a:prstGeom prst="rect">
            <a:avLst/>
          </a:prstGeom>
          <a:noFill/>
          <a:ln/>
        </p:spPr>
        <p:txBody>
          <a:bodyPr wrap="square" lIns="0" tIns="0" rIns="0" bIns="0" rtlCol="0" anchor="t"/>
          <a:lstStyle/>
          <a:p>
            <a:pPr indent="0" marL="0">
              <a:buNone/>
            </a:pPr>
            <a:r>
              <a:rPr lang="en-US" sz="1600" b="1" dirty="0">
                <a:solidFill>
                  <a:schemeClr val="tx2"/>
                </a:solidFill>
              </a:rPr>
              <a:t>Cancel &amp; withdraw</a:t>
            </a:r>
            <a:endParaRPr lang="en-US" sz="1600" dirty="0"/>
          </a:p>
        </p:txBody>
      </p:sp>
      <p:sp>
        <p:nvSpPr>
          <p:cNvPr id="17" name="Text 11"/>
          <p:cNvSpPr txBox="1"/>
          <p:nvPr/>
        </p:nvSpPr>
        <p:spPr>
          <a:xfrm>
            <a:off x="8823960" y="3931920"/>
            <a:ext cx="2788920" cy="685800"/>
          </a:xfrm>
          <a:prstGeom prst="rect">
            <a:avLst/>
          </a:prstGeom>
          <a:noFill/>
          <a:ln/>
        </p:spPr>
        <p:txBody>
          <a:bodyPr wrap="square" lIns="0" tIns="0" rIns="0" bIns="0" rtlCol="0" anchor="t"/>
          <a:lstStyle/>
          <a:p>
            <a:pPr indent="0" marL="0">
              <a:buNone/>
            </a:pPr>
            <a:r>
              <a:rPr lang="en-US" sz="1300" dirty="0">
                <a:solidFill>
                  <a:schemeClr val="tx1"/>
                </a:solidFill>
              </a:rPr>
              <a:t>cancelAndWithdraw() refunds the deposit and disarms.</a:t>
            </a:r>
            <a:endParaRPr lang="en-US" sz="1300" dirty="0"/>
          </a:p>
        </p:txBody>
      </p:sp>
      <p:sp>
        <p:nvSpPr>
          <p:cNvPr id="18" name="icon circle"/>
          <p:cNvSpPr/>
          <p:nvPr/>
        </p:nvSpPr>
        <p:spPr>
          <a:xfrm>
            <a:off x="8138160" y="4663440"/>
            <a:ext cx="548640" cy="548640"/>
          </a:xfrm>
          <a:prstGeom prst="ellipse">
            <a:avLst/>
          </a:prstGeom>
          <a:solidFill>
            <a:schemeClr val="accent1"/>
          </a:solidFill>
          <a:ln/>
        </p:spPr>
      </p:sp>
      <p:pic>
        <p:nvPicPr>
          <p:cNvPr id="19" name="icon glyph" descr="preencoded.png">    </p:cNvPr>
          <p:cNvPicPr>
            <a:picLocks noChangeAspect="1"/>
          </p:cNvPicPr>
          <p:nvPr/>
        </p:nvPicPr>
        <p:blipFill>
          <a:blip r:embed="rId5"/>
          <a:stretch>
            <a:fillRect/>
          </a:stretch>
        </p:blipFill>
        <p:spPr>
          <a:xfrm>
            <a:off x="8269834" y="4795114"/>
            <a:ext cx="285293" cy="285293"/>
          </a:xfrm>
          <a:prstGeom prst="rect">
            <a:avLst/>
          </a:prstGeom>
        </p:spPr>
      </p:pic>
      <p:sp>
        <p:nvSpPr>
          <p:cNvPr id="20" name="Text 13"/>
          <p:cNvSpPr txBox="1"/>
          <p:nvPr/>
        </p:nvSpPr>
        <p:spPr>
          <a:xfrm>
            <a:off x="8823960" y="4663440"/>
            <a:ext cx="2788920" cy="347472"/>
          </a:xfrm>
          <a:prstGeom prst="rect">
            <a:avLst/>
          </a:prstGeom>
          <a:noFill/>
          <a:ln/>
        </p:spPr>
        <p:txBody>
          <a:bodyPr wrap="square" lIns="0" tIns="0" rIns="0" bIns="0" rtlCol="0" anchor="t"/>
          <a:lstStyle/>
          <a:p>
            <a:pPr indent="0" marL="0">
              <a:buNone/>
            </a:pPr>
            <a:r>
              <a:rPr lang="en-US" sz="1600" b="1" dirty="0">
                <a:solidFill>
                  <a:schemeClr val="tx2"/>
                </a:solidFill>
              </a:rPr>
              <a:t>Live state</a:t>
            </a:r>
            <a:endParaRPr lang="en-US" sz="1600" dirty="0"/>
          </a:p>
        </p:txBody>
      </p:sp>
      <p:sp>
        <p:nvSpPr>
          <p:cNvPr id="21" name="Text 14"/>
          <p:cNvSpPr txBox="1"/>
          <p:nvPr/>
        </p:nvSpPr>
        <p:spPr>
          <a:xfrm>
            <a:off x="8823960" y="5029200"/>
            <a:ext cx="2788920" cy="685800"/>
          </a:xfrm>
          <a:prstGeom prst="rect">
            <a:avLst/>
          </a:prstGeom>
          <a:noFill/>
          <a:ln/>
        </p:spPr>
        <p:txBody>
          <a:bodyPr wrap="square" lIns="0" tIns="0" rIns="0" bIns="0" rtlCol="0" anchor="t"/>
          <a:lstStyle/>
          <a:p>
            <a:pPr indent="0" marL="0">
              <a:buNone/>
            </a:pPr>
            <a:r>
              <a:rPr lang="en-US" sz="1300" dirty="0">
                <a:solidFill>
                  <a:schemeClr val="tx1"/>
                </a:solidFill>
              </a:rPr>
              <a:t>TanStack Query refetches the vault every 10 s.</a:t>
            </a:r>
            <a:endParaRPr lang="en-US" sz="13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When the owner goes silent</a:t>
            </a:r>
            <a:endParaRPr lang="en-US" sz="3200" dirty="0"/>
          </a:p>
        </p:txBody>
      </p:sp>
      <p:sp>
        <p:nvSpPr>
          <p:cNvPr id="3" name="screenshot frame"/>
          <p:cNvSpPr/>
          <p:nvPr/>
        </p:nvSpPr>
        <p:spPr>
          <a:xfrm>
            <a:off x="512064" y="1289304"/>
            <a:ext cx="7022592" cy="1934609"/>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benef_due.png" descr="Beneficiary view after the interval elapses">    </p:cNvPr>
          <p:cNvPicPr>
            <a:picLocks noChangeAspect="1"/>
          </p:cNvPicPr>
          <p:nvPr/>
        </p:nvPicPr>
        <p:blipFill>
          <a:blip r:embed="rId1"/>
          <a:stretch>
            <a:fillRect/>
          </a:stretch>
        </p:blipFill>
        <p:spPr>
          <a:xfrm>
            <a:off x="548640" y="1325880"/>
            <a:ext cx="6949440" cy="1861457"/>
          </a:xfrm>
          <a:prstGeom prst="rect">
            <a:avLst/>
          </a:prstGeom>
        </p:spPr>
      </p:pic>
      <p:sp>
        <p:nvSpPr>
          <p:cNvPr id="5" name="Text 2"/>
          <p:cNvSpPr txBox="1"/>
          <p:nvPr/>
        </p:nvSpPr>
        <p:spPr>
          <a:xfrm>
            <a:off x="548640" y="3278777"/>
            <a:ext cx="6949440" cy="274320"/>
          </a:xfrm>
          <a:prstGeom prst="rect">
            <a:avLst/>
          </a:prstGeom>
          <a:noFill/>
          <a:ln/>
        </p:spPr>
        <p:txBody>
          <a:bodyPr wrap="square" lIns="0" tIns="0" rIns="0" bIns="0" rtlCol="0" anchor="t"/>
          <a:lstStyle/>
          <a:p>
            <a:pPr indent="0" marL="0">
              <a:buNone/>
            </a:pPr>
            <a:r>
              <a:rPr lang="en-US" sz="1000" i="1" dirty="0">
                <a:solidFill>
                  <a:schemeClr val="accent6"/>
                </a:solidFill>
              </a:rPr>
              <a:t>Beneficiary view after the interval elapses</a:t>
            </a:r>
            <a:endParaRPr lang="en-US" sz="1000" dirty="0"/>
          </a:p>
        </p:txBody>
      </p:sp>
      <p:sp>
        <p:nvSpPr>
          <p:cNvPr id="6" name="screenshot frame"/>
          <p:cNvSpPr/>
          <p:nvPr/>
        </p:nvSpPr>
        <p:spPr>
          <a:xfrm>
            <a:off x="512064" y="3712464"/>
            <a:ext cx="5086403" cy="217627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7" name="screenshot released_countdown.png" descr="Owner view after release">    </p:cNvPr>
          <p:cNvPicPr>
            <a:picLocks noChangeAspect="1"/>
          </p:cNvPicPr>
          <p:nvPr/>
        </p:nvPicPr>
        <p:blipFill>
          <a:blip r:embed="rId2"/>
          <a:stretch>
            <a:fillRect/>
          </a:stretch>
        </p:blipFill>
        <p:spPr>
          <a:xfrm>
            <a:off x="548640" y="3749040"/>
            <a:ext cx="5013251" cy="2103120"/>
          </a:xfrm>
          <a:prstGeom prst="rect">
            <a:avLst/>
          </a:prstGeom>
        </p:spPr>
      </p:pic>
      <p:sp>
        <p:nvSpPr>
          <p:cNvPr id="8" name="Text 4"/>
          <p:cNvSpPr txBox="1"/>
          <p:nvPr/>
        </p:nvSpPr>
        <p:spPr>
          <a:xfrm>
            <a:off x="548640" y="5943600"/>
            <a:ext cx="5013251" cy="274320"/>
          </a:xfrm>
          <a:prstGeom prst="rect">
            <a:avLst/>
          </a:prstGeom>
          <a:noFill/>
          <a:ln/>
        </p:spPr>
        <p:txBody>
          <a:bodyPr wrap="square" lIns="0" tIns="0" rIns="0" bIns="0" rtlCol="0" anchor="t"/>
          <a:lstStyle/>
          <a:p>
            <a:pPr indent="0" marL="0">
              <a:buNone/>
            </a:pPr>
            <a:r>
              <a:rPr lang="en-US" sz="1000" i="1" dirty="0">
                <a:solidFill>
                  <a:schemeClr val="accent6"/>
                </a:solidFill>
              </a:rPr>
              <a:t>Owner view after release</a:t>
            </a:r>
            <a:endParaRPr lang="en-US" sz="1000" dirty="0"/>
          </a:p>
        </p:txBody>
      </p:sp>
      <p:sp>
        <p:nvSpPr>
          <p:cNvPr id="9" name="release explainer"/>
          <p:cNvSpPr/>
          <p:nvPr/>
        </p:nvSpPr>
        <p:spPr>
          <a:xfrm>
            <a:off x="7955280" y="1325880"/>
            <a:ext cx="3657600" cy="4754880"/>
          </a:xfrm>
          <a:prstGeom prst="roundRect">
            <a:avLst>
              <a:gd name="adj" fmla="val 2000"/>
            </a:avLst>
          </a:prstGeom>
          <a:solidFill>
            <a:schemeClr val="bg2"/>
          </a:solidFill>
          <a:ln/>
        </p:spPr>
      </p:sp>
      <p:sp>
        <p:nvSpPr>
          <p:cNvPr id="10" name="Text 6"/>
          <p:cNvSpPr txBox="1"/>
          <p:nvPr/>
        </p:nvSpPr>
        <p:spPr>
          <a:xfrm>
            <a:off x="8229600" y="1508760"/>
            <a:ext cx="3108960" cy="411480"/>
          </a:xfrm>
          <a:prstGeom prst="rect">
            <a:avLst/>
          </a:prstGeom>
          <a:noFill/>
          <a:ln/>
        </p:spPr>
        <p:txBody>
          <a:bodyPr wrap="square" lIns="0" tIns="0" rIns="0" bIns="0" rtlCol="0" anchor="t"/>
          <a:lstStyle/>
          <a:p>
            <a:pPr indent="0" marL="0">
              <a:buNone/>
            </a:pPr>
            <a:r>
              <a:rPr lang="en-US" sz="1800" b="1" dirty="0">
                <a:solidFill>
                  <a:schemeClr val="tx2"/>
                </a:solidFill>
              </a:rPr>
              <a:t>Two ways to fire</a:t>
            </a:r>
            <a:endParaRPr lang="en-US" sz="1800" dirty="0"/>
          </a:p>
        </p:txBody>
      </p:sp>
      <p:sp>
        <p:nvSpPr>
          <p:cNvPr id="11" name="Text 7"/>
          <p:cNvSpPr txBox="1"/>
          <p:nvPr/>
        </p:nvSpPr>
        <p:spPr>
          <a:xfrm>
            <a:off x="8229600" y="2011680"/>
            <a:ext cx="3154680" cy="393192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chemeClr val="accent3"/>
                </a:solidFill>
              </a:rPr>
              <a:t>Automatic: </a:t>
            </a:r>
            <a:pPr indent="0" marL="0">
              <a:buNone/>
            </a:pPr>
            <a:r>
              <a:rPr lang="en-US" sz="1400" dirty="0">
                <a:solidFill>
                  <a:schemeClr val="tx1"/>
                </a:solidFill>
              </a:rPr>
              <a:t>Chainlink's checkUpkeep spots the due vault and performUpkeep releases it.</a:t>
            </a:r>
            <a:endParaRPr lang="en-US" sz="1400" dirty="0"/>
          </a:p>
          <a:p>
            <a:pPr marL="177800" indent="-177800">
              <a:spcAft>
                <a:spcPts val="1000"/>
              </a:spcAft>
              <a:buSzPct val="100000"/>
              <a:buChar char="•"/>
            </a:pPr>
            <a:r>
              <a:rPr lang="en-US" sz="1400" b="1" dirty="0">
                <a:solidFill>
                  <a:schemeClr val="accent1"/>
                </a:solidFill>
              </a:rPr>
              <a:t>Manual: </a:t>
            </a:r>
            <a:pPr indent="0" marL="0">
              <a:buNone/>
            </a:pPr>
            <a:r>
              <a:rPr lang="en-US" sz="1400" dirty="0">
                <a:solidFill>
                  <a:schemeClr val="tx1"/>
                </a:solidFill>
              </a:rPr>
              <a:t>the beneficiary clicks “Trigger release”, which calls releaseFunds(owner).</a:t>
            </a:r>
            <a:endParaRPr lang="en-US" sz="1400" dirty="0"/>
          </a:p>
          <a:p>
            <a:pPr marL="177800" indent="-177800">
              <a:spcAft>
                <a:spcPts val="1000"/>
              </a:spcAft>
              <a:buSzPct val="100000"/>
              <a:buChar char="•"/>
            </a:pPr>
            <a:r>
              <a:rPr lang="en-US" sz="1400" dirty="0">
                <a:solidFill>
                  <a:schemeClr val="tx1"/>
                </a:solidFill>
              </a:rPr>
              <a:t>Either way, ETH moves to the beneficiary and the vault is marked released.</a:t>
            </a:r>
            <a:endParaRPr lang="en-US" sz="1400" dirty="0"/>
          </a:p>
          <a:p>
            <a:pPr marL="177800" indent="-177800">
              <a:spcAft>
                <a:spcPts val="1000"/>
              </a:spcAft>
              <a:buSzPct val="100000"/>
              <a:buChar char="•"/>
            </a:pPr>
            <a:r>
              <a:rPr lang="en-US" sz="1400" dirty="0">
                <a:solidFill>
                  <a:schemeClr val="tx1"/>
                </a:solidFill>
              </a:rPr>
              <a:t>The owner's buttons disable and the badge reads “Silence expired”.</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Beneficiary recovers the secret</a:t>
            </a:r>
            <a:endParaRPr lang="en-US" sz="3200" dirty="0"/>
          </a:p>
        </p:txBody>
      </p:sp>
      <p:sp>
        <p:nvSpPr>
          <p:cNvPr id="3" name="screenshot frame"/>
          <p:cNvSpPr/>
          <p:nvPr/>
        </p:nvSpPr>
        <p:spPr>
          <a:xfrm>
            <a:off x="512064" y="1289304"/>
            <a:ext cx="7388352" cy="235915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benef_decrypt.png" descr="Released vault, decrypted in the browser">    </p:cNvPr>
          <p:cNvPicPr>
            <a:picLocks noChangeAspect="1"/>
          </p:cNvPicPr>
          <p:nvPr/>
        </p:nvPicPr>
        <p:blipFill>
          <a:blip r:embed="rId1"/>
          <a:stretch>
            <a:fillRect/>
          </a:stretch>
        </p:blipFill>
        <p:spPr>
          <a:xfrm>
            <a:off x="548640" y="1325880"/>
            <a:ext cx="7315200" cy="2286000"/>
          </a:xfrm>
          <a:prstGeom prst="rect">
            <a:avLst/>
          </a:prstGeom>
        </p:spPr>
      </p:pic>
      <p:sp>
        <p:nvSpPr>
          <p:cNvPr id="5" name="Text 2"/>
          <p:cNvSpPr txBox="1"/>
          <p:nvPr/>
        </p:nvSpPr>
        <p:spPr>
          <a:xfrm>
            <a:off x="548640" y="3703320"/>
            <a:ext cx="7315200" cy="274320"/>
          </a:xfrm>
          <a:prstGeom prst="rect">
            <a:avLst/>
          </a:prstGeom>
          <a:noFill/>
          <a:ln/>
        </p:spPr>
        <p:txBody>
          <a:bodyPr wrap="square" lIns="0" tIns="0" rIns="0" bIns="0" rtlCol="0" anchor="t"/>
          <a:lstStyle/>
          <a:p>
            <a:pPr indent="0" marL="0">
              <a:buNone/>
            </a:pPr>
            <a:r>
              <a:rPr lang="en-US" sz="1000" i="1" dirty="0">
                <a:solidFill>
                  <a:schemeClr val="accent6"/>
                </a:solidFill>
              </a:rPr>
              <a:t>Released vault, decrypted in the browser</a:t>
            </a:r>
            <a:endParaRPr lang="en-US" sz="1000" dirty="0"/>
          </a:p>
        </p:txBody>
      </p:sp>
      <p:sp>
        <p:nvSpPr>
          <p:cNvPr id="6" name="screenshot frame"/>
          <p:cNvSpPr/>
          <p:nvPr/>
        </p:nvSpPr>
        <p:spPr>
          <a:xfrm>
            <a:off x="512064" y="4123944"/>
            <a:ext cx="6388608" cy="1764792"/>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7" name="screenshot benef_sealed.png" descr="Before release: vault still sealed">    </p:cNvPr>
          <p:cNvPicPr>
            <a:picLocks noChangeAspect="1"/>
          </p:cNvPicPr>
          <p:nvPr/>
        </p:nvPicPr>
        <p:blipFill>
          <a:blip r:embed="rId2"/>
          <a:stretch>
            <a:fillRect/>
          </a:stretch>
        </p:blipFill>
        <p:spPr>
          <a:xfrm>
            <a:off x="548640" y="4160520"/>
            <a:ext cx="6315456" cy="1691640"/>
          </a:xfrm>
          <a:prstGeom prst="rect">
            <a:avLst/>
          </a:prstGeom>
        </p:spPr>
      </p:pic>
      <p:sp>
        <p:nvSpPr>
          <p:cNvPr id="8" name="Text 4"/>
          <p:cNvSpPr txBox="1"/>
          <p:nvPr/>
        </p:nvSpPr>
        <p:spPr>
          <a:xfrm>
            <a:off x="548640" y="5943600"/>
            <a:ext cx="6315456" cy="274320"/>
          </a:xfrm>
          <a:prstGeom prst="rect">
            <a:avLst/>
          </a:prstGeom>
          <a:noFill/>
          <a:ln/>
        </p:spPr>
        <p:txBody>
          <a:bodyPr wrap="square" lIns="0" tIns="0" rIns="0" bIns="0" rtlCol="0" anchor="t"/>
          <a:lstStyle/>
          <a:p>
            <a:pPr indent="0" marL="0">
              <a:buNone/>
            </a:pPr>
            <a:r>
              <a:rPr lang="en-US" sz="1000" i="1" dirty="0">
                <a:solidFill>
                  <a:schemeClr val="accent6"/>
                </a:solidFill>
              </a:rPr>
              <a:t>Before release: vault still sealed</a:t>
            </a:r>
            <a:endParaRPr lang="en-US" sz="1000" dirty="0"/>
          </a:p>
        </p:txBody>
      </p:sp>
      <p:sp>
        <p:nvSpPr>
          <p:cNvPr id="9" name="decrypt explainer"/>
          <p:cNvSpPr/>
          <p:nvPr/>
        </p:nvSpPr>
        <p:spPr>
          <a:xfrm>
            <a:off x="8229600" y="1325880"/>
            <a:ext cx="3383280" cy="4754880"/>
          </a:xfrm>
          <a:prstGeom prst="roundRect">
            <a:avLst>
              <a:gd name="adj" fmla="val 2162"/>
            </a:avLst>
          </a:prstGeom>
          <a:solidFill>
            <a:schemeClr val="tx2"/>
          </a:solidFill>
          <a:ln/>
        </p:spPr>
      </p:sp>
      <p:sp>
        <p:nvSpPr>
          <p:cNvPr id="10" name="Text 6"/>
          <p:cNvSpPr txBox="1"/>
          <p:nvPr/>
        </p:nvSpPr>
        <p:spPr>
          <a:xfrm>
            <a:off x="8503920" y="1508760"/>
            <a:ext cx="2834640" cy="731520"/>
          </a:xfrm>
          <a:prstGeom prst="rect">
            <a:avLst/>
          </a:prstGeom>
          <a:noFill/>
          <a:ln/>
        </p:spPr>
        <p:txBody>
          <a:bodyPr wrap="square" lIns="0" tIns="0" rIns="0" bIns="0" rtlCol="0" anchor="t"/>
          <a:lstStyle/>
          <a:p>
            <a:pPr indent="0" marL="0">
              <a:buNone/>
            </a:pPr>
            <a:r>
              <a:rPr lang="en-US" sz="1800" b="1" dirty="0">
                <a:solidFill>
                  <a:schemeClr val="accent2"/>
                </a:solidFill>
              </a:rPr>
              <a:t>What happens on Decrypt</a:t>
            </a:r>
            <a:endParaRPr lang="en-US" sz="1800" dirty="0"/>
          </a:p>
        </p:txBody>
      </p:sp>
      <p:sp>
        <p:nvSpPr>
          <p:cNvPr id="11" name="Text 7"/>
          <p:cNvSpPr txBox="1"/>
          <p:nvPr/>
        </p:nvSpPr>
        <p:spPr>
          <a:xfrm>
            <a:off x="8503920" y="2240280"/>
            <a:ext cx="2880360" cy="374904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fetchEncryptedPayload({ cid }) reads the envelope from the IPFS gateway.</a:t>
            </a:r>
            <a:endParaRPr lang="en-US" sz="1400" dirty="0"/>
          </a:p>
          <a:p>
            <a:pPr marL="177800" indent="-177800">
              <a:spcAft>
                <a:spcPts val="1000"/>
              </a:spcAft>
              <a:buSzPct val="100000"/>
              <a:buChar char="•"/>
            </a:pPr>
            <a:r>
              <a:rPr lang="en-US" sz="1400" dirty="0">
                <a:solidFill>
                  <a:schemeClr val="bg1"/>
                </a:solidFill>
              </a:rPr>
              <a:t>decryptSecret(payload, passphrase) derives the key and opens the AES-GCM box.</a:t>
            </a:r>
            <a:endParaRPr lang="en-US" sz="1400" dirty="0"/>
          </a:p>
          <a:p>
            <a:pPr marL="177800" indent="-177800">
              <a:spcAft>
                <a:spcPts val="1000"/>
              </a:spcAft>
              <a:buSzPct val="100000"/>
              <a:buChar char="•"/>
            </a:pPr>
            <a:r>
              <a:rPr lang="en-US" sz="1400" dirty="0">
                <a:solidFill>
                  <a:schemeClr val="bg1"/>
                </a:solidFill>
              </a:rPr>
              <a:t>The recovered secret is shown only in this tab.</a:t>
            </a:r>
            <a:endParaRPr lang="en-US" sz="1400" dirty="0"/>
          </a:p>
          <a:p>
            <a:pPr marL="177800" indent="-177800">
              <a:spcAft>
                <a:spcPts val="1000"/>
              </a:spcAft>
              <a:buSzPct val="100000"/>
              <a:buChar char="•"/>
            </a:pPr>
            <a:r>
              <a:rPr lang="en-US" sz="1400" dirty="0">
                <a:solidFill>
                  <a:schemeClr val="bg1"/>
                </a:solidFill>
              </a:rPr>
              <a:t>A wrong passphrase shows a single generic error.</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full lifecycle at a glance</a:t>
            </a:r>
            <a:endParaRPr lang="en-US" sz="3200" dirty="0"/>
          </a:p>
        </p:txBody>
      </p:sp>
      <p:sp>
        <p:nvSpPr>
          <p:cNvPr id="3" name="timeline"/>
          <p:cNvSpPr/>
          <p:nvPr/>
        </p:nvSpPr>
        <p:spPr>
          <a:xfrm>
            <a:off x="1280160" y="2377440"/>
            <a:ext cx="9601200" cy="0"/>
          </a:xfrm>
          <a:prstGeom prst="line">
            <a:avLst/>
          </a:prstGeom>
          <a:noFill/>
          <a:ln w="38100">
            <a:solidFill>
              <a:schemeClr val="accent2"/>
            </a:solidFill>
            <a:prstDash val="solid"/>
          </a:ln>
        </p:spPr>
      </p:sp>
      <p:sp>
        <p:nvSpPr>
          <p:cNvPr id="4" name="icon circle"/>
          <p:cNvSpPr/>
          <p:nvPr/>
        </p:nvSpPr>
        <p:spPr>
          <a:xfrm>
            <a:off x="822960" y="1920240"/>
            <a:ext cx="914400" cy="914400"/>
          </a:xfrm>
          <a:prstGeom prst="ellipse">
            <a:avLst/>
          </a:prstGeom>
          <a:solidFill>
            <a:schemeClr val="accent1"/>
          </a:solidFill>
          <a:ln/>
        </p:spPr>
      </p:sp>
      <p:pic>
        <p:nvPicPr>
          <p:cNvPr id="5" name="icon glyph" descr="preencoded.png">    </p:cNvPr>
          <p:cNvPicPr>
            <a:picLocks noChangeAspect="1"/>
          </p:cNvPicPr>
          <p:nvPr/>
        </p:nvPicPr>
        <p:blipFill>
          <a:blip r:embed="rId1"/>
          <a:stretch>
            <a:fillRect/>
          </a:stretch>
        </p:blipFill>
        <p:spPr>
          <a:xfrm>
            <a:off x="1042416" y="2139696"/>
            <a:ext cx="475488" cy="475488"/>
          </a:xfrm>
          <a:prstGeom prst="rect">
            <a:avLst/>
          </a:prstGeom>
        </p:spPr>
      </p:pic>
      <p:sp>
        <p:nvSpPr>
          <p:cNvPr id="6" name="Text 3"/>
          <p:cNvSpPr txBox="1"/>
          <p:nvPr/>
        </p:nvSpPr>
        <p:spPr>
          <a:xfrm>
            <a:off x="182880" y="301752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Register</a:t>
            </a:r>
            <a:endParaRPr lang="en-US" sz="1800" dirty="0"/>
          </a:p>
        </p:txBody>
      </p:sp>
      <p:sp>
        <p:nvSpPr>
          <p:cNvPr id="7" name="Text 4"/>
          <p:cNvSpPr txBox="1"/>
          <p:nvPr/>
        </p:nvSpPr>
        <p:spPr>
          <a:xfrm>
            <a:off x="182880" y="3474720"/>
            <a:ext cx="2194560" cy="32004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register()</a:t>
            </a:r>
            <a:endParaRPr lang="en-US" sz="1300" dirty="0"/>
          </a:p>
        </p:txBody>
      </p:sp>
      <p:sp>
        <p:nvSpPr>
          <p:cNvPr id="8" name="Text 5"/>
          <p:cNvSpPr txBox="1"/>
          <p:nvPr/>
        </p:nvSpPr>
        <p:spPr>
          <a:xfrm>
            <a:off x="182880" y="3840480"/>
            <a:ext cx="2194560" cy="640080"/>
          </a:xfrm>
          <a:prstGeom prst="rect">
            <a:avLst/>
          </a:prstGeom>
          <a:noFill/>
          <a:ln/>
        </p:spPr>
        <p:txBody>
          <a:bodyPr wrap="square" lIns="0" tIns="0" rIns="0" bIns="0" rtlCol="0" anchor="t"/>
          <a:lstStyle/>
          <a:p>
            <a:pPr algn="ctr" indent="0" marL="0">
              <a:buNone/>
            </a:pPr>
            <a:r>
              <a:rPr lang="en-US" sz="1300" dirty="0">
                <a:solidFill>
                  <a:schemeClr val="tx1"/>
                </a:solidFill>
              </a:rPr>
              <a:t>Encrypt, pin, lock ETH + CID</a:t>
            </a:r>
            <a:endParaRPr lang="en-US" sz="1300" dirty="0"/>
          </a:p>
        </p:txBody>
      </p:sp>
      <p:sp>
        <p:nvSpPr>
          <p:cNvPr id="9" name="icon circle"/>
          <p:cNvSpPr/>
          <p:nvPr/>
        </p:nvSpPr>
        <p:spPr>
          <a:xfrm>
            <a:off x="3223260" y="1920240"/>
            <a:ext cx="914400" cy="914400"/>
          </a:xfrm>
          <a:prstGeom prst="ellipse">
            <a:avLst/>
          </a:prstGeom>
          <a:solidFill>
            <a:schemeClr val="accent1"/>
          </a:solidFill>
          <a:ln/>
        </p:spPr>
      </p:sp>
      <p:pic>
        <p:nvPicPr>
          <p:cNvPr id="10" name="icon glyph" descr="preencoded.png">    </p:cNvPr>
          <p:cNvPicPr>
            <a:picLocks noChangeAspect="1"/>
          </p:cNvPicPr>
          <p:nvPr/>
        </p:nvPicPr>
        <p:blipFill>
          <a:blip r:embed="rId2"/>
          <a:stretch>
            <a:fillRect/>
          </a:stretch>
        </p:blipFill>
        <p:spPr>
          <a:xfrm>
            <a:off x="3442716" y="2139696"/>
            <a:ext cx="475488" cy="475488"/>
          </a:xfrm>
          <a:prstGeom prst="rect">
            <a:avLst/>
          </a:prstGeom>
        </p:spPr>
      </p:pic>
      <p:sp>
        <p:nvSpPr>
          <p:cNvPr id="11" name="Text 7"/>
          <p:cNvSpPr txBox="1"/>
          <p:nvPr/>
        </p:nvSpPr>
        <p:spPr>
          <a:xfrm>
            <a:off x="2583180" y="301752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Heartbeat</a:t>
            </a:r>
            <a:endParaRPr lang="en-US" sz="1800" dirty="0"/>
          </a:p>
        </p:txBody>
      </p:sp>
      <p:sp>
        <p:nvSpPr>
          <p:cNvPr id="12" name="Text 8"/>
          <p:cNvSpPr txBox="1"/>
          <p:nvPr/>
        </p:nvSpPr>
        <p:spPr>
          <a:xfrm>
            <a:off x="2583180" y="3474720"/>
            <a:ext cx="2194560" cy="32004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ping()</a:t>
            </a:r>
            <a:endParaRPr lang="en-US" sz="1300" dirty="0"/>
          </a:p>
        </p:txBody>
      </p:sp>
      <p:sp>
        <p:nvSpPr>
          <p:cNvPr id="13" name="Text 9"/>
          <p:cNvSpPr txBox="1"/>
          <p:nvPr/>
        </p:nvSpPr>
        <p:spPr>
          <a:xfrm>
            <a:off x="2583180" y="3840480"/>
            <a:ext cx="2194560" cy="640080"/>
          </a:xfrm>
          <a:prstGeom prst="rect">
            <a:avLst/>
          </a:prstGeom>
          <a:noFill/>
          <a:ln/>
        </p:spPr>
        <p:txBody>
          <a:bodyPr wrap="square" lIns="0" tIns="0" rIns="0" bIns="0" rtlCol="0" anchor="t"/>
          <a:lstStyle/>
          <a:p>
            <a:pPr algn="ctr" indent="0" marL="0">
              <a:buNone/>
            </a:pPr>
            <a:r>
              <a:rPr lang="en-US" sz="1300" dirty="0">
                <a:solidFill>
                  <a:schemeClr val="tx1"/>
                </a:solidFill>
              </a:rPr>
              <a:t>Owner proves liveness</a:t>
            </a:r>
            <a:endParaRPr lang="en-US" sz="1300" dirty="0"/>
          </a:p>
        </p:txBody>
      </p:sp>
      <p:sp>
        <p:nvSpPr>
          <p:cNvPr id="14" name="icon circle"/>
          <p:cNvSpPr/>
          <p:nvPr/>
        </p:nvSpPr>
        <p:spPr>
          <a:xfrm>
            <a:off x="5623560" y="1920240"/>
            <a:ext cx="914400" cy="914400"/>
          </a:xfrm>
          <a:prstGeom prst="ellipse">
            <a:avLst/>
          </a:prstGeom>
          <a:solidFill>
            <a:schemeClr val="accent1"/>
          </a:solidFill>
          <a:ln/>
        </p:spPr>
      </p:sp>
      <p:pic>
        <p:nvPicPr>
          <p:cNvPr id="15" name="icon glyph" descr="preencoded.png">    </p:cNvPr>
          <p:cNvPicPr>
            <a:picLocks noChangeAspect="1"/>
          </p:cNvPicPr>
          <p:nvPr/>
        </p:nvPicPr>
        <p:blipFill>
          <a:blip r:embed="rId3"/>
          <a:stretch>
            <a:fillRect/>
          </a:stretch>
        </p:blipFill>
        <p:spPr>
          <a:xfrm>
            <a:off x="5843016" y="2139696"/>
            <a:ext cx="475488" cy="475488"/>
          </a:xfrm>
          <a:prstGeom prst="rect">
            <a:avLst/>
          </a:prstGeom>
        </p:spPr>
      </p:pic>
      <p:sp>
        <p:nvSpPr>
          <p:cNvPr id="16" name="Text 11"/>
          <p:cNvSpPr txBox="1"/>
          <p:nvPr/>
        </p:nvSpPr>
        <p:spPr>
          <a:xfrm>
            <a:off x="4983480" y="301752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Silence</a:t>
            </a:r>
            <a:endParaRPr lang="en-US" sz="1800" dirty="0"/>
          </a:p>
        </p:txBody>
      </p:sp>
      <p:sp>
        <p:nvSpPr>
          <p:cNvPr id="17" name="Text 12"/>
          <p:cNvSpPr txBox="1"/>
          <p:nvPr/>
        </p:nvSpPr>
        <p:spPr>
          <a:xfrm>
            <a:off x="4983480" y="3474720"/>
            <a:ext cx="2194560" cy="32004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block.timestamp</a:t>
            </a:r>
            <a:endParaRPr lang="en-US" sz="1300" dirty="0"/>
          </a:p>
        </p:txBody>
      </p:sp>
      <p:sp>
        <p:nvSpPr>
          <p:cNvPr id="18" name="Text 13"/>
          <p:cNvSpPr txBox="1"/>
          <p:nvPr/>
        </p:nvSpPr>
        <p:spPr>
          <a:xfrm>
            <a:off x="4983480" y="3840480"/>
            <a:ext cx="2194560" cy="640080"/>
          </a:xfrm>
          <a:prstGeom prst="rect">
            <a:avLst/>
          </a:prstGeom>
          <a:noFill/>
          <a:ln/>
        </p:spPr>
        <p:txBody>
          <a:bodyPr wrap="square" lIns="0" tIns="0" rIns="0" bIns="0" rtlCol="0" anchor="t"/>
          <a:lstStyle/>
          <a:p>
            <a:pPr algn="ctr" indent="0" marL="0">
              <a:buNone/>
            </a:pPr>
            <a:r>
              <a:rPr lang="en-US" sz="1300" dirty="0">
                <a:solidFill>
                  <a:schemeClr val="tx1"/>
                </a:solidFill>
              </a:rPr>
              <a:t>Deadline passes unanswered</a:t>
            </a:r>
            <a:endParaRPr lang="en-US" sz="1300" dirty="0"/>
          </a:p>
        </p:txBody>
      </p:sp>
      <p:sp>
        <p:nvSpPr>
          <p:cNvPr id="19" name="icon circle"/>
          <p:cNvSpPr/>
          <p:nvPr/>
        </p:nvSpPr>
        <p:spPr>
          <a:xfrm>
            <a:off x="8023860" y="1920240"/>
            <a:ext cx="914400" cy="914400"/>
          </a:xfrm>
          <a:prstGeom prst="ellipse">
            <a:avLst/>
          </a:prstGeom>
          <a:solidFill>
            <a:schemeClr val="accent1"/>
          </a:solidFill>
          <a:ln/>
        </p:spPr>
      </p:sp>
      <p:pic>
        <p:nvPicPr>
          <p:cNvPr id="20" name="icon glyph" descr="preencoded.png">    </p:cNvPr>
          <p:cNvPicPr>
            <a:picLocks noChangeAspect="1"/>
          </p:cNvPicPr>
          <p:nvPr/>
        </p:nvPicPr>
        <p:blipFill>
          <a:blip r:embed="rId4"/>
          <a:stretch>
            <a:fillRect/>
          </a:stretch>
        </p:blipFill>
        <p:spPr>
          <a:xfrm>
            <a:off x="8243316" y="2139696"/>
            <a:ext cx="475488" cy="475488"/>
          </a:xfrm>
          <a:prstGeom prst="rect">
            <a:avLst/>
          </a:prstGeom>
        </p:spPr>
      </p:pic>
      <p:sp>
        <p:nvSpPr>
          <p:cNvPr id="21" name="Text 15"/>
          <p:cNvSpPr txBox="1"/>
          <p:nvPr/>
        </p:nvSpPr>
        <p:spPr>
          <a:xfrm>
            <a:off x="7383780" y="301752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Anyone calls</a:t>
            </a:r>
            <a:endParaRPr lang="en-US" sz="1800" dirty="0"/>
          </a:p>
        </p:txBody>
      </p:sp>
      <p:sp>
        <p:nvSpPr>
          <p:cNvPr id="22" name="Text 16"/>
          <p:cNvSpPr txBox="1"/>
          <p:nvPr/>
        </p:nvSpPr>
        <p:spPr>
          <a:xfrm>
            <a:off x="7383780" y="3474720"/>
            <a:ext cx="2194560" cy="32004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releaseFunds()</a:t>
            </a:r>
            <a:endParaRPr lang="en-US" sz="1300" dirty="0"/>
          </a:p>
        </p:txBody>
      </p:sp>
      <p:sp>
        <p:nvSpPr>
          <p:cNvPr id="23" name="Text 17"/>
          <p:cNvSpPr txBox="1"/>
          <p:nvPr/>
        </p:nvSpPr>
        <p:spPr>
          <a:xfrm>
            <a:off x="7383780" y="3840480"/>
            <a:ext cx="2194560" cy="640080"/>
          </a:xfrm>
          <a:prstGeom prst="rect">
            <a:avLst/>
          </a:prstGeom>
          <a:noFill/>
          <a:ln/>
        </p:spPr>
        <p:txBody>
          <a:bodyPr wrap="square" lIns="0" tIns="0" rIns="0" bIns="0" rtlCol="0" anchor="t"/>
          <a:lstStyle/>
          <a:p>
            <a:pPr algn="ctr" indent="0" marL="0">
              <a:buNone/>
            </a:pPr>
            <a:r>
              <a:rPr lang="en-US" sz="1300" dirty="0">
                <a:solidFill>
                  <a:schemeClr val="tx1"/>
                </a:solidFill>
              </a:rPr>
              <a:t>Chainlink or beneficiary</a:t>
            </a:r>
            <a:endParaRPr lang="en-US" sz="1300" dirty="0"/>
          </a:p>
        </p:txBody>
      </p:sp>
      <p:sp>
        <p:nvSpPr>
          <p:cNvPr id="24" name="icon circle"/>
          <p:cNvSpPr/>
          <p:nvPr/>
        </p:nvSpPr>
        <p:spPr>
          <a:xfrm>
            <a:off x="10424160" y="1920240"/>
            <a:ext cx="914400" cy="914400"/>
          </a:xfrm>
          <a:prstGeom prst="ellipse">
            <a:avLst/>
          </a:prstGeom>
          <a:solidFill>
            <a:schemeClr val="accent4"/>
          </a:solidFill>
          <a:ln/>
        </p:spPr>
      </p:sp>
      <p:pic>
        <p:nvPicPr>
          <p:cNvPr id="25" name="icon glyph" descr="preencoded.png">    </p:cNvPr>
          <p:cNvPicPr>
            <a:picLocks noChangeAspect="1"/>
          </p:cNvPicPr>
          <p:nvPr/>
        </p:nvPicPr>
        <p:blipFill>
          <a:blip r:embed="rId5"/>
          <a:stretch>
            <a:fillRect/>
          </a:stretch>
        </p:blipFill>
        <p:spPr>
          <a:xfrm>
            <a:off x="10643616" y="2139696"/>
            <a:ext cx="475488" cy="475488"/>
          </a:xfrm>
          <a:prstGeom prst="rect">
            <a:avLst/>
          </a:prstGeom>
        </p:spPr>
      </p:pic>
      <p:sp>
        <p:nvSpPr>
          <p:cNvPr id="26" name="Text 19"/>
          <p:cNvSpPr txBox="1"/>
          <p:nvPr/>
        </p:nvSpPr>
        <p:spPr>
          <a:xfrm>
            <a:off x="9784080" y="301752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Released</a:t>
            </a:r>
            <a:endParaRPr lang="en-US" sz="1800" dirty="0"/>
          </a:p>
        </p:txBody>
      </p:sp>
      <p:sp>
        <p:nvSpPr>
          <p:cNvPr id="27" name="Text 20"/>
          <p:cNvSpPr txBox="1"/>
          <p:nvPr/>
        </p:nvSpPr>
        <p:spPr>
          <a:xfrm>
            <a:off x="9784080" y="3474720"/>
            <a:ext cx="2194560" cy="32004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decryptSecret()</a:t>
            </a:r>
            <a:endParaRPr lang="en-US" sz="1300" dirty="0"/>
          </a:p>
        </p:txBody>
      </p:sp>
      <p:sp>
        <p:nvSpPr>
          <p:cNvPr id="28" name="Text 21"/>
          <p:cNvSpPr txBox="1"/>
          <p:nvPr/>
        </p:nvSpPr>
        <p:spPr>
          <a:xfrm>
            <a:off x="9784080" y="3840480"/>
            <a:ext cx="2194560" cy="640080"/>
          </a:xfrm>
          <a:prstGeom prst="rect">
            <a:avLst/>
          </a:prstGeom>
          <a:noFill/>
          <a:ln/>
        </p:spPr>
        <p:txBody>
          <a:bodyPr wrap="square" lIns="0" tIns="0" rIns="0" bIns="0" rtlCol="0" anchor="t"/>
          <a:lstStyle/>
          <a:p>
            <a:pPr algn="ctr" indent="0" marL="0">
              <a:buNone/>
            </a:pPr>
            <a:r>
              <a:rPr lang="en-US" sz="1300" dirty="0">
                <a:solidFill>
                  <a:schemeClr val="tx1"/>
                </a:solidFill>
              </a:rPr>
              <a:t>ETH paid, secret decrypted</a:t>
            </a:r>
            <a:endParaRPr lang="en-US" sz="1300" dirty="0"/>
          </a:p>
        </p:txBody>
      </p:sp>
      <p:sp>
        <p:nvSpPr>
          <p:cNvPr id="29" name="timing note"/>
          <p:cNvSpPr/>
          <p:nvPr/>
        </p:nvSpPr>
        <p:spPr>
          <a:xfrm>
            <a:off x="548640" y="4846320"/>
            <a:ext cx="11064240" cy="1188720"/>
          </a:xfrm>
          <a:prstGeom prst="roundRect">
            <a:avLst>
              <a:gd name="adj" fmla="val 6154"/>
            </a:avLst>
          </a:prstGeom>
          <a:solidFill>
            <a:schemeClr val="bg2"/>
          </a:solidFill>
          <a:ln/>
        </p:spPr>
      </p:sp>
      <p:sp>
        <p:nvSpPr>
          <p:cNvPr id="30" name="Text 23"/>
          <p:cNvSpPr txBox="1"/>
          <p:nvPr/>
        </p:nvSpPr>
        <p:spPr>
          <a:xfrm>
            <a:off x="822960" y="4937760"/>
            <a:ext cx="10515600" cy="1005840"/>
          </a:xfrm>
          <a:prstGeom prst="rect">
            <a:avLst/>
          </a:prstGeom>
          <a:noFill/>
          <a:ln/>
        </p:spPr>
        <p:txBody>
          <a:bodyPr wrap="square" lIns="0" tIns="0" rIns="0" bIns="0" rtlCol="0" anchor="ctr"/>
          <a:lstStyle/>
          <a:p>
            <a:pPr indent="0" marL="0">
              <a:buNone/>
            </a:pPr>
            <a:r>
              <a:rPr lang="en-US" sz="1600" dirty="0">
                <a:solidFill>
                  <a:schemeClr val="tx2"/>
                </a:solidFill>
              </a:rPr>
              <a:t>All timing lives on-chain via block.timestamp, never in a browser timer. The UI countdown is only a view of the contract's deadline.</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lstStyle/>
          <a:p>
            <a:pPr indent="0" marL="0">
              <a:buNone/>
            </a:pPr>
            <a:r>
              <a:rPr lang="en-US" sz="9600" dirty="0">
                <a:solidFill>
                  <a:schemeClr val="accent2"/>
                </a:solidFill>
                <a:latin typeface="Cambria" pitchFamily="34" charset="0"/>
                <a:ea typeface="Cambria" pitchFamily="34" charset="-122"/>
                <a:cs typeface="Cambria" pitchFamily="34" charset="-120"/>
              </a:rPr>
              <a:t>05</a:t>
            </a:r>
            <a:endParaRPr lang="en-US" sz="9600" dirty="0"/>
          </a:p>
        </p:txBody>
      </p:sp>
      <p:sp>
        <p:nvSpPr>
          <p:cNvPr id="3" name="Text 0"/>
          <p:cNvSpPr/>
          <p:nvPr>
            <p:ph idx="101" type="title" hasCustomPrompt="1"/>
          </p:nvPr>
        </p:nvSpPr>
        <p:spPr>
          <a:xfrm>
            <a:off x="731520" y="30175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Review &amp; roadmap</a:t>
            </a: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1800" dirty="0">
                <a:solidFill>
                  <a:schemeClr val="accent2"/>
                </a:solidFill>
              </a:rPr>
              <a:t>What the design gets right, where the current code falls short, and how to take it further.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Security review: strengths and known gaps</a:t>
            </a:r>
            <a:endParaRPr lang="en-US" sz="3200" dirty="0"/>
          </a:p>
        </p:txBody>
      </p:sp>
      <p:sp>
        <p:nvSpPr>
          <p:cNvPr id="3" name="strengths"/>
          <p:cNvSpPr/>
          <p:nvPr/>
        </p:nvSpPr>
        <p:spPr>
          <a:xfrm>
            <a:off x="548640" y="1325880"/>
            <a:ext cx="4572000" cy="4754880"/>
          </a:xfrm>
          <a:prstGeom prst="roundRect">
            <a:avLst>
              <a:gd name="adj" fmla="val 1600"/>
            </a:avLst>
          </a:prstGeom>
          <a:solidFill>
            <a:schemeClr val="bg2"/>
          </a:solidFill>
          <a:ln/>
        </p:spPr>
      </p:sp>
      <p:sp>
        <p:nvSpPr>
          <p:cNvPr id="4" name="icon circle"/>
          <p:cNvSpPr/>
          <p:nvPr/>
        </p:nvSpPr>
        <p:spPr>
          <a:xfrm>
            <a:off x="822960" y="1554480"/>
            <a:ext cx="548640" cy="548640"/>
          </a:xfrm>
          <a:prstGeom prst="ellipse">
            <a:avLst/>
          </a:prstGeom>
          <a:solidFill>
            <a:schemeClr val="accent1"/>
          </a:solidFill>
          <a:ln/>
        </p:spPr>
      </p:sp>
      <p:pic>
        <p:nvPicPr>
          <p:cNvPr id="5" name="icon glyph" descr="preencoded.png">    </p:cNvPr>
          <p:cNvPicPr>
            <a:picLocks noChangeAspect="1"/>
          </p:cNvPicPr>
          <p:nvPr/>
        </p:nvPicPr>
        <p:blipFill>
          <a:blip r:embed="rId1"/>
          <a:stretch>
            <a:fillRect/>
          </a:stretch>
        </p:blipFill>
        <p:spPr>
          <a:xfrm>
            <a:off x="954634" y="1686154"/>
            <a:ext cx="285293" cy="285293"/>
          </a:xfrm>
          <a:prstGeom prst="rect">
            <a:avLst/>
          </a:prstGeom>
        </p:spPr>
      </p:pic>
      <p:sp>
        <p:nvSpPr>
          <p:cNvPr id="6" name="Text 3"/>
          <p:cNvSpPr txBox="1"/>
          <p:nvPr/>
        </p:nvSpPr>
        <p:spPr>
          <a:xfrm>
            <a:off x="1508760" y="1600200"/>
            <a:ext cx="3200400" cy="457200"/>
          </a:xfrm>
          <a:prstGeom prst="rect">
            <a:avLst/>
          </a:prstGeom>
          <a:noFill/>
          <a:ln/>
        </p:spPr>
        <p:txBody>
          <a:bodyPr wrap="square" lIns="0" tIns="0" rIns="0" bIns="0" rtlCol="0" anchor="ctr"/>
          <a:lstStyle/>
          <a:p>
            <a:pPr indent="0" marL="0">
              <a:buNone/>
            </a:pPr>
            <a:r>
              <a:rPr lang="en-US" sz="2000" b="1" dirty="0">
                <a:solidFill>
                  <a:schemeClr val="accent1"/>
                </a:solidFill>
              </a:rPr>
              <a:t>Strengths</a:t>
            </a:r>
            <a:endParaRPr lang="en-US" sz="2000" dirty="0"/>
          </a:p>
        </p:txBody>
      </p:sp>
      <p:sp>
        <p:nvSpPr>
          <p:cNvPr id="7" name="Text 4"/>
          <p:cNvSpPr txBox="1"/>
          <p:nvPr/>
        </p:nvSpPr>
        <p:spPr>
          <a:xfrm>
            <a:off x="822960" y="2240280"/>
            <a:ext cx="4069080" cy="3749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Plaintext and passphrase never leave the browser</a:t>
            </a:r>
            <a:endParaRPr lang="en-US" sz="1400" dirty="0"/>
          </a:p>
          <a:p>
            <a:pPr marL="177800" indent="-177800">
              <a:spcAft>
                <a:spcPts val="800"/>
              </a:spcAft>
              <a:buSzPct val="100000"/>
              <a:buChar char="•"/>
            </a:pPr>
            <a:r>
              <a:rPr lang="en-US" sz="1400" dirty="0">
                <a:solidFill>
                  <a:schemeClr val="tx1"/>
                </a:solidFill>
              </a:rPr>
              <a:t>Authenticated encryption (AES-GCM) catches tampering</a:t>
            </a:r>
            <a:endParaRPr lang="en-US" sz="1400" dirty="0"/>
          </a:p>
          <a:p>
            <a:pPr marL="177800" indent="-177800">
              <a:spcAft>
                <a:spcPts val="800"/>
              </a:spcAft>
              <a:buSzPct val="100000"/>
              <a:buChar char="•"/>
            </a:pPr>
            <a:r>
              <a:rPr lang="en-US" sz="1400" dirty="0">
                <a:solidFill>
                  <a:schemeClr val="tx1"/>
                </a:solidFill>
              </a:rPr>
              <a:t>No admin keys; rules are public and immutable</a:t>
            </a:r>
            <a:endParaRPr lang="en-US" sz="1400" dirty="0"/>
          </a:p>
          <a:p>
            <a:pPr marL="177800" indent="-177800">
              <a:spcAft>
                <a:spcPts val="800"/>
              </a:spcAft>
              <a:buSzPct val="100000"/>
              <a:buChar char="•"/>
            </a:pPr>
            <a:r>
              <a:rPr lang="en-US" sz="1400" dirty="0">
                <a:solidFill>
                  <a:schemeClr val="tx1"/>
                </a:solidFill>
              </a:rPr>
              <a:t>Release is permissionless and deadline-checked</a:t>
            </a:r>
            <a:endParaRPr lang="en-US" sz="1400" dirty="0"/>
          </a:p>
          <a:p>
            <a:pPr marL="177800" indent="-177800">
              <a:spcAft>
                <a:spcPts val="800"/>
              </a:spcAft>
              <a:buSzPct val="100000"/>
              <a:buChar char="•"/>
            </a:pPr>
            <a:r>
              <a:rPr lang="en-US" sz="1400" dirty="0">
                <a:solidFill>
                  <a:schemeClr val="tx1"/>
                </a:solidFill>
              </a:rPr>
              <a:t>Checks-effects-interactions on every ETH transfer</a:t>
            </a:r>
            <a:endParaRPr lang="en-US" sz="1400" dirty="0"/>
          </a:p>
          <a:p>
            <a:pPr marL="177800" indent="-177800">
              <a:spcAft>
                <a:spcPts val="800"/>
              </a:spcAft>
              <a:buSzPct val="100000"/>
              <a:buChar char="•"/>
            </a:pPr>
            <a:r>
              <a:rPr lang="en-US" sz="1400" dirty="0">
                <a:solidFill>
                  <a:schemeClr val="tx1"/>
                </a:solidFill>
              </a:rPr>
              <a:t>Chain is the source of truth; Supabase is only an index</a:t>
            </a:r>
            <a:endParaRPr lang="en-US" sz="1400" dirty="0"/>
          </a:p>
        </p:txBody>
      </p:sp>
      <p:sp>
        <p:nvSpPr>
          <p:cNvPr id="8" name="gaps"/>
          <p:cNvSpPr/>
          <p:nvPr/>
        </p:nvSpPr>
        <p:spPr>
          <a:xfrm>
            <a:off x="5394960" y="1325880"/>
            <a:ext cx="6217920" cy="4754880"/>
          </a:xfrm>
          <a:prstGeom prst="roundRect">
            <a:avLst>
              <a:gd name="adj" fmla="val 1538"/>
            </a:avLst>
          </a:prstGeom>
          <a:solidFill>
            <a:schemeClr val="bg1"/>
          </a:solidFill>
          <a:ln w="12700">
            <a:solidFill>
              <a:schemeClr val="accent4"/>
            </a:solidFill>
            <a:prstDash val="solid"/>
          </a:ln>
        </p:spPr>
      </p:sp>
      <p:sp>
        <p:nvSpPr>
          <p:cNvPr id="9" name="icon circle"/>
          <p:cNvSpPr/>
          <p:nvPr/>
        </p:nvSpPr>
        <p:spPr>
          <a:xfrm>
            <a:off x="5669280" y="1554480"/>
            <a:ext cx="548640" cy="548640"/>
          </a:xfrm>
          <a:prstGeom prst="ellipse">
            <a:avLst/>
          </a:prstGeom>
          <a:solidFill>
            <a:schemeClr val="accent4"/>
          </a:solidFill>
          <a:ln/>
        </p:spPr>
      </p:sp>
      <p:pic>
        <p:nvPicPr>
          <p:cNvPr id="10" name="icon glyph" descr="preencoded.png">    </p:cNvPr>
          <p:cNvPicPr>
            <a:picLocks noChangeAspect="1"/>
          </p:cNvPicPr>
          <p:nvPr/>
        </p:nvPicPr>
        <p:blipFill>
          <a:blip r:embed="rId2"/>
          <a:stretch>
            <a:fillRect/>
          </a:stretch>
        </p:blipFill>
        <p:spPr>
          <a:xfrm>
            <a:off x="5800954" y="1686154"/>
            <a:ext cx="285293" cy="285293"/>
          </a:xfrm>
          <a:prstGeom prst="rect">
            <a:avLst/>
          </a:prstGeom>
        </p:spPr>
      </p:pic>
      <p:sp>
        <p:nvSpPr>
          <p:cNvPr id="11" name="Text 7"/>
          <p:cNvSpPr txBox="1"/>
          <p:nvPr/>
        </p:nvSpPr>
        <p:spPr>
          <a:xfrm>
            <a:off x="6355080" y="1600200"/>
            <a:ext cx="5029200" cy="457200"/>
          </a:xfrm>
          <a:prstGeom prst="rect">
            <a:avLst/>
          </a:prstGeom>
          <a:noFill/>
          <a:ln/>
        </p:spPr>
        <p:txBody>
          <a:bodyPr wrap="square" lIns="0" tIns="0" rIns="0" bIns="0" rtlCol="0" anchor="ctr"/>
          <a:lstStyle/>
          <a:p>
            <a:pPr indent="0" marL="0">
              <a:buNone/>
            </a:pPr>
            <a:r>
              <a:rPr lang="en-US" sz="2000" b="1" dirty="0">
                <a:solidFill>
                  <a:schemeClr val="accent4"/>
                </a:solidFill>
              </a:rPr>
              <a:t>Known gaps in the current code</a:t>
            </a:r>
            <a:endParaRPr lang="en-US" sz="2000" dirty="0"/>
          </a:p>
        </p:txBody>
      </p:sp>
      <p:sp>
        <p:nvSpPr>
          <p:cNvPr id="12" name="Text 8"/>
          <p:cNvSpPr txBox="1"/>
          <p:nvPr/>
        </p:nvSpPr>
        <p:spPr>
          <a:xfrm>
            <a:off x="5669280" y="2240280"/>
            <a:ext cx="5715000" cy="374904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chemeClr val="tx1"/>
                </a:solidFill>
              </a:rPr>
              <a:t>Pinata JWT in the client bundle: </a:t>
            </a:r>
            <a:pPr indent="0" marL="0">
              <a:buNone/>
            </a:pPr>
            <a:r>
              <a:rPr lang="en-US" sz="1300" dirty="0">
                <a:solidFill>
                  <a:schemeClr val="tx1"/>
                </a:solidFill>
              </a:rPr>
              <a:t>VITE_PINATA_JWT is readable by anyone, although the UI says pinning runs on a backend.</a:t>
            </a:r>
            <a:endParaRPr lang="en-US" sz="1300" dirty="0"/>
          </a:p>
          <a:p>
            <a:pPr marL="177800" indent="-177800">
              <a:spcAft>
                <a:spcPts val="700"/>
              </a:spcAft>
              <a:buSzPct val="100000"/>
              <a:buChar char="•"/>
            </a:pPr>
            <a:r>
              <a:rPr lang="en-US" sz="1300" b="1" dirty="0">
                <a:solidFill>
                  <a:schemeClr val="tx1"/>
                </a:solidFill>
              </a:rPr>
              <a:t>Weak passphrases: </a:t>
            </a:r>
            <a:pPr indent="0" marL="0">
              <a:buNone/>
            </a:pPr>
            <a:r>
              <a:rPr lang="en-US" sz="1300" dirty="0">
                <a:solidFill>
                  <a:schemeClr val="tx1"/>
                </a:solidFill>
              </a:rPr>
              <a:t>minimum is 6 chars and the ciphertext is public, so offline guessing is possible.</a:t>
            </a:r>
            <a:endParaRPr lang="en-US" sz="1300" dirty="0"/>
          </a:p>
          <a:p>
            <a:pPr marL="177800" indent="-177800">
              <a:spcAft>
                <a:spcPts val="700"/>
              </a:spcAft>
              <a:buSzPct val="100000"/>
              <a:buChar char="•"/>
            </a:pPr>
            <a:r>
              <a:rPr lang="en-US" sz="1300" b="1" dirty="0">
                <a:solidFill>
                  <a:schemeClr val="tx1"/>
                </a:solidFill>
              </a:rPr>
              <a:t>checkUpkeep is O(n): </a:t>
            </a:r>
            <a:pPr indent="0" marL="0">
              <a:buNone/>
            </a:pPr>
            <a:r>
              <a:rPr lang="en-US" sz="1300" dirty="0">
                <a:solidFill>
                  <a:schemeClr val="tx1"/>
                </a:solidFill>
              </a:rPr>
              <a:t>it scans every owner; cost grows with users.</a:t>
            </a:r>
            <a:endParaRPr lang="en-US" sz="1300" dirty="0"/>
          </a:p>
          <a:p>
            <a:pPr marL="177800" indent="-177800">
              <a:spcAft>
                <a:spcPts val="700"/>
              </a:spcAft>
              <a:buSzPct val="100000"/>
              <a:buChar char="•"/>
            </a:pPr>
            <a:r>
              <a:rPr lang="en-US" sz="1300" b="1" dirty="0">
                <a:solidFill>
                  <a:schemeClr val="tx1"/>
                </a:solidFill>
              </a:rPr>
              <a:t>One vault per address, </a:t>
            </a:r>
            <a:pPr indent="0" marL="0">
              <a:buNone/>
            </a:pPr>
            <a:r>
              <a:rPr lang="en-US" sz="1300" dirty="0">
                <a:solidFill>
                  <a:schemeClr val="tx1"/>
                </a:solidFill>
              </a:rPr>
              <a:t>one beneficiary per vault.</a:t>
            </a:r>
            <a:endParaRPr lang="en-US" sz="1300" dirty="0"/>
          </a:p>
          <a:p>
            <a:pPr marL="177800" indent="-177800">
              <a:spcAft>
                <a:spcPts val="700"/>
              </a:spcAft>
              <a:buSzPct val="100000"/>
              <a:buChar char="•"/>
            </a:pPr>
            <a:r>
              <a:rPr lang="en-US" sz="1300" b="1" dirty="0">
                <a:solidFill>
                  <a:schemeClr val="tx1"/>
                </a:solidFill>
              </a:rPr>
              <a:t>Copy drift: </a:t>
            </a:r>
            <a:pPr indent="0" marL="0">
              <a:buNone/>
            </a:pPr>
            <a:r>
              <a:rPr lang="en-US" sz="1300" dirty="0">
                <a:solidFill>
                  <a:schemeClr val="tx1"/>
                </a:solidFill>
              </a:rPr>
              <a:t>landing mentions Base Sepolia / Arweave; the code uses Sepolia + Pinata.</a:t>
            </a:r>
            <a:endParaRPr lang="en-US" sz="1300" dirty="0"/>
          </a:p>
          <a:p>
            <a:pPr marL="177800" indent="-177800">
              <a:spcAft>
                <a:spcPts val="700"/>
              </a:spcAft>
              <a:buSzPct val="100000"/>
              <a:buChar char="•"/>
            </a:pPr>
            <a:r>
              <a:rPr lang="en-US" sz="1300" b="1" dirty="0">
                <a:solidFill>
                  <a:schemeClr val="tx1"/>
                </a:solidFill>
              </a:rPr>
              <a:t>No contract tests </a:t>
            </a:r>
            <a:pPr indent="0" marL="0">
              <a:buNone/>
            </a:pPr>
            <a:r>
              <a:rPr lang="en-US" sz="1300" dirty="0">
                <a:solidFill>
                  <a:schemeClr val="tx1"/>
                </a:solidFill>
              </a:rPr>
              <a:t>are in the repository yet.</a:t>
            </a:r>
            <a:endParaRPr lang="en-US" sz="13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Deployment and configuration</a:t>
            </a:r>
            <a:endParaRPr lang="en-US" sz="3200" dirty="0"/>
          </a:p>
        </p:txBody>
      </p:sp>
      <p:graphicFrame>
        <p:nvGraphicFramePr>
          <p:cNvPr id="31" name="env table"/>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743200"/>
                <a:gridCol w="2377440"/>
                <a:gridCol w="1828800"/>
              </a:tblGrid>
              <a:tr h="438912">
                <a:tc>
                  <a:txBody>
                    <a:bodyPr/>
                    <a:lstStyle/>
                    <a:p>
                      <a:pPr indent="0" marL="0">
                        <a:buNone/>
                      </a:pPr>
                      <a:r>
                        <a:rPr lang="en-US" sz="1200" b="1" dirty="0">
                          <a:solidFill>
                            <a:schemeClr val="bg1"/>
                          </a:solidFill>
                        </a:rPr>
                        <a:t>Variable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Used by</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tx2"/>
                    </a:solidFill>
                  </a:tcPr>
                </a:tc>
              </a:tr>
              <a:tr h="438912">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VITE_SUPABASE_URL</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integrations/supabase/client.ts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Supabase project URL</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38912">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VITE_SUPABASE_PUBLISHABLE_KEY</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integrations/supabase/client.ts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Public anon key</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VITE_PINATA_JWT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lib/pinata.functions.ts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Pinning auth (move server-side)</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r h="438912">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VITE_VAULT_CONTRACT_ADDRESS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lib/contract.ts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Default deployment</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VITE_VAULT_CHAIN_ID</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lib/contract.ts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Default chain, 11155111</a:t>
                      </a:r>
                      <a:endParaRPr lang="en-US" sz="1200" dirty="0"/>
                    </a:p>
                  </a:txBody>
                  <a:tcPr marL="91440" marR="91440" marT="45720" marB="45720" anchor="ctr">
                    <a:lnL w="6350" cap="flat" cmpd="sng" algn="ctr">
                      <a:solidFill>
                        <a:srgbClr val="D9D5CA"/>
                      </a:solidFill>
                      <a:prstDash val="solid"/>
                      <a:round/>
                      <a:headEnd type="none" w="med" len="med"/>
                      <a:tailEnd type="none" w="med" len="med"/>
                    </a:lnL>
                    <a:lnR w="6350" cap="flat" cmpd="sng" algn="ctr">
                      <a:solidFill>
                        <a:srgbClr val="D9D5CA"/>
                      </a:solidFill>
                      <a:prstDash val="solid"/>
                      <a:round/>
                      <a:headEnd type="none" w="med" len="med"/>
                      <a:tailEnd type="none" w="med" len="med"/>
                    </a:lnR>
                    <a:lnT w="6350" cap="flat" cmpd="sng" algn="ctr">
                      <a:solidFill>
                        <a:srgbClr val="D9D5CA"/>
                      </a:solidFill>
                      <a:prstDash val="solid"/>
                      <a:round/>
                      <a:headEnd type="none" w="med" len="med"/>
                      <a:tailEnd type="none" w="med" len="med"/>
                    </a:lnT>
                    <a:lnB w="6350" cap="flat" cmpd="sng" algn="ctr">
                      <a:solidFill>
                        <a:srgbClr val="D9D5CA"/>
                      </a:solidFill>
                      <a:prstDash val="solid"/>
                      <a:round/>
                      <a:headEnd type="none" w="med" len="med"/>
                      <a:tailEnd type="none" w="med" len="med"/>
                    </a:lnB>
                    <a:solidFill>
                      <a:schemeClr val="bg2"/>
                    </a:solidFill>
                  </a:tcPr>
                </a:tc>
              </a:tr>
            </a:tbl>
          </a:graphicData>
        </a:graphic>
      </p:graphicFrame>
      <p:sp>
        <p:nvSpPr>
          <p:cNvPr id="4" name="icon circle"/>
          <p:cNvSpPr/>
          <p:nvPr/>
        </p:nvSpPr>
        <p:spPr>
          <a:xfrm>
            <a:off x="7863840" y="1371600"/>
            <a:ext cx="548640" cy="548640"/>
          </a:xfrm>
          <a:prstGeom prst="ellipse">
            <a:avLst/>
          </a:prstGeom>
          <a:solidFill>
            <a:schemeClr val="tx2"/>
          </a:solidFill>
          <a:ln/>
        </p:spPr>
      </p:sp>
      <p:pic>
        <p:nvPicPr>
          <p:cNvPr id="5" name="icon glyph" descr="preencoded.png">    </p:cNvPr>
          <p:cNvPicPr>
            <a:picLocks noChangeAspect="1"/>
          </p:cNvPicPr>
          <p:nvPr/>
        </p:nvPicPr>
        <p:blipFill>
          <a:blip r:embed="rId1"/>
          <a:stretch>
            <a:fillRect/>
          </a:stretch>
        </p:blipFill>
        <p:spPr>
          <a:xfrm>
            <a:off x="7995514" y="1503274"/>
            <a:ext cx="285293" cy="285293"/>
          </a:xfrm>
          <a:prstGeom prst="rect">
            <a:avLst/>
          </a:prstGeom>
        </p:spPr>
      </p:pic>
      <p:sp>
        <p:nvSpPr>
          <p:cNvPr id="6" name="Text 2"/>
          <p:cNvSpPr txBox="1"/>
          <p:nvPr/>
        </p:nvSpPr>
        <p:spPr>
          <a:xfrm>
            <a:off x="8549640" y="1371600"/>
            <a:ext cx="3063240" cy="347472"/>
          </a:xfrm>
          <a:prstGeom prst="rect">
            <a:avLst/>
          </a:prstGeom>
          <a:noFill/>
          <a:ln/>
        </p:spPr>
        <p:txBody>
          <a:bodyPr wrap="square" lIns="0" tIns="0" rIns="0" bIns="0" rtlCol="0" anchor="t"/>
          <a:lstStyle/>
          <a:p>
            <a:pPr indent="0" marL="0">
              <a:buNone/>
            </a:pPr>
            <a:r>
              <a:rPr lang="en-US" sz="1600" b="1" dirty="0">
                <a:solidFill>
                  <a:schemeClr val="tx2"/>
                </a:solidFill>
              </a:rPr>
              <a:t>Deploy contract</a:t>
            </a:r>
            <a:endParaRPr lang="en-US" sz="1600" dirty="0"/>
          </a:p>
        </p:txBody>
      </p:sp>
      <p:sp>
        <p:nvSpPr>
          <p:cNvPr id="7" name="Text 3"/>
          <p:cNvSpPr txBox="1"/>
          <p:nvPr/>
        </p:nvSpPr>
        <p:spPr>
          <a:xfrm>
            <a:off x="8549640" y="1737360"/>
            <a:ext cx="3063240" cy="731520"/>
          </a:xfrm>
          <a:prstGeom prst="rect">
            <a:avLst/>
          </a:prstGeom>
          <a:noFill/>
          <a:ln/>
        </p:spPr>
        <p:txBody>
          <a:bodyPr wrap="square" lIns="0" tIns="0" rIns="0" bIns="0" rtlCol="0" anchor="t"/>
          <a:lstStyle/>
          <a:p>
            <a:pPr indent="0" marL="0">
              <a:buNone/>
            </a:pPr>
            <a:r>
              <a:rPr lang="en-US" sz="1300" dirty="0">
                <a:solidFill>
                  <a:schemeClr val="tx1"/>
                </a:solidFill>
              </a:rPr>
              <a:t>scripts/deploy_with_ethers.ts uses a MetaMask signer and ContractFactory.</a:t>
            </a:r>
            <a:endParaRPr lang="en-US" sz="1300" dirty="0"/>
          </a:p>
        </p:txBody>
      </p:sp>
      <p:sp>
        <p:nvSpPr>
          <p:cNvPr id="8" name="icon circle"/>
          <p:cNvSpPr/>
          <p:nvPr/>
        </p:nvSpPr>
        <p:spPr>
          <a:xfrm>
            <a:off x="7863840" y="2514600"/>
            <a:ext cx="548640" cy="548640"/>
          </a:xfrm>
          <a:prstGeom prst="ellipse">
            <a:avLst/>
          </a:prstGeom>
          <a:solidFill>
            <a:schemeClr val="tx2"/>
          </a:solidFill>
          <a:ln/>
        </p:spPr>
      </p:sp>
      <p:pic>
        <p:nvPicPr>
          <p:cNvPr id="9" name="icon glyph" descr="preencoded.png">    </p:cNvPr>
          <p:cNvPicPr>
            <a:picLocks noChangeAspect="1"/>
          </p:cNvPicPr>
          <p:nvPr/>
        </p:nvPicPr>
        <p:blipFill>
          <a:blip r:embed="rId2"/>
          <a:stretch>
            <a:fillRect/>
          </a:stretch>
        </p:blipFill>
        <p:spPr>
          <a:xfrm>
            <a:off x="7995514" y="2646274"/>
            <a:ext cx="285293" cy="285293"/>
          </a:xfrm>
          <a:prstGeom prst="rect">
            <a:avLst/>
          </a:prstGeom>
        </p:spPr>
      </p:pic>
      <p:sp>
        <p:nvSpPr>
          <p:cNvPr id="10" name="Text 5"/>
          <p:cNvSpPr txBox="1"/>
          <p:nvPr/>
        </p:nvSpPr>
        <p:spPr>
          <a:xfrm>
            <a:off x="8549640" y="2514600"/>
            <a:ext cx="3063240" cy="347472"/>
          </a:xfrm>
          <a:prstGeom prst="rect">
            <a:avLst/>
          </a:prstGeom>
          <a:noFill/>
          <a:ln/>
        </p:spPr>
        <p:txBody>
          <a:bodyPr wrap="square" lIns="0" tIns="0" rIns="0" bIns="0" rtlCol="0" anchor="t"/>
          <a:lstStyle/>
          <a:p>
            <a:pPr indent="0" marL="0">
              <a:buNone/>
            </a:pPr>
            <a:r>
              <a:rPr lang="en-US" sz="1600" b="1" dirty="0">
                <a:solidFill>
                  <a:schemeClr val="tx2"/>
                </a:solidFill>
              </a:rPr>
              <a:t>Register upkeep</a:t>
            </a:r>
            <a:endParaRPr lang="en-US" sz="1600" dirty="0"/>
          </a:p>
        </p:txBody>
      </p:sp>
      <p:sp>
        <p:nvSpPr>
          <p:cNvPr id="11" name="Text 6"/>
          <p:cNvSpPr txBox="1"/>
          <p:nvPr/>
        </p:nvSpPr>
        <p:spPr>
          <a:xfrm>
            <a:off x="8549640" y="2880360"/>
            <a:ext cx="3063240" cy="731520"/>
          </a:xfrm>
          <a:prstGeom prst="rect">
            <a:avLst/>
          </a:prstGeom>
          <a:noFill/>
          <a:ln/>
        </p:spPr>
        <p:txBody>
          <a:bodyPr wrap="square" lIns="0" tIns="0" rIns="0" bIns="0" rtlCol="0" anchor="t"/>
          <a:lstStyle/>
          <a:p>
            <a:pPr indent="0" marL="0">
              <a:buNone/>
            </a:pPr>
            <a:r>
              <a:rPr lang="en-US" sz="1300" dirty="0">
                <a:solidFill>
                  <a:schemeClr val="tx1"/>
                </a:solidFill>
              </a:rPr>
              <a:t>Create a custom-logic upkeep on Chainlink Automation for the address.</a:t>
            </a:r>
            <a:endParaRPr lang="en-US" sz="1300" dirty="0"/>
          </a:p>
        </p:txBody>
      </p:sp>
      <p:sp>
        <p:nvSpPr>
          <p:cNvPr id="12" name="icon circle"/>
          <p:cNvSpPr/>
          <p:nvPr/>
        </p:nvSpPr>
        <p:spPr>
          <a:xfrm>
            <a:off x="7863840" y="3657600"/>
            <a:ext cx="548640" cy="548640"/>
          </a:xfrm>
          <a:prstGeom prst="ellipse">
            <a:avLst/>
          </a:prstGeom>
          <a:solidFill>
            <a:schemeClr val="tx2"/>
          </a:solidFill>
          <a:ln/>
        </p:spPr>
      </p:sp>
      <p:pic>
        <p:nvPicPr>
          <p:cNvPr id="13" name="icon glyph" descr="preencoded.png">    </p:cNvPr>
          <p:cNvPicPr>
            <a:picLocks noChangeAspect="1"/>
          </p:cNvPicPr>
          <p:nvPr/>
        </p:nvPicPr>
        <p:blipFill>
          <a:blip r:embed="rId3"/>
          <a:stretch>
            <a:fillRect/>
          </a:stretch>
        </p:blipFill>
        <p:spPr>
          <a:xfrm>
            <a:off x="7995514" y="3789274"/>
            <a:ext cx="285293" cy="285293"/>
          </a:xfrm>
          <a:prstGeom prst="rect">
            <a:avLst/>
          </a:prstGeom>
        </p:spPr>
      </p:pic>
      <p:sp>
        <p:nvSpPr>
          <p:cNvPr id="14" name="Text 8"/>
          <p:cNvSpPr txBox="1"/>
          <p:nvPr/>
        </p:nvSpPr>
        <p:spPr>
          <a:xfrm>
            <a:off x="8549640" y="3657600"/>
            <a:ext cx="3063240" cy="347472"/>
          </a:xfrm>
          <a:prstGeom prst="rect">
            <a:avLst/>
          </a:prstGeom>
          <a:noFill/>
          <a:ln/>
        </p:spPr>
        <p:txBody>
          <a:bodyPr wrap="square" lIns="0" tIns="0" rIns="0" bIns="0" rtlCol="0" anchor="t"/>
          <a:lstStyle/>
          <a:p>
            <a:pPr indent="0" marL="0">
              <a:buNone/>
            </a:pPr>
            <a:r>
              <a:rPr lang="en-US" sz="1600" b="1" dirty="0">
                <a:solidFill>
                  <a:schemeClr val="tx2"/>
                </a:solidFill>
              </a:rPr>
              <a:t>Configure app</a:t>
            </a:r>
            <a:endParaRPr lang="en-US" sz="1600" dirty="0"/>
          </a:p>
        </p:txBody>
      </p:sp>
      <p:sp>
        <p:nvSpPr>
          <p:cNvPr id="15" name="Text 9"/>
          <p:cNvSpPr txBox="1"/>
          <p:nvPr/>
        </p:nvSpPr>
        <p:spPr>
          <a:xfrm>
            <a:off x="8549640" y="4023360"/>
            <a:ext cx="3063240" cy="731520"/>
          </a:xfrm>
          <a:prstGeom prst="rect">
            <a:avLst/>
          </a:prstGeom>
          <a:noFill/>
          <a:ln/>
        </p:spPr>
        <p:txBody>
          <a:bodyPr wrap="square" lIns="0" tIns="0" rIns="0" bIns="0" rtlCol="0" anchor="t"/>
          <a:lstStyle/>
          <a:p>
            <a:pPr indent="0" marL="0">
              <a:buNone/>
            </a:pPr>
            <a:r>
              <a:rPr lang="en-US" sz="1300" dirty="0">
                <a:solidFill>
                  <a:schemeClr val="tx1"/>
                </a:solidFill>
              </a:rPr>
              <a:t>Set env vars or paste the address in the UI.</a:t>
            </a:r>
            <a:endParaRPr lang="en-US" sz="1300" dirty="0"/>
          </a:p>
        </p:txBody>
      </p:sp>
      <p:sp>
        <p:nvSpPr>
          <p:cNvPr id="16" name="icon circle"/>
          <p:cNvSpPr/>
          <p:nvPr/>
        </p:nvSpPr>
        <p:spPr>
          <a:xfrm>
            <a:off x="7863840" y="4800600"/>
            <a:ext cx="548640" cy="548640"/>
          </a:xfrm>
          <a:prstGeom prst="ellipse">
            <a:avLst/>
          </a:prstGeom>
          <a:solidFill>
            <a:schemeClr val="tx2"/>
          </a:solidFill>
          <a:ln/>
        </p:spPr>
      </p:sp>
      <p:pic>
        <p:nvPicPr>
          <p:cNvPr id="17" name="icon glyph" descr="preencoded.png">    </p:cNvPr>
          <p:cNvPicPr>
            <a:picLocks noChangeAspect="1"/>
          </p:cNvPicPr>
          <p:nvPr/>
        </p:nvPicPr>
        <p:blipFill>
          <a:blip r:embed="rId4"/>
          <a:stretch>
            <a:fillRect/>
          </a:stretch>
        </p:blipFill>
        <p:spPr>
          <a:xfrm>
            <a:off x="7995514" y="4932274"/>
            <a:ext cx="285293" cy="285293"/>
          </a:xfrm>
          <a:prstGeom prst="rect">
            <a:avLst/>
          </a:prstGeom>
        </p:spPr>
      </p:pic>
      <p:sp>
        <p:nvSpPr>
          <p:cNvPr id="18" name="Text 11"/>
          <p:cNvSpPr txBox="1"/>
          <p:nvPr/>
        </p:nvSpPr>
        <p:spPr>
          <a:xfrm>
            <a:off x="8549640" y="4800600"/>
            <a:ext cx="3063240" cy="347472"/>
          </a:xfrm>
          <a:prstGeom prst="rect">
            <a:avLst/>
          </a:prstGeom>
          <a:noFill/>
          <a:ln/>
        </p:spPr>
        <p:txBody>
          <a:bodyPr wrap="square" lIns="0" tIns="0" rIns="0" bIns="0" rtlCol="0" anchor="t"/>
          <a:lstStyle/>
          <a:p>
            <a:pPr indent="0" marL="0">
              <a:buNone/>
            </a:pPr>
            <a:r>
              <a:rPr lang="en-US" sz="1600" b="1" dirty="0">
                <a:solidFill>
                  <a:schemeClr val="tx2"/>
                </a:solidFill>
              </a:rPr>
              <a:t>Ship frontend</a:t>
            </a:r>
            <a:endParaRPr lang="en-US" sz="1600" dirty="0"/>
          </a:p>
        </p:txBody>
      </p:sp>
      <p:sp>
        <p:nvSpPr>
          <p:cNvPr id="19" name="Text 12"/>
          <p:cNvSpPr txBox="1"/>
          <p:nvPr/>
        </p:nvSpPr>
        <p:spPr>
          <a:xfrm>
            <a:off x="8549640" y="5166360"/>
            <a:ext cx="3063240" cy="731520"/>
          </a:xfrm>
          <a:prstGeom prst="rect">
            <a:avLst/>
          </a:prstGeom>
          <a:noFill/>
          <a:ln/>
        </p:spPr>
        <p:txBody>
          <a:bodyPr wrap="square" lIns="0" tIns="0" rIns="0" bIns="0" rtlCol="0" anchor="t"/>
          <a:lstStyle/>
          <a:p>
            <a:pPr indent="0" marL="0">
              <a:buNone/>
            </a:pPr>
            <a:r>
              <a:rPr lang="en-US" sz="1300" dirty="0">
                <a:solidFill>
                  <a:schemeClr val="tx1"/>
                </a:solidFill>
              </a:rPr>
              <a:t>vite build on Vercel; vercel.json rewrites all paths to index.html.</a:t>
            </a:r>
            <a:endParaRPr lang="en-US" sz="1300" dirty="0"/>
          </a:p>
        </p:txBody>
      </p:sp>
      <p:sp>
        <p:nvSpPr>
          <p:cNvPr id="20" name="chains card"/>
          <p:cNvSpPr/>
          <p:nvPr/>
        </p:nvSpPr>
        <p:spPr>
          <a:xfrm>
            <a:off x="548640" y="4754880"/>
            <a:ext cx="6949440" cy="1325880"/>
          </a:xfrm>
          <a:prstGeom prst="roundRect">
            <a:avLst>
              <a:gd name="adj" fmla="val 5517"/>
            </a:avLst>
          </a:prstGeom>
          <a:solidFill>
            <a:schemeClr val="bg2"/>
          </a:solidFill>
          <a:ln/>
        </p:spPr>
      </p:sp>
      <p:sp>
        <p:nvSpPr>
          <p:cNvPr id="21" name="Text 14"/>
          <p:cNvSpPr txBox="1"/>
          <p:nvPr/>
        </p:nvSpPr>
        <p:spPr>
          <a:xfrm>
            <a:off x="777240" y="4846320"/>
            <a:ext cx="6492240" cy="365760"/>
          </a:xfrm>
          <a:prstGeom prst="rect">
            <a:avLst/>
          </a:prstGeom>
          <a:noFill/>
          <a:ln/>
        </p:spPr>
        <p:txBody>
          <a:bodyPr wrap="square" lIns="0" tIns="0" rIns="0" bIns="0" rtlCol="0" anchor="t"/>
          <a:lstStyle/>
          <a:p>
            <a:pPr indent="0" marL="0">
              <a:buNone/>
            </a:pPr>
            <a:r>
              <a:rPr lang="en-US" sz="1500" b="1" dirty="0">
                <a:solidFill>
                  <a:schemeClr val="tx2"/>
                </a:solidFill>
              </a:rPr>
              <a:t>Supported chains (lib/contract.ts)</a:t>
            </a:r>
            <a:endParaRPr lang="en-US" sz="1500" dirty="0"/>
          </a:p>
        </p:txBody>
      </p:sp>
      <p:sp>
        <p:nvSpPr>
          <p:cNvPr id="22" name="Text 15"/>
          <p:cNvSpPr txBox="1"/>
          <p:nvPr/>
        </p:nvSpPr>
        <p:spPr>
          <a:xfrm>
            <a:off x="777240" y="5257800"/>
            <a:ext cx="6492240" cy="685800"/>
          </a:xfrm>
          <a:prstGeom prst="rect">
            <a:avLst/>
          </a:prstGeom>
          <a:noFill/>
          <a:ln/>
        </p:spPr>
        <p:txBody>
          <a:bodyPr wrap="square" lIns="0" tIns="0" rIns="0" bIns="0" rtlCol="0" anchor="ctr"/>
          <a:lstStyle/>
          <a:p>
            <a:pPr indent="0" marL="0">
              <a:buNone/>
            </a:pPr>
            <a:r>
              <a:rPr lang="en-US" sz="1400" dirty="0">
                <a:solidFill>
                  <a:schemeClr val="tx1"/>
                </a:solidFill>
              </a:rPr>
              <a:t>Sepolia 11155111 (default)  ·  Base Sepolia 84532  ·  Base 8453  ·  Ethereum 1</a:t>
            </a:r>
            <a:endParaRPr lang="en-US" sz="1400" dirty="0"/>
          </a:p>
        </p:txBody>
      </p:sp>
      <p:sp>
        <p:nvSpPr>
          <p:cNvPr id="23" name="Text 16"/>
          <p:cNvSpPr txBox="1"/>
          <p:nvPr/>
        </p:nvSpPr>
        <p:spPr>
          <a:xfrm>
            <a:off x="548640" y="4251960"/>
            <a:ext cx="6949440" cy="365760"/>
          </a:xfrm>
          <a:prstGeom prst="rect">
            <a:avLst/>
          </a:prstGeom>
          <a:noFill/>
          <a:ln/>
        </p:spPr>
        <p:txBody>
          <a:bodyPr wrap="square" lIns="0" tIns="0" rIns="0" bIns="0" rtlCol="0" anchor="t"/>
          <a:lstStyle/>
          <a:p>
            <a:pPr indent="0" marL="0">
              <a:buNone/>
            </a:pPr>
            <a:r>
              <a:rPr lang="en-US" sz="1200" i="1" dirty="0">
                <a:solidFill>
                  <a:schemeClr val="accent4"/>
                </a:solidFill>
              </a:rPr>
              <a:t>Every VITE_ variable is inlined into the public JS bundle at build time.</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Roadmap</a:t>
            </a:r>
            <a:endParaRPr lang="en-US" sz="3200" dirty="0"/>
          </a:p>
        </p:txBody>
      </p:sp>
      <p:sp>
        <p:nvSpPr>
          <p:cNvPr id="3" name="roadmap card"/>
          <p:cNvSpPr/>
          <p:nvPr/>
        </p:nvSpPr>
        <p:spPr>
          <a:xfrm>
            <a:off x="548640" y="1371600"/>
            <a:ext cx="3474720" cy="2148840"/>
          </a:xfrm>
          <a:prstGeom prst="roundRect">
            <a:avLst>
              <a:gd name="adj" fmla="val 3404"/>
            </a:avLst>
          </a:prstGeom>
          <a:solidFill>
            <a:schemeClr val="bg2"/>
          </a:solidFill>
          <a:ln/>
        </p:spPr>
      </p:sp>
      <p:sp>
        <p:nvSpPr>
          <p:cNvPr id="4" name="icon circle"/>
          <p:cNvSpPr/>
          <p:nvPr/>
        </p:nvSpPr>
        <p:spPr>
          <a:xfrm>
            <a:off x="822960" y="1600200"/>
            <a:ext cx="548640" cy="548640"/>
          </a:xfrm>
          <a:prstGeom prst="ellipse">
            <a:avLst/>
          </a:prstGeom>
          <a:solidFill>
            <a:schemeClr val="accent1"/>
          </a:solidFill>
          <a:ln/>
        </p:spPr>
      </p:sp>
      <p:pic>
        <p:nvPicPr>
          <p:cNvPr id="5" name="icon glyph" descr="preencoded.png">    </p:cNvPr>
          <p:cNvPicPr>
            <a:picLocks noChangeAspect="1"/>
          </p:cNvPicPr>
          <p:nvPr/>
        </p:nvPicPr>
        <p:blipFill>
          <a:blip r:embed="rId1"/>
          <a:stretch>
            <a:fillRect/>
          </a:stretch>
        </p:blipFill>
        <p:spPr>
          <a:xfrm>
            <a:off x="954634" y="1731874"/>
            <a:ext cx="285293" cy="285293"/>
          </a:xfrm>
          <a:prstGeom prst="rect">
            <a:avLst/>
          </a:prstGeom>
        </p:spPr>
      </p:pic>
      <p:sp>
        <p:nvSpPr>
          <p:cNvPr id="6" name="Text 3"/>
          <p:cNvSpPr txBox="1"/>
          <p:nvPr/>
        </p:nvSpPr>
        <p:spPr>
          <a:xfrm>
            <a:off x="1508760" y="164592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Server-side pinning</a:t>
            </a:r>
            <a:endParaRPr lang="en-US" sz="1700" dirty="0"/>
          </a:p>
        </p:txBody>
      </p:sp>
      <p:sp>
        <p:nvSpPr>
          <p:cNvPr id="7" name="Text 4"/>
          <p:cNvSpPr txBox="1"/>
          <p:nvPr/>
        </p:nvSpPr>
        <p:spPr>
          <a:xfrm>
            <a:off x="822960" y="2286000"/>
            <a:ext cx="2971800" cy="1143000"/>
          </a:xfrm>
          <a:prstGeom prst="rect">
            <a:avLst/>
          </a:prstGeom>
          <a:noFill/>
          <a:ln/>
        </p:spPr>
        <p:txBody>
          <a:bodyPr wrap="square" lIns="0" tIns="0" rIns="0" bIns="0" rtlCol="0" anchor="t"/>
          <a:lstStyle/>
          <a:p>
            <a:pPr indent="0" marL="0">
              <a:buNone/>
            </a:pPr>
            <a:r>
              <a:rPr lang="en-US" sz="1300" dirty="0">
                <a:solidFill>
                  <a:schemeClr val="tx1"/>
                </a:solidFill>
              </a:rPr>
              <a:t>Move Pinata calls into a Supabase Edge Function so the JWT stays secret.</a:t>
            </a:r>
            <a:endParaRPr lang="en-US" sz="1300" dirty="0"/>
          </a:p>
        </p:txBody>
      </p:sp>
      <p:sp>
        <p:nvSpPr>
          <p:cNvPr id="8" name="roadmap card"/>
          <p:cNvSpPr/>
          <p:nvPr/>
        </p:nvSpPr>
        <p:spPr>
          <a:xfrm>
            <a:off x="4297680" y="1371600"/>
            <a:ext cx="3474720" cy="2148840"/>
          </a:xfrm>
          <a:prstGeom prst="roundRect">
            <a:avLst>
              <a:gd name="adj" fmla="val 3404"/>
            </a:avLst>
          </a:prstGeom>
          <a:solidFill>
            <a:schemeClr val="bg2"/>
          </a:solidFill>
          <a:ln/>
        </p:spPr>
      </p:sp>
      <p:sp>
        <p:nvSpPr>
          <p:cNvPr id="9" name="icon circle"/>
          <p:cNvSpPr/>
          <p:nvPr/>
        </p:nvSpPr>
        <p:spPr>
          <a:xfrm>
            <a:off x="4572000" y="1600200"/>
            <a:ext cx="548640" cy="548640"/>
          </a:xfrm>
          <a:prstGeom prst="ellipse">
            <a:avLst/>
          </a:prstGeom>
          <a:solidFill>
            <a:schemeClr val="accent1"/>
          </a:solidFill>
          <a:ln/>
        </p:spPr>
      </p:sp>
      <p:pic>
        <p:nvPicPr>
          <p:cNvPr id="10" name="icon glyph" descr="preencoded.png">    </p:cNvPr>
          <p:cNvPicPr>
            <a:picLocks noChangeAspect="1"/>
          </p:cNvPicPr>
          <p:nvPr/>
        </p:nvPicPr>
        <p:blipFill>
          <a:blip r:embed="rId2"/>
          <a:stretch>
            <a:fillRect/>
          </a:stretch>
        </p:blipFill>
        <p:spPr>
          <a:xfrm>
            <a:off x="4703674" y="1731874"/>
            <a:ext cx="285293" cy="285293"/>
          </a:xfrm>
          <a:prstGeom prst="rect">
            <a:avLst/>
          </a:prstGeom>
        </p:spPr>
      </p:pic>
      <p:sp>
        <p:nvSpPr>
          <p:cNvPr id="11" name="Text 7"/>
          <p:cNvSpPr txBox="1"/>
          <p:nvPr/>
        </p:nvSpPr>
        <p:spPr>
          <a:xfrm>
            <a:off x="5257800" y="164592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Public-key encryption</a:t>
            </a:r>
            <a:endParaRPr lang="en-US" sz="1700" dirty="0"/>
          </a:p>
        </p:txBody>
      </p:sp>
      <p:sp>
        <p:nvSpPr>
          <p:cNvPr id="12" name="Text 8"/>
          <p:cNvSpPr txBox="1"/>
          <p:nvPr/>
        </p:nvSpPr>
        <p:spPr>
          <a:xfrm>
            <a:off x="4572000" y="2286000"/>
            <a:ext cx="2971800" cy="1143000"/>
          </a:xfrm>
          <a:prstGeom prst="rect">
            <a:avLst/>
          </a:prstGeom>
          <a:noFill/>
          <a:ln/>
        </p:spPr>
        <p:txBody>
          <a:bodyPr wrap="square" lIns="0" tIns="0" rIns="0" bIns="0" rtlCol="0" anchor="t"/>
          <a:lstStyle/>
          <a:p>
            <a:pPr indent="0" marL="0">
              <a:buNone/>
            </a:pPr>
            <a:r>
              <a:rPr lang="en-US" sz="1300" dirty="0">
                <a:solidFill>
                  <a:schemeClr val="tx1"/>
                </a:solidFill>
              </a:rPr>
              <a:t>Encrypt to the beneficiary's key (ECIES) instead of a shared passphrase, or use a stronger KDF such as Argon2.</a:t>
            </a:r>
            <a:endParaRPr lang="en-US" sz="1300" dirty="0"/>
          </a:p>
        </p:txBody>
      </p:sp>
      <p:sp>
        <p:nvSpPr>
          <p:cNvPr id="13" name="roadmap card"/>
          <p:cNvSpPr/>
          <p:nvPr/>
        </p:nvSpPr>
        <p:spPr>
          <a:xfrm>
            <a:off x="8046720" y="1371600"/>
            <a:ext cx="3474720" cy="2148840"/>
          </a:xfrm>
          <a:prstGeom prst="roundRect">
            <a:avLst>
              <a:gd name="adj" fmla="val 3404"/>
            </a:avLst>
          </a:prstGeom>
          <a:solidFill>
            <a:schemeClr val="bg2"/>
          </a:solidFill>
          <a:ln/>
        </p:spPr>
      </p:sp>
      <p:sp>
        <p:nvSpPr>
          <p:cNvPr id="14" name="icon circle"/>
          <p:cNvSpPr/>
          <p:nvPr/>
        </p:nvSpPr>
        <p:spPr>
          <a:xfrm>
            <a:off x="8321040" y="1600200"/>
            <a:ext cx="548640" cy="548640"/>
          </a:xfrm>
          <a:prstGeom prst="ellipse">
            <a:avLst/>
          </a:prstGeom>
          <a:solidFill>
            <a:schemeClr val="accent1"/>
          </a:solidFill>
          <a:ln/>
        </p:spPr>
      </p:sp>
      <p:pic>
        <p:nvPicPr>
          <p:cNvPr id="15" name="icon glyph" descr="preencoded.png">    </p:cNvPr>
          <p:cNvPicPr>
            <a:picLocks noChangeAspect="1"/>
          </p:cNvPicPr>
          <p:nvPr/>
        </p:nvPicPr>
        <p:blipFill>
          <a:blip r:embed="rId3"/>
          <a:stretch>
            <a:fillRect/>
          </a:stretch>
        </p:blipFill>
        <p:spPr>
          <a:xfrm>
            <a:off x="8452714" y="1731874"/>
            <a:ext cx="285293" cy="285293"/>
          </a:xfrm>
          <a:prstGeom prst="rect">
            <a:avLst/>
          </a:prstGeom>
        </p:spPr>
      </p:pic>
      <p:sp>
        <p:nvSpPr>
          <p:cNvPr id="16" name="Text 11"/>
          <p:cNvSpPr txBox="1"/>
          <p:nvPr/>
        </p:nvSpPr>
        <p:spPr>
          <a:xfrm>
            <a:off x="9006840" y="164592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Richer vaults</a:t>
            </a:r>
            <a:endParaRPr lang="en-US" sz="1700" dirty="0"/>
          </a:p>
        </p:txBody>
      </p:sp>
      <p:sp>
        <p:nvSpPr>
          <p:cNvPr id="17" name="Text 12"/>
          <p:cNvSpPr txBox="1"/>
          <p:nvPr/>
        </p:nvSpPr>
        <p:spPr>
          <a:xfrm>
            <a:off x="8321040" y="2286000"/>
            <a:ext cx="2971800" cy="1143000"/>
          </a:xfrm>
          <a:prstGeom prst="rect">
            <a:avLst/>
          </a:prstGeom>
          <a:noFill/>
          <a:ln/>
        </p:spPr>
        <p:txBody>
          <a:bodyPr wrap="square" lIns="0" tIns="0" rIns="0" bIns="0" rtlCol="0" anchor="t"/>
          <a:lstStyle/>
          <a:p>
            <a:pPr indent="0" marL="0">
              <a:buNone/>
            </a:pPr>
            <a:r>
              <a:rPr lang="en-US" sz="1300" dirty="0">
                <a:solidFill>
                  <a:schemeClr val="tx1"/>
                </a:solidFill>
              </a:rPr>
              <a:t>Multiple vaults per owner, several beneficiaries, Shamir secret splitting.</a:t>
            </a:r>
            <a:endParaRPr lang="en-US" sz="1300" dirty="0"/>
          </a:p>
        </p:txBody>
      </p:sp>
      <p:sp>
        <p:nvSpPr>
          <p:cNvPr id="18" name="roadmap card"/>
          <p:cNvSpPr/>
          <p:nvPr/>
        </p:nvSpPr>
        <p:spPr>
          <a:xfrm>
            <a:off x="548640" y="3749040"/>
            <a:ext cx="3474720" cy="2148840"/>
          </a:xfrm>
          <a:prstGeom prst="roundRect">
            <a:avLst>
              <a:gd name="adj" fmla="val 3404"/>
            </a:avLst>
          </a:prstGeom>
          <a:solidFill>
            <a:schemeClr val="bg2"/>
          </a:solidFill>
          <a:ln/>
        </p:spPr>
      </p:sp>
      <p:sp>
        <p:nvSpPr>
          <p:cNvPr id="19" name="icon circle"/>
          <p:cNvSpPr/>
          <p:nvPr/>
        </p:nvSpPr>
        <p:spPr>
          <a:xfrm>
            <a:off x="822960" y="3977640"/>
            <a:ext cx="548640" cy="548640"/>
          </a:xfrm>
          <a:prstGeom prst="ellipse">
            <a:avLst/>
          </a:prstGeom>
          <a:solidFill>
            <a:schemeClr val="tx2"/>
          </a:solidFill>
          <a:ln/>
        </p:spPr>
      </p:sp>
      <p:pic>
        <p:nvPicPr>
          <p:cNvPr id="20" name="icon glyph" descr="preencoded.png">    </p:cNvPr>
          <p:cNvPicPr>
            <a:picLocks noChangeAspect="1"/>
          </p:cNvPicPr>
          <p:nvPr/>
        </p:nvPicPr>
        <p:blipFill>
          <a:blip r:embed="rId4"/>
          <a:stretch>
            <a:fillRect/>
          </a:stretch>
        </p:blipFill>
        <p:spPr>
          <a:xfrm>
            <a:off x="954634" y="4109314"/>
            <a:ext cx="285293" cy="285293"/>
          </a:xfrm>
          <a:prstGeom prst="rect">
            <a:avLst/>
          </a:prstGeom>
        </p:spPr>
      </p:pic>
      <p:sp>
        <p:nvSpPr>
          <p:cNvPr id="21" name="Text 15"/>
          <p:cNvSpPr txBox="1"/>
          <p:nvPr/>
        </p:nvSpPr>
        <p:spPr>
          <a:xfrm>
            <a:off x="1508760" y="402336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Scalable upkeep</a:t>
            </a:r>
            <a:endParaRPr lang="en-US" sz="1700" dirty="0"/>
          </a:p>
        </p:txBody>
      </p:sp>
      <p:sp>
        <p:nvSpPr>
          <p:cNvPr id="22" name="Text 16"/>
          <p:cNvSpPr txBox="1"/>
          <p:nvPr/>
        </p:nvSpPr>
        <p:spPr>
          <a:xfrm>
            <a:off x="822960" y="4663440"/>
            <a:ext cx="2971800" cy="1143000"/>
          </a:xfrm>
          <a:prstGeom prst="rect">
            <a:avLst/>
          </a:prstGeom>
          <a:noFill/>
          <a:ln/>
        </p:spPr>
        <p:txBody>
          <a:bodyPr wrap="square" lIns="0" tIns="0" rIns="0" bIns="0" rtlCol="0" anchor="t"/>
          <a:lstStyle/>
          <a:p>
            <a:pPr indent="0" marL="0">
              <a:buNone/>
            </a:pPr>
            <a:r>
              <a:rPr lang="en-US" sz="1300" dirty="0">
                <a:solidFill>
                  <a:schemeClr val="tx1"/>
                </a:solidFill>
              </a:rPr>
              <a:t>Paginated or per-vault upkeeps instead of scanning every owner.</a:t>
            </a:r>
            <a:endParaRPr lang="en-US" sz="1300" dirty="0"/>
          </a:p>
        </p:txBody>
      </p:sp>
      <p:sp>
        <p:nvSpPr>
          <p:cNvPr id="23" name="roadmap card"/>
          <p:cNvSpPr/>
          <p:nvPr/>
        </p:nvSpPr>
        <p:spPr>
          <a:xfrm>
            <a:off x="4297680" y="3749040"/>
            <a:ext cx="3474720" cy="2148840"/>
          </a:xfrm>
          <a:prstGeom prst="roundRect">
            <a:avLst>
              <a:gd name="adj" fmla="val 3404"/>
            </a:avLst>
          </a:prstGeom>
          <a:solidFill>
            <a:schemeClr val="bg2"/>
          </a:solidFill>
          <a:ln/>
        </p:spPr>
      </p:sp>
      <p:sp>
        <p:nvSpPr>
          <p:cNvPr id="24" name="icon circle"/>
          <p:cNvSpPr/>
          <p:nvPr/>
        </p:nvSpPr>
        <p:spPr>
          <a:xfrm>
            <a:off x="4572000" y="3977640"/>
            <a:ext cx="548640" cy="548640"/>
          </a:xfrm>
          <a:prstGeom prst="ellipse">
            <a:avLst/>
          </a:prstGeom>
          <a:solidFill>
            <a:schemeClr val="tx2"/>
          </a:solidFill>
          <a:ln/>
        </p:spPr>
      </p:sp>
      <p:pic>
        <p:nvPicPr>
          <p:cNvPr id="25" name="icon glyph" descr="preencoded.png">    </p:cNvPr>
          <p:cNvPicPr>
            <a:picLocks noChangeAspect="1"/>
          </p:cNvPicPr>
          <p:nvPr/>
        </p:nvPicPr>
        <p:blipFill>
          <a:blip r:embed="rId5"/>
          <a:stretch>
            <a:fillRect/>
          </a:stretch>
        </p:blipFill>
        <p:spPr>
          <a:xfrm>
            <a:off x="4703674" y="4109314"/>
            <a:ext cx="285293" cy="285293"/>
          </a:xfrm>
          <a:prstGeom prst="rect">
            <a:avLst/>
          </a:prstGeom>
        </p:spPr>
      </p:pic>
      <p:sp>
        <p:nvSpPr>
          <p:cNvPr id="26" name="Text 19"/>
          <p:cNvSpPr txBox="1"/>
          <p:nvPr/>
        </p:nvSpPr>
        <p:spPr>
          <a:xfrm>
            <a:off x="5257800" y="402336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Test suite</a:t>
            </a:r>
            <a:endParaRPr lang="en-US" sz="1700" dirty="0"/>
          </a:p>
        </p:txBody>
      </p:sp>
      <p:sp>
        <p:nvSpPr>
          <p:cNvPr id="27" name="Text 20"/>
          <p:cNvSpPr txBox="1"/>
          <p:nvPr/>
        </p:nvSpPr>
        <p:spPr>
          <a:xfrm>
            <a:off x="4572000" y="4663440"/>
            <a:ext cx="2971800" cy="1143000"/>
          </a:xfrm>
          <a:prstGeom prst="rect">
            <a:avLst/>
          </a:prstGeom>
          <a:noFill/>
          <a:ln/>
        </p:spPr>
        <p:txBody>
          <a:bodyPr wrap="square" lIns="0" tIns="0" rIns="0" bIns="0" rtlCol="0" anchor="t"/>
          <a:lstStyle/>
          <a:p>
            <a:pPr indent="0" marL="0">
              <a:buNone/>
            </a:pPr>
            <a:r>
              <a:rPr lang="en-US" sz="1300" dirty="0">
                <a:solidFill>
                  <a:schemeClr val="tx1"/>
                </a:solidFill>
              </a:rPr>
              <a:t>Foundry tests for every state transition and the timing edge cases.</a:t>
            </a:r>
            <a:endParaRPr lang="en-US" sz="1300" dirty="0"/>
          </a:p>
        </p:txBody>
      </p:sp>
      <p:sp>
        <p:nvSpPr>
          <p:cNvPr id="28" name="roadmap card"/>
          <p:cNvSpPr/>
          <p:nvPr/>
        </p:nvSpPr>
        <p:spPr>
          <a:xfrm>
            <a:off x="8046720" y="3749040"/>
            <a:ext cx="3474720" cy="2148840"/>
          </a:xfrm>
          <a:prstGeom prst="roundRect">
            <a:avLst>
              <a:gd name="adj" fmla="val 3404"/>
            </a:avLst>
          </a:prstGeom>
          <a:solidFill>
            <a:schemeClr val="bg2"/>
          </a:solidFill>
          <a:ln/>
        </p:spPr>
      </p:sp>
      <p:sp>
        <p:nvSpPr>
          <p:cNvPr id="29" name="icon circle"/>
          <p:cNvSpPr/>
          <p:nvPr/>
        </p:nvSpPr>
        <p:spPr>
          <a:xfrm>
            <a:off x="8321040" y="3977640"/>
            <a:ext cx="548640" cy="548640"/>
          </a:xfrm>
          <a:prstGeom prst="ellipse">
            <a:avLst/>
          </a:prstGeom>
          <a:solidFill>
            <a:schemeClr val="tx2"/>
          </a:solidFill>
          <a:ln/>
        </p:spPr>
      </p:sp>
      <p:pic>
        <p:nvPicPr>
          <p:cNvPr id="30" name="icon glyph" descr="preencoded.png">    </p:cNvPr>
          <p:cNvPicPr>
            <a:picLocks noChangeAspect="1"/>
          </p:cNvPicPr>
          <p:nvPr/>
        </p:nvPicPr>
        <p:blipFill>
          <a:blip r:embed="rId6"/>
          <a:stretch>
            <a:fillRect/>
          </a:stretch>
        </p:blipFill>
        <p:spPr>
          <a:xfrm>
            <a:off x="8452714" y="4109314"/>
            <a:ext cx="285293" cy="285293"/>
          </a:xfrm>
          <a:prstGeom prst="rect">
            <a:avLst/>
          </a:prstGeom>
        </p:spPr>
      </p:pic>
      <p:sp>
        <p:nvSpPr>
          <p:cNvPr id="31" name="Text 23"/>
          <p:cNvSpPr txBox="1"/>
          <p:nvPr/>
        </p:nvSpPr>
        <p:spPr>
          <a:xfrm>
            <a:off x="9006840" y="4023360"/>
            <a:ext cx="2377440" cy="457200"/>
          </a:xfrm>
          <a:prstGeom prst="rect">
            <a:avLst/>
          </a:prstGeom>
          <a:noFill/>
          <a:ln/>
        </p:spPr>
        <p:txBody>
          <a:bodyPr wrap="square" lIns="0" tIns="0" rIns="0" bIns="0" rtlCol="0" anchor="ctr"/>
          <a:lstStyle/>
          <a:p>
            <a:pPr indent="0" marL="0">
              <a:buNone/>
            </a:pPr>
            <a:r>
              <a:rPr lang="en-US" sz="1700" b="1" dirty="0">
                <a:solidFill>
                  <a:schemeClr val="tx2"/>
                </a:solidFill>
              </a:rPr>
              <a:t>Reminders</a:t>
            </a:r>
            <a:endParaRPr lang="en-US" sz="1700" dirty="0"/>
          </a:p>
        </p:txBody>
      </p:sp>
      <p:sp>
        <p:nvSpPr>
          <p:cNvPr id="32" name="Text 24"/>
          <p:cNvSpPr txBox="1"/>
          <p:nvPr/>
        </p:nvSpPr>
        <p:spPr>
          <a:xfrm>
            <a:off x="8321040" y="4663440"/>
            <a:ext cx="2971800" cy="1143000"/>
          </a:xfrm>
          <a:prstGeom prst="rect">
            <a:avLst/>
          </a:prstGeom>
          <a:noFill/>
          <a:ln/>
        </p:spPr>
        <p:txBody>
          <a:bodyPr wrap="square" lIns="0" tIns="0" rIns="0" bIns="0" rtlCol="0" anchor="t"/>
          <a:lstStyle/>
          <a:p>
            <a:pPr indent="0" marL="0">
              <a:buNone/>
            </a:pPr>
            <a:r>
              <a:rPr lang="en-US" sz="1300" dirty="0">
                <a:solidFill>
                  <a:schemeClr val="tx1"/>
                </a:solidFill>
              </a:rPr>
              <a:t>Email alerts before a deadline so owners don't trigger by accident.</a:t>
            </a:r>
            <a:endParaRPr lang="en-US" sz="13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40080" y="1737360"/>
            <a:ext cx="5486400" cy="2377440"/>
          </a:xfrm>
          <a:prstGeom prst="rect">
            <a:avLst/>
          </a:prstGeom>
          <a:noFill/>
          <a:ln/>
        </p:spPr>
        <p:txBody>
          <a:bodyPr wrap="square" lIns="0" tIns="0" rIns="0" bIns="0" rtlCol="0" anchor="b"/>
          <a:lstStyle/>
          <a:p>
            <a:pPr indent="0" marL="0">
              <a:buNone/>
            </a:pPr>
            <a:r>
              <a:rPr lang="en-US" sz="3800" b="1" dirty="0">
                <a:solidFill>
                  <a:schemeClr val="bg1"/>
                </a:solidFill>
                <a:latin typeface="Cambria" pitchFamily="34" charset="0"/>
                <a:ea typeface="Cambria" pitchFamily="34" charset="-122"/>
                <a:cs typeface="Cambria" pitchFamily="34" charset="-120"/>
              </a:rPr>
              <a:t>Silence turns inactivity into a verifiable on-chain event</a:t>
            </a:r>
            <a:endParaRPr lang="en-US" sz="3800" dirty="0"/>
          </a:p>
        </p:txBody>
      </p:sp>
      <p:sp>
        <p:nvSpPr>
          <p:cNvPr id="3" name="Text 1"/>
          <p:cNvSpPr txBox="1"/>
          <p:nvPr/>
        </p:nvSpPr>
        <p:spPr>
          <a:xfrm>
            <a:off x="640080" y="4343400"/>
            <a:ext cx="5486400" cy="822960"/>
          </a:xfrm>
          <a:prstGeom prst="rect">
            <a:avLst/>
          </a:prstGeom>
          <a:noFill/>
          <a:ln/>
        </p:spPr>
        <p:txBody>
          <a:bodyPr wrap="square" lIns="0" tIns="0" rIns="0" bIns="0" rtlCol="0" anchor="t"/>
          <a:lstStyle/>
          <a:p>
            <a:pPr indent="0" marL="0">
              <a:buNone/>
            </a:pPr>
            <a:r>
              <a:rPr lang="en-US" sz="1800" dirty="0">
                <a:solidFill>
                  <a:schemeClr val="accent2"/>
                </a:solidFill>
              </a:rPr>
              <a:t>Encrypt in the browser. Store on IPFS. Let the contract keep time.</a:t>
            </a:r>
            <a:endParaRPr lang="en-US" sz="1800" dirty="0"/>
          </a:p>
        </p:txBody>
      </p:sp>
      <p:sp>
        <p:nvSpPr>
          <p:cNvPr id="4" name="takeaway"/>
          <p:cNvSpPr/>
          <p:nvPr/>
        </p:nvSpPr>
        <p:spPr>
          <a:xfrm>
            <a:off x="6766560" y="1554480"/>
            <a:ext cx="4846320" cy="1143000"/>
          </a:xfrm>
          <a:prstGeom prst="roundRect">
            <a:avLst>
              <a:gd name="adj" fmla="val 6400"/>
            </a:avLst>
          </a:prstGeom>
          <a:solidFill>
            <a:schemeClr val="bg1">
              <a:alpha val="10000"/>
            </a:schemeClr>
          </a:solidFill>
          <a:ln w="9525">
            <a:solidFill>
              <a:schemeClr val="accent2"/>
            </a:solidFill>
            <a:prstDash val="solid"/>
          </a:ln>
        </p:spPr>
      </p:sp>
      <p:sp>
        <p:nvSpPr>
          <p:cNvPr id="5" name="icon circle"/>
          <p:cNvSpPr/>
          <p:nvPr/>
        </p:nvSpPr>
        <p:spPr>
          <a:xfrm>
            <a:off x="6995160" y="1801368"/>
            <a:ext cx="640080" cy="640080"/>
          </a:xfrm>
          <a:prstGeom prst="ellipse">
            <a:avLst/>
          </a:prstGeom>
          <a:solidFill>
            <a:schemeClr val="accent2"/>
          </a:solidFill>
          <a:ln/>
        </p:spPr>
      </p:sp>
      <p:pic>
        <p:nvPicPr>
          <p:cNvPr id="6" name="icon glyph" descr="preencoded.png">    </p:cNvPr>
          <p:cNvPicPr>
            <a:picLocks noChangeAspect="1"/>
          </p:cNvPicPr>
          <p:nvPr/>
        </p:nvPicPr>
        <p:blipFill>
          <a:blip r:embed="rId1"/>
          <a:stretch>
            <a:fillRect/>
          </a:stretch>
        </p:blipFill>
        <p:spPr>
          <a:xfrm>
            <a:off x="7148779" y="1954987"/>
            <a:ext cx="332842" cy="332842"/>
          </a:xfrm>
          <a:prstGeom prst="rect">
            <a:avLst/>
          </a:prstGeom>
        </p:spPr>
      </p:pic>
      <p:sp>
        <p:nvSpPr>
          <p:cNvPr id="7" name="Text 4"/>
          <p:cNvSpPr txBox="1"/>
          <p:nvPr/>
        </p:nvSpPr>
        <p:spPr>
          <a:xfrm>
            <a:off x="7863840" y="1719072"/>
            <a:ext cx="3566160" cy="411480"/>
          </a:xfrm>
          <a:prstGeom prst="rect">
            <a:avLst/>
          </a:prstGeom>
          <a:noFill/>
          <a:ln/>
        </p:spPr>
        <p:txBody>
          <a:bodyPr wrap="square" lIns="0" tIns="0" rIns="0" bIns="0" rtlCol="0" anchor="t"/>
          <a:lstStyle/>
          <a:p>
            <a:pPr indent="0" marL="0">
              <a:buNone/>
            </a:pPr>
            <a:r>
              <a:rPr lang="en-US" sz="1800" b="1" dirty="0">
                <a:solidFill>
                  <a:schemeClr val="bg1"/>
                </a:solidFill>
              </a:rPr>
              <a:t>Zero-knowledge</a:t>
            </a:r>
            <a:endParaRPr lang="en-US" sz="1800" dirty="0"/>
          </a:p>
        </p:txBody>
      </p:sp>
      <p:sp>
        <p:nvSpPr>
          <p:cNvPr id="8" name="Text 5"/>
          <p:cNvSpPr txBox="1"/>
          <p:nvPr/>
        </p:nvSpPr>
        <p:spPr>
          <a:xfrm>
            <a:off x="7863840" y="2130552"/>
            <a:ext cx="3566160" cy="411480"/>
          </a:xfrm>
          <a:prstGeom prst="rect">
            <a:avLst/>
          </a:prstGeom>
          <a:noFill/>
          <a:ln/>
        </p:spPr>
        <p:txBody>
          <a:bodyPr wrap="square" lIns="0" tIns="0" rIns="0" bIns="0" rtlCol="0" anchor="t"/>
          <a:lstStyle/>
          <a:p>
            <a:pPr indent="0" marL="0">
              <a:buNone/>
            </a:pPr>
            <a:r>
              <a:rPr lang="en-US" sz="1400" dirty="0">
                <a:solidFill>
                  <a:schemeClr val="accent2"/>
                </a:solidFill>
              </a:rPr>
              <a:t>Only ciphertext ever leaves the tab</a:t>
            </a:r>
            <a:endParaRPr lang="en-US" sz="1400" dirty="0"/>
          </a:p>
        </p:txBody>
      </p:sp>
      <p:sp>
        <p:nvSpPr>
          <p:cNvPr id="9" name="takeaway"/>
          <p:cNvSpPr/>
          <p:nvPr/>
        </p:nvSpPr>
        <p:spPr>
          <a:xfrm>
            <a:off x="6766560" y="2926080"/>
            <a:ext cx="4846320" cy="1143000"/>
          </a:xfrm>
          <a:prstGeom prst="roundRect">
            <a:avLst>
              <a:gd name="adj" fmla="val 6400"/>
            </a:avLst>
          </a:prstGeom>
          <a:solidFill>
            <a:schemeClr val="bg1">
              <a:alpha val="10000"/>
            </a:schemeClr>
          </a:solidFill>
          <a:ln w="9525">
            <a:solidFill>
              <a:schemeClr val="accent2"/>
            </a:solidFill>
            <a:prstDash val="solid"/>
          </a:ln>
        </p:spPr>
      </p:sp>
      <p:sp>
        <p:nvSpPr>
          <p:cNvPr id="10" name="icon circle"/>
          <p:cNvSpPr/>
          <p:nvPr/>
        </p:nvSpPr>
        <p:spPr>
          <a:xfrm>
            <a:off x="6995160" y="3172968"/>
            <a:ext cx="640080" cy="640080"/>
          </a:xfrm>
          <a:prstGeom prst="ellipse">
            <a:avLst/>
          </a:prstGeom>
          <a:solidFill>
            <a:schemeClr val="accent2"/>
          </a:solidFill>
          <a:ln/>
        </p:spPr>
      </p:sp>
      <p:pic>
        <p:nvPicPr>
          <p:cNvPr id="11" name="icon glyph" descr="preencoded.png">    </p:cNvPr>
          <p:cNvPicPr>
            <a:picLocks noChangeAspect="1"/>
          </p:cNvPicPr>
          <p:nvPr/>
        </p:nvPicPr>
        <p:blipFill>
          <a:blip r:embed="rId2"/>
          <a:stretch>
            <a:fillRect/>
          </a:stretch>
        </p:blipFill>
        <p:spPr>
          <a:xfrm>
            <a:off x="7148779" y="3326587"/>
            <a:ext cx="332842" cy="332842"/>
          </a:xfrm>
          <a:prstGeom prst="rect">
            <a:avLst/>
          </a:prstGeom>
        </p:spPr>
      </p:pic>
      <p:sp>
        <p:nvSpPr>
          <p:cNvPr id="12" name="Text 8"/>
          <p:cNvSpPr txBox="1"/>
          <p:nvPr/>
        </p:nvSpPr>
        <p:spPr>
          <a:xfrm>
            <a:off x="7863840" y="3090672"/>
            <a:ext cx="3566160" cy="411480"/>
          </a:xfrm>
          <a:prstGeom prst="rect">
            <a:avLst/>
          </a:prstGeom>
          <a:noFill/>
          <a:ln/>
        </p:spPr>
        <p:txBody>
          <a:bodyPr wrap="square" lIns="0" tIns="0" rIns="0" bIns="0" rtlCol="0" anchor="t"/>
          <a:lstStyle/>
          <a:p>
            <a:pPr indent="0" marL="0">
              <a:buNone/>
            </a:pPr>
            <a:r>
              <a:rPr lang="en-US" sz="1800" b="1" dirty="0">
                <a:solidFill>
                  <a:schemeClr val="bg1"/>
                </a:solidFill>
              </a:rPr>
              <a:t>Deterministic</a:t>
            </a:r>
            <a:endParaRPr lang="en-US" sz="1800" dirty="0"/>
          </a:p>
        </p:txBody>
      </p:sp>
      <p:sp>
        <p:nvSpPr>
          <p:cNvPr id="13" name="Text 9"/>
          <p:cNvSpPr txBox="1"/>
          <p:nvPr/>
        </p:nvSpPr>
        <p:spPr>
          <a:xfrm>
            <a:off x="7863840" y="3502152"/>
            <a:ext cx="3566160" cy="411480"/>
          </a:xfrm>
          <a:prstGeom prst="rect">
            <a:avLst/>
          </a:prstGeom>
          <a:noFill/>
          <a:ln/>
        </p:spPr>
        <p:txBody>
          <a:bodyPr wrap="square" lIns="0" tIns="0" rIns="0" bIns="0" rtlCol="0" anchor="t"/>
          <a:lstStyle/>
          <a:p>
            <a:pPr indent="0" marL="0">
              <a:buNone/>
            </a:pPr>
            <a:r>
              <a:rPr lang="en-US" sz="1400" dirty="0">
                <a:solidFill>
                  <a:schemeClr val="accent2"/>
                </a:solidFill>
              </a:rPr>
              <a:t>block.timestamp decides, not a server</a:t>
            </a:r>
            <a:endParaRPr lang="en-US" sz="1400" dirty="0"/>
          </a:p>
        </p:txBody>
      </p:sp>
      <p:sp>
        <p:nvSpPr>
          <p:cNvPr id="14" name="takeaway"/>
          <p:cNvSpPr/>
          <p:nvPr/>
        </p:nvSpPr>
        <p:spPr>
          <a:xfrm>
            <a:off x="6766560" y="4297680"/>
            <a:ext cx="4846320" cy="1143000"/>
          </a:xfrm>
          <a:prstGeom prst="roundRect">
            <a:avLst>
              <a:gd name="adj" fmla="val 6400"/>
            </a:avLst>
          </a:prstGeom>
          <a:solidFill>
            <a:schemeClr val="bg1">
              <a:alpha val="10000"/>
            </a:schemeClr>
          </a:solidFill>
          <a:ln w="9525">
            <a:solidFill>
              <a:schemeClr val="accent2"/>
            </a:solidFill>
            <a:prstDash val="solid"/>
          </a:ln>
        </p:spPr>
      </p:sp>
      <p:sp>
        <p:nvSpPr>
          <p:cNvPr id="15" name="icon circle"/>
          <p:cNvSpPr/>
          <p:nvPr/>
        </p:nvSpPr>
        <p:spPr>
          <a:xfrm>
            <a:off x="6995160" y="4544568"/>
            <a:ext cx="640080" cy="640080"/>
          </a:xfrm>
          <a:prstGeom prst="ellipse">
            <a:avLst/>
          </a:prstGeom>
          <a:solidFill>
            <a:schemeClr val="accent2"/>
          </a:solidFill>
          <a:ln/>
        </p:spPr>
      </p:sp>
      <p:pic>
        <p:nvPicPr>
          <p:cNvPr id="16" name="icon glyph" descr="preencoded.png">    </p:cNvPr>
          <p:cNvPicPr>
            <a:picLocks noChangeAspect="1"/>
          </p:cNvPicPr>
          <p:nvPr/>
        </p:nvPicPr>
        <p:blipFill>
          <a:blip r:embed="rId3"/>
          <a:stretch>
            <a:fillRect/>
          </a:stretch>
        </p:blipFill>
        <p:spPr>
          <a:xfrm>
            <a:off x="7148779" y="4698187"/>
            <a:ext cx="332842" cy="332842"/>
          </a:xfrm>
          <a:prstGeom prst="rect">
            <a:avLst/>
          </a:prstGeom>
        </p:spPr>
      </p:pic>
      <p:sp>
        <p:nvSpPr>
          <p:cNvPr id="17" name="Text 12"/>
          <p:cNvSpPr txBox="1"/>
          <p:nvPr/>
        </p:nvSpPr>
        <p:spPr>
          <a:xfrm>
            <a:off x="7863840" y="4462272"/>
            <a:ext cx="3566160" cy="411480"/>
          </a:xfrm>
          <a:prstGeom prst="rect">
            <a:avLst/>
          </a:prstGeom>
          <a:noFill/>
          <a:ln/>
        </p:spPr>
        <p:txBody>
          <a:bodyPr wrap="square" lIns="0" tIns="0" rIns="0" bIns="0" rtlCol="0" anchor="t"/>
          <a:lstStyle/>
          <a:p>
            <a:pPr indent="0" marL="0">
              <a:buNone/>
            </a:pPr>
            <a:r>
              <a:rPr lang="en-US" sz="1800" b="1" dirty="0">
                <a:solidFill>
                  <a:schemeClr val="bg1"/>
                </a:solidFill>
              </a:rPr>
              <a:t>Unstoppable</a:t>
            </a:r>
            <a:endParaRPr lang="en-US" sz="1800" dirty="0"/>
          </a:p>
        </p:txBody>
      </p:sp>
      <p:sp>
        <p:nvSpPr>
          <p:cNvPr id="18" name="Text 13"/>
          <p:cNvSpPr txBox="1"/>
          <p:nvPr/>
        </p:nvSpPr>
        <p:spPr>
          <a:xfrm>
            <a:off x="7863840" y="4873752"/>
            <a:ext cx="3566160" cy="411480"/>
          </a:xfrm>
          <a:prstGeom prst="rect">
            <a:avLst/>
          </a:prstGeom>
          <a:noFill/>
          <a:ln/>
        </p:spPr>
        <p:txBody>
          <a:bodyPr wrap="square" lIns="0" tIns="0" rIns="0" bIns="0" rtlCol="0" anchor="t"/>
          <a:lstStyle/>
          <a:p>
            <a:pPr indent="0" marL="0">
              <a:buNone/>
            </a:pPr>
            <a:r>
              <a:rPr lang="en-US" sz="1400" dirty="0">
                <a:solidFill>
                  <a:schemeClr val="accent2"/>
                </a:solidFill>
              </a:rPr>
              <a:t>Chainlink or anyone can trigger release</a:t>
            </a:r>
            <a:endParaRPr lang="en-US" sz="1400" dirty="0"/>
          </a:p>
        </p:txBody>
      </p:sp>
      <p:sp>
        <p:nvSpPr>
          <p:cNvPr id="19" name="Text 0"/>
          <p:cNvSpPr/>
          <p:nvPr>
            <p:ph idx="100" type="title" hasCustomPrompt="1"/>
          </p:nvPr>
        </p:nvSpPr>
        <p:spPr>
          <a:xfrm>
            <a:off x="640080" y="1920240"/>
            <a:ext cx="5394960" cy="1737360"/>
          </a:xfrm>
          <a:prstGeom prst="rect">
            <a:avLst/>
          </a:prstGeom>
          <a:noFill/>
          <a:ln/>
        </p:spPr>
        <p:txBody>
          <a:bodyPr wrap="square" lIns="0" tIns="0" rIns="0" bIns="0" rtlCol="0" anchor="t"/>
          <a:lstStyle/>
          <a:p>
            <a:pPr algn="l" indent="0" marL="0">
              <a:buNone/>
            </a:pPr>
            <a:endParaRPr lang="en-US" sz="4800" dirty="0"/>
          </a:p>
        </p:txBody>
      </p:sp>
      <p:sp>
        <p:nvSpPr>
          <p:cNvPr id="20" name="Text 0"/>
          <p:cNvSpPr/>
          <p:nvPr>
            <p:ph idx="101" type="body" hasCustomPrompt="1"/>
          </p:nvPr>
        </p:nvSpPr>
        <p:spPr>
          <a:xfrm>
            <a:off x="640080" y="3749040"/>
            <a:ext cx="5394960" cy="109728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Silence Forest">
  <a:themeElements>
    <a:clrScheme name="Silence Forest">
      <a:dk1>
        <a:srgbClr val="1B2621"/>
      </a:dk1>
      <a:lt1>
        <a:srgbClr val="FFFFFF"/>
      </a:lt1>
      <a:dk2>
        <a:srgbClr val="0B4F3C"/>
      </a:dk2>
      <a:lt2>
        <a:srgbClr val="F3F1EA"/>
      </a:lt2>
      <a:accent1>
        <a:srgbClr val="1F7A5A"/>
      </a:accent1>
      <a:accent2>
        <a:srgbClr val="8CC5A8"/>
      </a:accent2>
      <a:accent3>
        <a:srgbClr val="C8962E"/>
      </a:accent3>
      <a:accent4>
        <a:srgbClr val="B4483A"/>
      </a:accent4>
      <a:accent5>
        <a:srgbClr val="3E6E9E"/>
      </a:accent5>
      <a:accent6>
        <a:srgbClr val="6B746F"/>
      </a:accent6>
      <a:hlink>
        <a:srgbClr val="1F7A5A"/>
      </a:hlink>
      <a:folHlink>
        <a:srgbClr val="0B4F3C"/>
      </a:folHlink>
    </a:clrScheme>
    <a:fontScheme name="Silence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Silence: Decentralized Dead Man's Switch</dc:title>
  <dc:subject>Architecture deep-dive</dc:subject>
  <dc:creator>Silence project</dc:creator>
  <cp:lastModifiedBy>Silence project</cp:lastModifiedBy>
  <cp:revision>1</cp:revision>
  <dcterms:created xsi:type="dcterms:W3CDTF">2026-10-16T10:10:52Z</dcterms:created>
  <dcterms:modified xsi:type="dcterms:W3CDTF">2026-10-16T10:10:52Z</dcterms:modified>
</cp:coreProperties>
</file>